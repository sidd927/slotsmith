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1920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Mac_Enthu. Problem statement: Track 1 (Emerson), Project IO SIGNAL SUDOKU (PS #02 in Track_1_PS_description.pdf; registered as PS 1.2). Solution name: SlotSmith.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Who: DeltaV project/IO engineers. Gap: PS #02 p.4 states allocation is done by hand in Excel for 10,000+ signals and every revision means rework. Emerson-documented automation: auto-sense and drag-and-drop controller assignment (EM PDS Aug 2026 p.2), late binding with manual drag-drop or bulk edit for non-HART signals (Smart Commissioning WP p.5), Bulk Edit TAB-delimited import (Bulk Edit WP). Absence of a public allocation tool is NOT proof that none exists. Hardware facts: 12 CHARMs per baseplate, 8 baseplates (96 channels) per CIOC (EM PDS). 4 CIOCs per cabinet is a PS project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Divisible-size argument: with sizes from a divisible chain and capacity divisible by every size, processing in decreasing order keeps every bin's free space a multiple of the current size, so FFD opens a new bin only when all others are full. Hence #bins = ceil(total/12), the lower bound. Related literature: Coffman, Garey and Johnson, Bin packing with divisible item sizes, J. Complexity 1987. CP-SAT (Google OR-Tools, Apache-2.0) is used for local revision repair (window-local; not always proven optimal). The proof covers one A/B side class; whole-group optimality was tested against exact CP-SAT (artifacts/audit/ffd_exact.json), not proved. AI components are planned and bounded; they never place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Frontend: Streamlit MVP first (fastest path to a usable rule panel), React later if time allows. Backend: Python. Solver: Google OR-Tools CP-SAT, Apache-2.0. The verifier imports nothing from the allocator or exporter; it parses names back into positions using the user's naming patterns and re-derives CHARM/TB from the rule table. LLM use is optional and limited to suggestions a user confirms.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the lower half is generated by the prototype from synthetic MDBs (seeded), not drawn by hand. Left: cabinet map drawn from the allocator output. Right: screenshots of the Streamlit prototype UI (2,000-signal synthetic MDB with 6 injected errors; Rev B synthetic). The same engine runs from the CLI and produces the workbook (sheets: IO Allocation, Cabinet Summary, TQ List, Rule Check, Revision Impact, Rule Set, Run Info).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measured figures come from scripts/benchmark.py → artifacts/benchmarks.json (generated 2026-10-10 12:25:40 IST). Synthetic data only. Revision cases: 2k and 10k signals, 5 seeds each, Rev B = 3% deleted, 5% added (half on spare pairs), 2% IO-type changes, 1 cable regrouped. CP-SAT repair was needed in 7 of 10 cases; window repairs proven exact in 7/11, the rest best-found within 10 s. Revision move totals varied across 3 runs (429–470) because CP-SAT runs multi-threaded under a wall-clock limit; allocation results were identical across runs. full-reallocation fallback in 0. Max revision time 53.87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statements are expected, not measured. Sources: PS #02 p.4 (10,000+ signals, manual Excel, revisions); DeltaV Electronic Marshalling PDS Aug 2026 p.10 ('Number of CIOCs per System: 300', a specification maximum; 96 channels per CIOC). Positioning: complementary pre-configuration engineering assistant; see docs/emerson_product_analysis.md.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Repository, rule register, source register and benchmark logs are available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90672" y="47777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Mac_Enthu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515721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Aayush Aade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6128" y="5550408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Track 1 (Emerson) · PS 1.2 Project IO SIGNAL SUDOKU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05332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4DD262"/>
                </a:solidFill>
                <a:latin typeface="Arial"/>
              </a:rPr>
              <a:t>SlotSmith</a:t>
            </a:r>
            <a:r>
              <a:rPr sz="1300" b="0" i="0">
                <a:solidFill>
                  <a:srgbClr val="EAF5EC"/>
                </a:solidFill>
                <a:latin typeface="Arial"/>
              </a:rPr>
              <a:t>  ·  rule-driven, independently checked, revision-aware DeltaV I/O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432304"/>
            <a:ext cx="59893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DeltaV project and I/O engineers </a:t>
            </a:r>
            <a:r>
              <a:rPr sz="1250" b="0" i="0">
                <a:solidFill>
                  <a:srgbClr val="EAF5EC"/>
                </a:solidFill>
                <a:latin typeface="Arial"/>
              </a:rPr>
              <a:t>(Emerson and system integrators) who must give every field signal an exact home: cabinet → CIOC → baseplate → CHARM slot. Downstream, panel builders and site teams wire to that allocation.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593592"/>
            <a:ext cx="608075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Emerson's PS: </a:t>
            </a:r>
            <a:r>
              <a:rPr sz="1200" b="0" i="0">
                <a:solidFill>
                  <a:srgbClr val="EAF5EC"/>
                </a:solidFill>
                <a:latin typeface="Arial"/>
              </a:rPr>
              <a:t>10,000+ signals are allocated by hand in Excel, and each customer revision means reworking it and tracing the impact again. </a:t>
            </a:r>
            <a:r>
              <a:rPr sz="1200" b="0" i="0">
                <a:solidFill>
                  <a:srgbClr val="A9C2AE"/>
                </a:solidFill>
                <a:latin typeface="Arial"/>
              </a:rPr>
              <a:t>DeltaV tools automate the steps around it (auto-sense, late binding, Bulk Edit); we found no public tool that places signals from project rules (internal tools may exist).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18304"/>
            <a:ext cx="6080759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EAF5EC"/>
                </a:solidFill>
                <a:latin typeface="Arial"/>
              </a:rPr>
              <a:t>Electronic Marshalling makes late changes physically cheap ("without lifting a wire"),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but allocation planning and revision tracking remain a manual workflow burden (per the PS). </a:t>
            </a:r>
            <a:r>
              <a:rPr sz="1250" b="0" i="0">
                <a:solidFill>
                  <a:srgbClr val="EAF5EC"/>
                </a:solidFill>
                <a:latin typeface="Arial"/>
              </a:rPr>
              <a:t>Six interacting rules must hold at once, on every revision, with a technical query (TQ) for each data conflict.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6188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A9C2AE"/>
                </a:solidFill>
                <a:latin typeface="Arial"/>
              </a:rPr>
              <a:t>Sources: Emerson PS #02 p.4; DeltaV Electronic Marshalling PDS (Aug 2026); Smart Commissioning WP (2021) p.5; Bulk Edit WP (2022).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8" y="1755648"/>
            <a:ext cx="4800600" cy="4434840"/>
          </a:xfrm>
          <a:prstGeom prst="roundRect">
            <a:avLst>
              <a:gd name="adj" fmla="val 4000"/>
            </a:avLst>
          </a:prstGeom>
          <a:solidFill>
            <a:srgbClr val="06140A">
              <a:alpha val="88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8896" y="186537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4DD262"/>
                </a:solidFill>
                <a:latin typeface="Arial"/>
              </a:rPr>
              <a:t>THE PUZZLE, PER EMERSON'S RULEBOOK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212848"/>
            <a:ext cx="978408" cy="676656"/>
          </a:xfrm>
          <a:prstGeom prst="roundRect">
            <a:avLst>
              <a:gd name="adj" fmla="val 12000"/>
            </a:avLst>
          </a:prstGeom>
          <a:solidFill>
            <a:srgbClr val="0C2412"/>
          </a:solidFill>
          <a:ln w="12700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Cabinet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A9C2AE"/>
                </a:solidFill>
                <a:latin typeface="Arial"/>
              </a:rPr>
              <a:t>≤ 4 CIOCs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47304" y="2551176"/>
            <a:ext cx="146304" cy="0"/>
          </a:xfrm>
          <a:prstGeom prst="line">
            <a:avLst/>
          </a:prstGeom>
          <a:ln w="15875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11896" y="2212848"/>
            <a:ext cx="978408" cy="676656"/>
          </a:xfrm>
          <a:prstGeom prst="roundRect">
            <a:avLst>
              <a:gd name="adj" fmla="val 12000"/>
            </a:avLst>
          </a:prstGeom>
          <a:solidFill>
            <a:srgbClr val="0C2412"/>
          </a:solidFill>
          <a:ln w="12700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CIOC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A9C2AE"/>
                </a:solidFill>
                <a:latin typeface="Arial"/>
              </a:rPr>
              <a:t>8 baseplates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08592" y="2551176"/>
            <a:ext cx="146304" cy="0"/>
          </a:xfrm>
          <a:prstGeom prst="line">
            <a:avLst/>
          </a:prstGeom>
          <a:ln w="15875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73184" y="2212848"/>
            <a:ext cx="978408" cy="676656"/>
          </a:xfrm>
          <a:prstGeom prst="roundRect">
            <a:avLst>
              <a:gd name="adj" fmla="val 12000"/>
            </a:avLst>
          </a:prstGeom>
          <a:solidFill>
            <a:srgbClr val="0C2412"/>
          </a:solidFill>
          <a:ln w="12700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Baseplate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A9C2AE"/>
                </a:solidFill>
                <a:latin typeface="Arial"/>
              </a:rPr>
              <a:t>12 CHARMs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69880" y="2551176"/>
            <a:ext cx="146304" cy="0"/>
          </a:xfrm>
          <a:prstGeom prst="line">
            <a:avLst/>
          </a:prstGeom>
          <a:ln w="15875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634472" y="2212848"/>
            <a:ext cx="978408" cy="676656"/>
          </a:xfrm>
          <a:prstGeom prst="roundRect">
            <a:avLst>
              <a:gd name="adj" fmla="val 12000"/>
            </a:avLst>
          </a:prstGeom>
          <a:solidFill>
            <a:srgbClr val="0C2412"/>
          </a:solidFill>
          <a:ln w="12700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CHARM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A9C2AE"/>
                </a:solidFill>
                <a:latin typeface="Arial"/>
              </a:rPr>
              <a:t>1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310896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F5EC"/>
                </a:solidFill>
                <a:latin typeface="Arial"/>
              </a:rPr>
              <a:t>24-pair cable = 2 full baseplates (22 signals + 2 wired spares)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39227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9892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50224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20556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90888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61220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31552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01884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872216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242548" y="3392424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68896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39227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09560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9892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0224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20556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90888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61220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31552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01884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872216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242548" y="3657600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395935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F5EC"/>
                </a:solidFill>
                <a:latin typeface="Arial"/>
              </a:rPr>
              <a:t>Smaller cables share a baseplate, in pair order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68896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539227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09560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79892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50224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20556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90888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761220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31552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501884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872216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9525">
            <a:solidFill>
              <a:srgbClr val="2E4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242548" y="4242816"/>
            <a:ext cx="329184" cy="219456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9525">
            <a:solidFill>
              <a:srgbClr val="2E4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168896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51775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16952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99831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AO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65008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47888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DI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13064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DO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20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0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DO iso+fused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86416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69296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spare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867644" y="46085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0E1A12"/>
          </a:solidFill>
          <a:ln w="12700">
            <a:solidFill>
              <a:srgbClr val="2E4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50524" y="45720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free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68896" y="4956048"/>
            <a:ext cx="2130552" cy="292608"/>
          </a:xfrm>
          <a:prstGeom prst="roundRect">
            <a:avLst>
              <a:gd name="adj" fmla="val 25000"/>
            </a:avLst>
          </a:prstGeom>
          <a:solidFill>
            <a:srgbClr val="0C2412"/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1  Keep IO groups together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409176" y="4956048"/>
            <a:ext cx="2130552" cy="292608"/>
          </a:xfrm>
          <a:prstGeom prst="roundRect">
            <a:avLst>
              <a:gd name="adj" fmla="val 25000"/>
            </a:avLst>
          </a:prstGeom>
          <a:solidFill>
            <a:srgbClr val="0C2412"/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2  A and B never share a CIOC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68896" y="5321808"/>
            <a:ext cx="2130552" cy="292608"/>
          </a:xfrm>
          <a:prstGeom prst="roundRect">
            <a:avLst>
              <a:gd name="adj" fmla="val 25000"/>
            </a:avLst>
          </a:prstGeom>
          <a:solidFill>
            <a:srgbClr val="0C2412"/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3  Capacity 12 · 8 · 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09176" y="5321808"/>
            <a:ext cx="2130552" cy="292608"/>
          </a:xfrm>
          <a:prstGeom prst="roundRect">
            <a:avLst>
              <a:gd name="adj" fmla="val 25000"/>
            </a:avLst>
          </a:prstGeom>
          <a:solidFill>
            <a:srgbClr val="0C2412"/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4  Cable intact, in pair order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68896" y="5687568"/>
            <a:ext cx="2130552" cy="292608"/>
          </a:xfrm>
          <a:prstGeom prst="roundRect">
            <a:avLst>
              <a:gd name="adj" fmla="val 25000"/>
            </a:avLst>
          </a:prstGeom>
          <a:solidFill>
            <a:srgbClr val="0C2412"/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5  ~10% spare per cabinet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09176" y="5687568"/>
            <a:ext cx="2130552" cy="292608"/>
          </a:xfrm>
          <a:prstGeom prst="roundRect">
            <a:avLst>
              <a:gd name="adj" fmla="val 25000"/>
            </a:avLst>
          </a:prstGeom>
          <a:solidFill>
            <a:srgbClr val="0C2412"/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6  Right CHARM + terminal block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523744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Independently checked: </a:t>
            </a:r>
            <a:r>
              <a:rPr sz="1150" b="0" i="0">
                <a:solidFill>
                  <a:srgbClr val="EAF5EC"/>
                </a:solidFill>
                <a:latin typeface="Arial"/>
              </a:rPr>
              <a:t>a separate verifier re-reads the exported workbook (11 rule families).</a:t>
            </a:r>
          </a:p>
          <a:p>
            <a:pPr algn="l" marL="146304" indent="-146304">
              <a:lnSpc>
                <a:spcPct val="100000"/>
              </a:lnSpc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Revision-aware: </a:t>
            </a:r>
            <a:r>
              <a:rPr sz="1150" b="0" i="0">
                <a:solidFill>
                  <a:srgbClr val="EAF5EC"/>
                </a:solidFill>
                <a:latin typeface="Arial"/>
              </a:rPr>
              <a:t>unchanged cables stay put; CP-SAT repairs changes locally.</a:t>
            </a:r>
          </a:p>
          <a:p>
            <a:pPr algn="l" marL="146304" indent="-146304">
              <a:lnSpc>
                <a:spcPct val="100000"/>
              </a:lnSpc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Configurable: </a:t>
            </a:r>
            <a:r>
              <a:rPr sz="1150" b="0" i="0">
                <a:solidFill>
                  <a:srgbClr val="EAF5EC"/>
                </a:solidFill>
                <a:latin typeface="Arial"/>
              </a:rPr>
              <a:t>existing rule parameters live in JSON; new rule types may need code.</a:t>
            </a:r>
          </a:p>
          <a:p>
            <a:pPr algn="l" marL="146304" indent="-146304">
              <a:lnSpc>
                <a:spcPct val="100000"/>
              </a:lnSpc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Traceable TQs: </a:t>
            </a:r>
            <a:r>
              <a:rPr sz="1150" b="0" i="0">
                <a:solidFill>
                  <a:srgbClr val="EAF5EC"/>
                </a:solidFill>
                <a:latin typeface="Arial"/>
              </a:rPr>
              <a:t>every TQ cites a rule ID and the MDB file and 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76472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EAF5EC"/>
                </a:solidFill>
                <a:latin typeface="Arial"/>
              </a:rPr>
              <a:t>Each cable becomes one block of 24/12/6/2 slots (spares included). Blocks are packed per group and A/B side into 12-slot baseplates, then baseplates fill CIOCs (8) and cabinets (4, minus the spare reserve) in group order.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Proved: </a:t>
            </a:r>
            <a:r>
              <a:rPr sz="1100" b="0" i="0">
                <a:solidFill>
                  <a:srgbClr val="EAF5EC"/>
                </a:solidFill>
                <a:latin typeface="Arial"/>
              </a:rPr>
              <a:t>for one A/B side with cable sizes 2/6/12 (24 = two full baseplates), first-fit-decreasing uses the fewest baseplates.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Tested, not proved: </a:t>
            </a:r>
            <a:r>
              <a:rPr sz="1100" b="0" i="0">
                <a:solidFill>
                  <a:srgbClr val="A9C2AE"/>
                </a:solidFill>
                <a:latin typeface="Arial"/>
              </a:rPr>
              <a:t>whole-group totals matched an exact CP-SAT solver in 19,682 exhaustive small cases and 12/12 benchmark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AF5EC"/>
                </a:solidFill>
                <a:latin typeface="Arial"/>
              </a:rPr>
              <a:t>Built on Python, OR-Tools CP-SAT and openpyxl, all open source, with a synthetic MDB generator built from the published rulebook. The working prototype already allocates and verifies 20,033 synthetic signals in 6.0 s on a laptop (slide 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783080"/>
            <a:ext cx="4526280" cy="2194560"/>
          </a:xfrm>
          <a:prstGeom prst="roundRect">
            <a:avLst>
              <a:gd name="adj" fmla="val 4000"/>
            </a:avLst>
          </a:prstGeom>
          <a:solidFill>
            <a:srgbClr val="06140A">
              <a:alpha val="88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87451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4DD262"/>
                </a:solidFill>
                <a:latin typeface="Arial"/>
              </a:rPr>
              <a:t>WHERE AI HELPS, AND WHERE IT MUST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221991"/>
            <a:ext cx="2011680" cy="1627632"/>
          </a:xfrm>
          <a:prstGeom prst="roundRect">
            <a:avLst>
              <a:gd name="adj" fmla="val 6000"/>
            </a:avLst>
          </a:prstGeom>
          <a:solidFill>
            <a:srgbClr val="0A2433"/>
          </a:solidFill>
          <a:ln w="1270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FD3FF"/>
                </a:solidFill>
                <a:latin typeface="Arial"/>
              </a:rPr>
              <a:t>AI-assisted, always reviewed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EAF5EC"/>
                </a:solidFill>
                <a:latin typeface="Arial"/>
              </a:rPr>
              <a:t>Column auto-mapping for unseen MDBs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EAF5EC"/>
                </a:solidFill>
                <a:latin typeface="Arial"/>
              </a:rPr>
              <a:t>Plain-English rule → JSON draft, schema-checked and previewed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EAF5EC"/>
                </a:solidFill>
                <a:latin typeface="Arial"/>
              </a:rPr>
              <a:t>Customer-ready TQ wording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A9C2AE"/>
                </a:solidFill>
                <a:latin typeface="Arial"/>
              </a:rPr>
              <a:t>Status: planned for Round 2+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221991"/>
            <a:ext cx="2011680" cy="1627632"/>
          </a:xfrm>
          <a:prstGeom prst="roundRect">
            <a:avLst>
              <a:gd name="adj" fmla="val 6000"/>
            </a:avLst>
          </a:prstGeom>
          <a:solidFill>
            <a:srgbClr val="0B2A12"/>
          </a:solidFill>
          <a:ln w="12700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Solver + independent verifier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EAF5EC"/>
                </a:solidFill>
                <a:latin typeface="Arial"/>
              </a:rPr>
              <a:t>Every placement decision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EAF5EC"/>
                </a:solidFill>
                <a:latin typeface="Arial"/>
              </a:rPr>
              <a:t>Rule verification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EAF5EC"/>
                </a:solidFill>
                <a:latin typeface="Arial"/>
              </a:rPr>
              <a:t>Excel export and revision diff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A9C2AE"/>
                </a:solidFill>
                <a:latin typeface="Arial"/>
              </a:rPr>
              <a:t>Status: built and 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4114800"/>
            <a:ext cx="4526280" cy="2057400"/>
          </a:xfrm>
          <a:prstGeom prst="roundRect">
            <a:avLst>
              <a:gd name="adj" fmla="val 4000"/>
            </a:avLst>
          </a:prstGeom>
          <a:solidFill>
            <a:srgbClr val="06140A">
              <a:alpha val="88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42062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DESIGN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498848"/>
            <a:ext cx="42062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030" b="1" i="0">
                <a:solidFill>
                  <a:srgbClr val="FFFFFF"/>
                </a:solidFill>
                <a:latin typeface="Arial"/>
              </a:rPr>
              <a:t>Check, don't trust:</a:t>
            </a:r>
            <a:r>
              <a:rPr sz="1030" b="0" i="0">
                <a:solidFill>
                  <a:srgbClr val="EAF5EC"/>
                </a:solidFill>
                <a:latin typeface="Arial"/>
              </a:rPr>
              <a:t> nothing ships without an independent rule-check report</a:t>
            </a:r>
          </a:p>
          <a:p>
            <a:pPr algn="l" marL="146304" indent="-146304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030" b="1" i="0">
                <a:solidFill>
                  <a:srgbClr val="FFFFFF"/>
                </a:solidFill>
                <a:latin typeface="Arial"/>
              </a:rPr>
              <a:t>No AI in placement:</a:t>
            </a:r>
            <a:r>
              <a:rPr sz="1030" b="0" i="0">
                <a:solidFill>
                  <a:srgbClr val="EAF5EC"/>
                </a:solidFill>
                <a:latin typeface="Arial"/>
              </a:rPr>
              <a:t> a solver places signals; AI only suggests, users confirm</a:t>
            </a:r>
          </a:p>
          <a:p>
            <a:pPr algn="l" marL="146304" indent="-146304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030" b="1" i="0">
                <a:solidFill>
                  <a:srgbClr val="FFFFFF"/>
                </a:solidFill>
                <a:latin typeface="Arial"/>
              </a:rPr>
              <a:t>Change locally:</a:t>
            </a:r>
            <a:r>
              <a:rPr sz="1030" b="0" i="0">
                <a:solidFill>
                  <a:srgbClr val="EAF5EC"/>
                </a:solidFill>
                <a:latin typeface="Arial"/>
              </a:rPr>
              <a:t> a revision keeps unchanged cables in place and reports every move</a:t>
            </a:r>
          </a:p>
          <a:p>
            <a:pPr algn="l" marL="146304" indent="-146304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030" b="1" i="0">
                <a:solidFill>
                  <a:srgbClr val="FFFFFF"/>
                </a:solidFill>
                <a:latin typeface="Arial"/>
              </a:rPr>
              <a:t>Surface, don't hide:</a:t>
            </a:r>
            <a:r>
              <a:rPr sz="1030" b="0" i="0">
                <a:solidFill>
                  <a:srgbClr val="EAF5EC"/>
                </a:solidFill>
                <a:latin typeface="Arial"/>
              </a:rPr>
              <a:t> every unresolved issue becomes a TQ with its rule and source 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3080" y="204825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 i="0">
                <a:solidFill>
                  <a:srgbClr val="EAF5EC"/>
                </a:solidFill>
                <a:latin typeface="Arial"/>
              </a:rPr>
              <a:t>Streamlit prototype (built): rule panel, cabinet map, TQs, diff; React + TS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2798064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 i="0">
                <a:solidFill>
                  <a:srgbClr val="EAF5EC"/>
                </a:solidFill>
                <a:latin typeface="Arial"/>
              </a:rPr>
              <a:t>Python 3.12 · pandas · openpyxl · pydantic typed rule sets ·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354787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 i="0">
                <a:solidFill>
                  <a:srgbClr val="EAF5EC"/>
                </a:solidFill>
                <a:latin typeface="Arial"/>
              </a:rPr>
              <a:t>Project files: JSON rule sets, Rev A/B workbooks, run log (SQLite planned)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433425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 i="0">
                <a:solidFill>
                  <a:srgbClr val="EAF5EC"/>
                </a:solidFill>
                <a:latin typeface="Arial"/>
              </a:rPr>
              <a:t>OR-Tools CP-SAT (Apache-2.0). Optional LLM for mapping/rule drafts: model declared, never places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513892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 i="0">
                <a:solidFill>
                  <a:srgbClr val="EAF5EC"/>
                </a:solidFill>
                <a:latin typeface="Arial"/>
              </a:rPr>
              <a:t>Runs offline on a laptop · pytest + Hypothesis · git; Docker for demo (planned)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7269480" cy="4434840"/>
          </a:xfrm>
          <a:prstGeom prst="roundRect">
            <a:avLst>
              <a:gd name="adj" fmla="val 3000"/>
            </a:avLst>
          </a:prstGeom>
          <a:solidFill>
            <a:srgbClr val="06140A">
              <a:alpha val="88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DATA FLOW (solid = built; dashed = planned)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240280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12202A"/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Customer IO MDB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one or many Excel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3096" y="2240280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 · Ingest + map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auto-map columns, keep row provenance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2" y="2240280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 · Validate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data + rule conflicts → TQ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30968" y="2240280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 · Allocator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cable blocks → baseplates → CIOCs → cabinets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0216" y="2660904"/>
            <a:ext cx="164592" cy="0"/>
          </a:xfrm>
          <a:prstGeom prst="line">
            <a:avLst/>
          </a:prstGeom>
          <a:ln w="19050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74152" y="2660904"/>
            <a:ext cx="164592" cy="0"/>
          </a:xfrm>
          <a:prstGeom prst="line">
            <a:avLst/>
          </a:prstGeom>
          <a:ln w="19050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48088" y="2660904"/>
            <a:ext cx="164592" cy="0"/>
          </a:xfrm>
          <a:prstGeom prst="line">
            <a:avLst/>
          </a:prstGeom>
          <a:ln w="19050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30968" y="3538728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 · Exporter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allocation, summary, TQs, impact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17352" y="3099816"/>
            <a:ext cx="0" cy="420624"/>
          </a:xfrm>
          <a:prstGeom prst="line">
            <a:avLst/>
          </a:prstGeom>
          <a:ln w="19050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57032" y="3538728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2A1F0A"/>
          </a:solidFill>
          <a:ln w="1587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B547"/>
                </a:solidFill>
                <a:latin typeface="Arial"/>
              </a:rPr>
              <a:t>5 · Independent verifier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re-reads the workbook; shares no code with 4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848088" y="3959352"/>
            <a:ext cx="164592" cy="0"/>
          </a:xfrm>
          <a:prstGeom prst="line">
            <a:avLst/>
          </a:prstGeom>
          <a:ln w="19050">
            <a:solidFill>
              <a:srgbClr val="FFB5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09160" y="3538728"/>
            <a:ext cx="3346704" cy="841248"/>
          </a:xfrm>
          <a:prstGeom prst="roundRect">
            <a:avLst>
              <a:gd name="adj" fmla="val 10000"/>
            </a:avLst>
          </a:prstGeom>
          <a:solidFill>
            <a:srgbClr val="12202A"/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Deliverable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filled Excel workbook + rule-check report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074152" y="3959352"/>
            <a:ext cx="164592" cy="0"/>
          </a:xfrm>
          <a:prstGeom prst="line">
            <a:avLst/>
          </a:prstGeom>
          <a:ln w="19050">
            <a:solidFill>
              <a:srgbClr val="FFB5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9160" y="4837176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UI (Streamlit)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built prototype: rule panel, map, TQs, diff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3096" y="4837176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A9C2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EAF5EC"/>
                </a:solidFill>
                <a:latin typeface="Arial"/>
              </a:rPr>
              <a:t>AI helpers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planned: mapping + rule-draft suggestions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2" y="4837176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 · Rule set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JSON parameters used by 2 · 4 ·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30968" y="4837176"/>
            <a:ext cx="1572768" cy="841248"/>
          </a:xfrm>
          <a:prstGeom prst="roundRect">
            <a:avLst>
              <a:gd name="adj" fmla="val 10000"/>
            </a:avLst>
          </a:prstGeom>
          <a:solidFill>
            <a:srgbClr val="0C2412"/>
          </a:solidFill>
          <a:ln w="15875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 · Revision engine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A9C2AE"/>
                </a:solidFill>
                <a:latin typeface="Arial"/>
              </a:rPr>
              <a:t>Rev A + Rev B: pin unchanged, CP-SAT window repair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817352" y="4398264"/>
            <a:ext cx="0" cy="420624"/>
          </a:xfrm>
          <a:prstGeom prst="line">
            <a:avLst/>
          </a:prstGeom>
          <a:ln w="19050">
            <a:solidFill>
              <a:srgbClr val="4DD2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09160" y="58521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A9C2AE"/>
                </a:solidFill>
                <a:latin typeface="Arial"/>
              </a:rPr>
              <a:t>Row provenance (file:sheet:row) travels with every signal, so each TQ and placement is traceable.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1700784"/>
            <a:ext cx="2157984" cy="978408"/>
          </a:xfrm>
          <a:prstGeom prst="roundRect">
            <a:avLst>
              <a:gd name="adj" fmla="val 8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764792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4DD262"/>
                </a:solidFill>
                <a:latin typeface="Arial"/>
              </a:rPr>
              <a:t>1 ·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029968"/>
            <a:ext cx="19751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EAF5EC"/>
                </a:solidFill>
                <a:latin typeface="Arial"/>
              </a:rPr>
              <a:t>Excel MDB(s) in; columns auto-mapped with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2432304"/>
            <a:ext cx="1938528" cy="182880"/>
          </a:xfrm>
          <a:prstGeom prst="roundRect">
            <a:avLst>
              <a:gd name="adj" fmla="val 30000"/>
            </a:avLst>
          </a:prstGeom>
          <a:solidFill>
            <a:srgbClr val="4DD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06140A"/>
                </a:solidFill>
                <a:latin typeface="Arial"/>
              </a:rPr>
              <a:t>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1700784"/>
            <a:ext cx="2157984" cy="978408"/>
          </a:xfrm>
          <a:prstGeom prst="roundRect">
            <a:avLst>
              <a:gd name="adj" fmla="val 8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1764792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4DD262"/>
                </a:solidFill>
                <a:latin typeface="Arial"/>
              </a:rPr>
              <a:t>2 · Set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2029968"/>
            <a:ext cx="19751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EAF5EC"/>
                </a:solidFill>
                <a:latin typeface="Arial"/>
              </a:rPr>
              <a:t>Rule panel: toggle, edit, save rule sets per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432304"/>
            <a:ext cx="1938528" cy="182880"/>
          </a:xfrm>
          <a:prstGeom prst="roundRect">
            <a:avLst>
              <a:gd name="adj" fmla="val 30000"/>
            </a:avLst>
          </a:prstGeom>
          <a:solidFill>
            <a:srgbClr val="4DD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06140A"/>
                </a:solidFill>
                <a:latin typeface="Arial"/>
              </a:rPr>
              <a:t>Built (prototype panel)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00784"/>
            <a:ext cx="2157984" cy="978408"/>
          </a:xfrm>
          <a:prstGeom prst="roundRect">
            <a:avLst>
              <a:gd name="adj" fmla="val 8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764792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4DD262"/>
                </a:solidFill>
                <a:latin typeface="Arial"/>
              </a:rPr>
              <a:t>3 · Allocate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029968"/>
            <a:ext cx="19751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EAF5EC"/>
                </a:solidFill>
                <a:latin typeface="Arial"/>
              </a:rPr>
              <a:t>One click: signal → cabinet, CIOC, baseplate, CHARM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2432304"/>
            <a:ext cx="1938528" cy="182880"/>
          </a:xfrm>
          <a:prstGeom prst="roundRect">
            <a:avLst>
              <a:gd name="adj" fmla="val 30000"/>
            </a:avLst>
          </a:prstGeom>
          <a:solidFill>
            <a:srgbClr val="4DD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06140A"/>
                </a:solidFill>
                <a:latin typeface="Arial"/>
              </a:rPr>
              <a:t>Built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5" y="1700784"/>
            <a:ext cx="2157984" cy="978408"/>
          </a:xfrm>
          <a:prstGeom prst="roundRect">
            <a:avLst>
              <a:gd name="adj" fmla="val 8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7223" y="1764792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4DD262"/>
                </a:solidFill>
                <a:latin typeface="Arial"/>
              </a:rPr>
              <a:t>4 · Report + TQs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3" y="2029968"/>
            <a:ext cx="19751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EAF5EC"/>
                </a:solidFill>
                <a:latin typeface="Arial"/>
              </a:rPr>
              <a:t>Fill %, spares, rule check, TQ list with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3" y="2432304"/>
            <a:ext cx="1938528" cy="182880"/>
          </a:xfrm>
          <a:prstGeom prst="roundRect">
            <a:avLst>
              <a:gd name="adj" fmla="val 30000"/>
            </a:avLst>
          </a:prstGeom>
          <a:solidFill>
            <a:srgbClr val="4DD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06140A"/>
                </a:solidFill>
                <a:latin typeface="Arial"/>
              </a:rPr>
              <a:t>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4351" y="1700784"/>
            <a:ext cx="2157984" cy="978408"/>
          </a:xfrm>
          <a:prstGeom prst="roundRect">
            <a:avLst>
              <a:gd name="adj" fmla="val 8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9" y="1764792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4DD262"/>
                </a:solidFill>
                <a:latin typeface="Arial"/>
              </a:rPr>
              <a:t>5 · Revise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9" y="2029968"/>
            <a:ext cx="19751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EAF5EC"/>
                </a:solidFill>
                <a:latin typeface="Arial"/>
              </a:rPr>
              <a:t>Rev B vs Rev A: unchanged stay put; impact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79" y="2432304"/>
            <a:ext cx="1938528" cy="182880"/>
          </a:xfrm>
          <a:prstGeom prst="roundRect">
            <a:avLst>
              <a:gd name="adj" fmla="val 30000"/>
            </a:avLst>
          </a:prstGeom>
          <a:solidFill>
            <a:srgbClr val="4DD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06140A"/>
                </a:solidFill>
                <a:latin typeface="Arial"/>
              </a:rPr>
              <a:t>Built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788920"/>
            <a:ext cx="6126480" cy="3383280"/>
          </a:xfrm>
          <a:prstGeom prst="roundRect">
            <a:avLst>
              <a:gd name="adj" fmla="val 3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86207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ENGINE OUTPUT: CABINET AR1-DCM-100-01</a:t>
            </a:r>
            <a:r>
              <a:rPr sz="1050" b="0" i="1">
                <a:solidFill>
                  <a:srgbClr val="A9C2AE"/>
                </a:solidFill>
                <a:latin typeface="Arial"/>
              </a:rPr>
              <a:t>  (synthetic 900-signal MDB)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72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B547"/>
                </a:solidFill>
                <a:latin typeface="Arial"/>
              </a:rPr>
              <a:t>001 · G1 ·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698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5214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5730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6245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6761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7276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7792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8308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8823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667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183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698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5214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5730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6245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46761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57276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67792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78308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88823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667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4183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4698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5214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25730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6245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46761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57276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67792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78308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88823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3152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3667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4183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4698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15214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25730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36245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46761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57276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67792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78308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88823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3152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3667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4183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4698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5214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25730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36245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46761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57276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67792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78308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88823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152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3667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4183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4698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15214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25730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36245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46761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57276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67792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78308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88823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3152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3667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4183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4698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15214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25730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36245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46761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57276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67792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78308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88823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3152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3667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4183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4698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15214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25730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36245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46761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57276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67792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78308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88823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94560" y="3172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6FD3FF"/>
                </a:solidFill>
                <a:latin typeface="Arial"/>
              </a:rPr>
              <a:t>002 · G1 · B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19456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229971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240487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51002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61518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72034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282549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293065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303580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314096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24612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335127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219456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229971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240487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251002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261518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272034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282549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293065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303580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14096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24612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335127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219456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229971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240487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251002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261518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272034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282549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293065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303580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14096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324612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335127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219456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229971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240487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251002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261518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272034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282549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293065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303580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314096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324612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335127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219456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229971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240487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251002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261518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72034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282549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293065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303580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314096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324612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335127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219456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229971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240487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251002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261518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272034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282549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293065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303580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314096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324612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335127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219456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229971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240487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251002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261518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272034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282549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293065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303580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314096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324612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335127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219456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229971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240487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51002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261518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272034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282549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293065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303580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314096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324612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335127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657600" y="3172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6FD3FF"/>
                </a:solidFill>
                <a:latin typeface="Arial"/>
              </a:rPr>
              <a:t>003 · G1 · B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65760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376275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386791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397306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407822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418338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428853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439369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449884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460400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470916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481431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365760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376275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386791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397306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407822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418338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428853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439369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449884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460400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470916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481431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365760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376275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386791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397306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407822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418338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428853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439369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449884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460400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470916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5" name="Rounded Rectangle 254"/>
          <p:cNvSpPr/>
          <p:nvPr/>
        </p:nvSpPr>
        <p:spPr>
          <a:xfrm>
            <a:off x="481431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6" name="Rounded Rectangle 255"/>
          <p:cNvSpPr/>
          <p:nvPr/>
        </p:nvSpPr>
        <p:spPr>
          <a:xfrm>
            <a:off x="365760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376275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8" name="Rounded Rectangle 257"/>
          <p:cNvSpPr/>
          <p:nvPr/>
        </p:nvSpPr>
        <p:spPr>
          <a:xfrm>
            <a:off x="386791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397306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407822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1" name="Rounded Rectangle 260"/>
          <p:cNvSpPr/>
          <p:nvPr/>
        </p:nvSpPr>
        <p:spPr>
          <a:xfrm>
            <a:off x="418338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2" name="Rounded Rectangle 261"/>
          <p:cNvSpPr/>
          <p:nvPr/>
        </p:nvSpPr>
        <p:spPr>
          <a:xfrm>
            <a:off x="428853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439369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449884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460400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6" name="Rounded Rectangle 265"/>
          <p:cNvSpPr/>
          <p:nvPr/>
        </p:nvSpPr>
        <p:spPr>
          <a:xfrm>
            <a:off x="470916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481431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8" name="Rounded Rectangle 267"/>
          <p:cNvSpPr/>
          <p:nvPr/>
        </p:nvSpPr>
        <p:spPr>
          <a:xfrm>
            <a:off x="365760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9" name="Rounded Rectangle 268"/>
          <p:cNvSpPr/>
          <p:nvPr/>
        </p:nvSpPr>
        <p:spPr>
          <a:xfrm>
            <a:off x="376275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386791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1" name="Rounded Rectangle 270"/>
          <p:cNvSpPr/>
          <p:nvPr/>
        </p:nvSpPr>
        <p:spPr>
          <a:xfrm>
            <a:off x="397306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407822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3" name="Rounded Rectangle 272"/>
          <p:cNvSpPr/>
          <p:nvPr/>
        </p:nvSpPr>
        <p:spPr>
          <a:xfrm>
            <a:off x="418338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428853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439369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449884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7" name="Rounded Rectangle 276"/>
          <p:cNvSpPr/>
          <p:nvPr/>
        </p:nvSpPr>
        <p:spPr>
          <a:xfrm>
            <a:off x="460400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8" name="Rounded Rectangle 277"/>
          <p:cNvSpPr/>
          <p:nvPr/>
        </p:nvSpPr>
        <p:spPr>
          <a:xfrm>
            <a:off x="470916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481431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365760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376275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2" name="Rounded Rectangle 281"/>
          <p:cNvSpPr/>
          <p:nvPr/>
        </p:nvSpPr>
        <p:spPr>
          <a:xfrm>
            <a:off x="386791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3" name="Rounded Rectangle 282"/>
          <p:cNvSpPr/>
          <p:nvPr/>
        </p:nvSpPr>
        <p:spPr>
          <a:xfrm>
            <a:off x="397306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407822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418338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6" name="Rounded Rectangle 285"/>
          <p:cNvSpPr/>
          <p:nvPr/>
        </p:nvSpPr>
        <p:spPr>
          <a:xfrm>
            <a:off x="428853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7" name="Rounded Rectangle 286"/>
          <p:cNvSpPr/>
          <p:nvPr/>
        </p:nvSpPr>
        <p:spPr>
          <a:xfrm>
            <a:off x="439369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449884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460400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470916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1" name="Rounded Rectangle 290"/>
          <p:cNvSpPr/>
          <p:nvPr/>
        </p:nvSpPr>
        <p:spPr>
          <a:xfrm>
            <a:off x="481431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2" name="Rounded Rectangle 291"/>
          <p:cNvSpPr/>
          <p:nvPr/>
        </p:nvSpPr>
        <p:spPr>
          <a:xfrm>
            <a:off x="365760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3" name="Rounded Rectangle 292"/>
          <p:cNvSpPr/>
          <p:nvPr/>
        </p:nvSpPr>
        <p:spPr>
          <a:xfrm>
            <a:off x="376275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4" name="Rounded Rectangle 293"/>
          <p:cNvSpPr/>
          <p:nvPr/>
        </p:nvSpPr>
        <p:spPr>
          <a:xfrm>
            <a:off x="386791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5" name="Rounded Rectangle 294"/>
          <p:cNvSpPr/>
          <p:nvPr/>
        </p:nvSpPr>
        <p:spPr>
          <a:xfrm>
            <a:off x="397306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6" name="Rounded Rectangle 295"/>
          <p:cNvSpPr/>
          <p:nvPr/>
        </p:nvSpPr>
        <p:spPr>
          <a:xfrm>
            <a:off x="407822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7" name="Rounded Rectangle 296"/>
          <p:cNvSpPr/>
          <p:nvPr/>
        </p:nvSpPr>
        <p:spPr>
          <a:xfrm>
            <a:off x="418338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8" name="Rounded Rectangle 297"/>
          <p:cNvSpPr/>
          <p:nvPr/>
        </p:nvSpPr>
        <p:spPr>
          <a:xfrm>
            <a:off x="428853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9" name="Rounded Rectangle 298"/>
          <p:cNvSpPr/>
          <p:nvPr/>
        </p:nvSpPr>
        <p:spPr>
          <a:xfrm>
            <a:off x="439369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449884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1" name="Rounded Rectangle 300"/>
          <p:cNvSpPr/>
          <p:nvPr/>
        </p:nvSpPr>
        <p:spPr>
          <a:xfrm>
            <a:off x="460400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2" name="Rounded Rectangle 301"/>
          <p:cNvSpPr/>
          <p:nvPr/>
        </p:nvSpPr>
        <p:spPr>
          <a:xfrm>
            <a:off x="470916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481431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365760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376275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386791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7" name="Rounded Rectangle 306"/>
          <p:cNvSpPr/>
          <p:nvPr/>
        </p:nvSpPr>
        <p:spPr>
          <a:xfrm>
            <a:off x="397306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407822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418338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428853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1" name="Rounded Rectangle 310"/>
          <p:cNvSpPr/>
          <p:nvPr/>
        </p:nvSpPr>
        <p:spPr>
          <a:xfrm>
            <a:off x="439369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449884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>
            <a:off x="460400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4" name="Rounded Rectangle 313"/>
          <p:cNvSpPr/>
          <p:nvPr/>
        </p:nvSpPr>
        <p:spPr>
          <a:xfrm>
            <a:off x="470916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481431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120640" y="3172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A9C2AE"/>
                </a:solidFill>
                <a:latin typeface="Arial"/>
              </a:rPr>
              <a:t>(empty CIOC position)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512064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8" name="Rounded Rectangle 317"/>
          <p:cNvSpPr/>
          <p:nvPr/>
        </p:nvSpPr>
        <p:spPr>
          <a:xfrm>
            <a:off x="522579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xfrm>
            <a:off x="533095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543610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1" name="Rounded Rectangle 320"/>
          <p:cNvSpPr/>
          <p:nvPr/>
        </p:nvSpPr>
        <p:spPr>
          <a:xfrm>
            <a:off x="554126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2" name="Rounded Rectangle 321"/>
          <p:cNvSpPr/>
          <p:nvPr/>
        </p:nvSpPr>
        <p:spPr>
          <a:xfrm>
            <a:off x="564642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3" name="Rounded Rectangle 322"/>
          <p:cNvSpPr/>
          <p:nvPr/>
        </p:nvSpPr>
        <p:spPr>
          <a:xfrm>
            <a:off x="575157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4" name="Rounded Rectangle 323"/>
          <p:cNvSpPr/>
          <p:nvPr/>
        </p:nvSpPr>
        <p:spPr>
          <a:xfrm>
            <a:off x="5856732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5" name="Rounded Rectangle 324"/>
          <p:cNvSpPr/>
          <p:nvPr/>
        </p:nvSpPr>
        <p:spPr>
          <a:xfrm>
            <a:off x="5961888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6067044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7" name="Rounded Rectangle 326"/>
          <p:cNvSpPr/>
          <p:nvPr/>
        </p:nvSpPr>
        <p:spPr>
          <a:xfrm>
            <a:off x="6172200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xfrm>
            <a:off x="6277356" y="34472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9" name="Rounded Rectangle 328"/>
          <p:cNvSpPr/>
          <p:nvPr/>
        </p:nvSpPr>
        <p:spPr>
          <a:xfrm>
            <a:off x="512064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0" name="Rounded Rectangle 329"/>
          <p:cNvSpPr/>
          <p:nvPr/>
        </p:nvSpPr>
        <p:spPr>
          <a:xfrm>
            <a:off x="522579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1" name="Rounded Rectangle 330"/>
          <p:cNvSpPr/>
          <p:nvPr/>
        </p:nvSpPr>
        <p:spPr>
          <a:xfrm>
            <a:off x="533095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2" name="Rounded Rectangle 331"/>
          <p:cNvSpPr/>
          <p:nvPr/>
        </p:nvSpPr>
        <p:spPr>
          <a:xfrm>
            <a:off x="543610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3" name="Rounded Rectangle 332"/>
          <p:cNvSpPr/>
          <p:nvPr/>
        </p:nvSpPr>
        <p:spPr>
          <a:xfrm>
            <a:off x="554126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4" name="Rounded Rectangle 333"/>
          <p:cNvSpPr/>
          <p:nvPr/>
        </p:nvSpPr>
        <p:spPr>
          <a:xfrm>
            <a:off x="564642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575157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6" name="Rounded Rectangle 335"/>
          <p:cNvSpPr/>
          <p:nvPr/>
        </p:nvSpPr>
        <p:spPr>
          <a:xfrm>
            <a:off x="5856732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7" name="Rounded Rectangle 336"/>
          <p:cNvSpPr/>
          <p:nvPr/>
        </p:nvSpPr>
        <p:spPr>
          <a:xfrm>
            <a:off x="5961888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8" name="Rounded Rectangle 337"/>
          <p:cNvSpPr/>
          <p:nvPr/>
        </p:nvSpPr>
        <p:spPr>
          <a:xfrm>
            <a:off x="6067044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9" name="Rounded Rectangle 338"/>
          <p:cNvSpPr/>
          <p:nvPr/>
        </p:nvSpPr>
        <p:spPr>
          <a:xfrm>
            <a:off x="6172200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0" name="Rounded Rectangle 339"/>
          <p:cNvSpPr/>
          <p:nvPr/>
        </p:nvSpPr>
        <p:spPr>
          <a:xfrm>
            <a:off x="6277356" y="373303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512064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2" name="Rounded Rectangle 341"/>
          <p:cNvSpPr/>
          <p:nvPr/>
        </p:nvSpPr>
        <p:spPr>
          <a:xfrm>
            <a:off x="522579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3" name="Rounded Rectangle 342"/>
          <p:cNvSpPr/>
          <p:nvPr/>
        </p:nvSpPr>
        <p:spPr>
          <a:xfrm>
            <a:off x="533095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4" name="Rounded Rectangle 343"/>
          <p:cNvSpPr/>
          <p:nvPr/>
        </p:nvSpPr>
        <p:spPr>
          <a:xfrm>
            <a:off x="543610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5" name="Rounded Rectangle 344"/>
          <p:cNvSpPr/>
          <p:nvPr/>
        </p:nvSpPr>
        <p:spPr>
          <a:xfrm>
            <a:off x="554126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6" name="Rounded Rectangle 345"/>
          <p:cNvSpPr/>
          <p:nvPr/>
        </p:nvSpPr>
        <p:spPr>
          <a:xfrm>
            <a:off x="564642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7" name="Rounded Rectangle 346"/>
          <p:cNvSpPr/>
          <p:nvPr/>
        </p:nvSpPr>
        <p:spPr>
          <a:xfrm>
            <a:off x="575157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5856732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5961888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0" name="Rounded Rectangle 349"/>
          <p:cNvSpPr/>
          <p:nvPr/>
        </p:nvSpPr>
        <p:spPr>
          <a:xfrm>
            <a:off x="6067044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1" name="Rounded Rectangle 350"/>
          <p:cNvSpPr/>
          <p:nvPr/>
        </p:nvSpPr>
        <p:spPr>
          <a:xfrm>
            <a:off x="6172200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2" name="Rounded Rectangle 351"/>
          <p:cNvSpPr/>
          <p:nvPr/>
        </p:nvSpPr>
        <p:spPr>
          <a:xfrm>
            <a:off x="6277356" y="4018787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3" name="Rounded Rectangle 352"/>
          <p:cNvSpPr/>
          <p:nvPr/>
        </p:nvSpPr>
        <p:spPr>
          <a:xfrm>
            <a:off x="512064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4" name="Rounded Rectangle 353"/>
          <p:cNvSpPr/>
          <p:nvPr/>
        </p:nvSpPr>
        <p:spPr>
          <a:xfrm>
            <a:off x="522579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5" name="Rounded Rectangle 354"/>
          <p:cNvSpPr/>
          <p:nvPr/>
        </p:nvSpPr>
        <p:spPr>
          <a:xfrm>
            <a:off x="533095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6" name="Rounded Rectangle 355"/>
          <p:cNvSpPr/>
          <p:nvPr/>
        </p:nvSpPr>
        <p:spPr>
          <a:xfrm>
            <a:off x="543610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554126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8" name="Rounded Rectangle 357"/>
          <p:cNvSpPr/>
          <p:nvPr/>
        </p:nvSpPr>
        <p:spPr>
          <a:xfrm>
            <a:off x="564642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575157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0" name="Rounded Rectangle 359"/>
          <p:cNvSpPr/>
          <p:nvPr/>
        </p:nvSpPr>
        <p:spPr>
          <a:xfrm>
            <a:off x="5856732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1" name="Rounded Rectangle 360"/>
          <p:cNvSpPr/>
          <p:nvPr/>
        </p:nvSpPr>
        <p:spPr>
          <a:xfrm>
            <a:off x="5961888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6067044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6172200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4" name="Rounded Rectangle 363"/>
          <p:cNvSpPr/>
          <p:nvPr/>
        </p:nvSpPr>
        <p:spPr>
          <a:xfrm>
            <a:off x="6277356" y="4304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5" name="Rounded Rectangle 364"/>
          <p:cNvSpPr/>
          <p:nvPr/>
        </p:nvSpPr>
        <p:spPr>
          <a:xfrm>
            <a:off x="512064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522579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533095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8" name="Rounded Rectangle 367"/>
          <p:cNvSpPr/>
          <p:nvPr/>
        </p:nvSpPr>
        <p:spPr>
          <a:xfrm>
            <a:off x="543610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554126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0" name="Rounded Rectangle 369"/>
          <p:cNvSpPr/>
          <p:nvPr/>
        </p:nvSpPr>
        <p:spPr>
          <a:xfrm>
            <a:off x="564642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575157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>
            <a:off x="5856732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3" name="Rounded Rectangle 372"/>
          <p:cNvSpPr/>
          <p:nvPr/>
        </p:nvSpPr>
        <p:spPr>
          <a:xfrm>
            <a:off x="5961888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4" name="Rounded Rectangle 373"/>
          <p:cNvSpPr/>
          <p:nvPr/>
        </p:nvSpPr>
        <p:spPr>
          <a:xfrm>
            <a:off x="6067044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5" name="Rounded Rectangle 374"/>
          <p:cNvSpPr/>
          <p:nvPr/>
        </p:nvSpPr>
        <p:spPr>
          <a:xfrm>
            <a:off x="6172200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6" name="Rounded Rectangle 375"/>
          <p:cNvSpPr/>
          <p:nvPr/>
        </p:nvSpPr>
        <p:spPr>
          <a:xfrm>
            <a:off x="6277356" y="45902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512064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8" name="Rounded Rectangle 377"/>
          <p:cNvSpPr/>
          <p:nvPr/>
        </p:nvSpPr>
        <p:spPr>
          <a:xfrm>
            <a:off x="522579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533095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0" name="Rounded Rectangle 379"/>
          <p:cNvSpPr/>
          <p:nvPr/>
        </p:nvSpPr>
        <p:spPr>
          <a:xfrm>
            <a:off x="543610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554126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2" name="Rounded Rectangle 381"/>
          <p:cNvSpPr/>
          <p:nvPr/>
        </p:nvSpPr>
        <p:spPr>
          <a:xfrm>
            <a:off x="564642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575157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5856732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5" name="Rounded Rectangle 384"/>
          <p:cNvSpPr/>
          <p:nvPr/>
        </p:nvSpPr>
        <p:spPr>
          <a:xfrm>
            <a:off x="5961888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6" name="Rounded Rectangle 385"/>
          <p:cNvSpPr/>
          <p:nvPr/>
        </p:nvSpPr>
        <p:spPr>
          <a:xfrm>
            <a:off x="6067044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7" name="Rounded Rectangle 386"/>
          <p:cNvSpPr/>
          <p:nvPr/>
        </p:nvSpPr>
        <p:spPr>
          <a:xfrm>
            <a:off x="6172200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6277356" y="48760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9" name="Rounded Rectangle 388"/>
          <p:cNvSpPr/>
          <p:nvPr/>
        </p:nvSpPr>
        <p:spPr>
          <a:xfrm>
            <a:off x="512064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0" name="Rounded Rectangle 389"/>
          <p:cNvSpPr/>
          <p:nvPr/>
        </p:nvSpPr>
        <p:spPr>
          <a:xfrm>
            <a:off x="522579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533095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2" name="Rounded Rectangle 391"/>
          <p:cNvSpPr/>
          <p:nvPr/>
        </p:nvSpPr>
        <p:spPr>
          <a:xfrm>
            <a:off x="543610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3" name="Rounded Rectangle 392"/>
          <p:cNvSpPr/>
          <p:nvPr/>
        </p:nvSpPr>
        <p:spPr>
          <a:xfrm>
            <a:off x="554126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4" name="Rounded Rectangle 393"/>
          <p:cNvSpPr/>
          <p:nvPr/>
        </p:nvSpPr>
        <p:spPr>
          <a:xfrm>
            <a:off x="564642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5" name="Rounded Rectangle 394"/>
          <p:cNvSpPr/>
          <p:nvPr/>
        </p:nvSpPr>
        <p:spPr>
          <a:xfrm>
            <a:off x="575157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5856732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7" name="Rounded Rectangle 396"/>
          <p:cNvSpPr/>
          <p:nvPr/>
        </p:nvSpPr>
        <p:spPr>
          <a:xfrm>
            <a:off x="5961888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8" name="Rounded Rectangle 397"/>
          <p:cNvSpPr/>
          <p:nvPr/>
        </p:nvSpPr>
        <p:spPr>
          <a:xfrm>
            <a:off x="6067044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99" name="Rounded Rectangle 398"/>
          <p:cNvSpPr/>
          <p:nvPr/>
        </p:nvSpPr>
        <p:spPr>
          <a:xfrm>
            <a:off x="6172200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0" name="Rounded Rectangle 399"/>
          <p:cNvSpPr/>
          <p:nvPr/>
        </p:nvSpPr>
        <p:spPr>
          <a:xfrm>
            <a:off x="6277356" y="516178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1" name="Rounded Rectangle 400"/>
          <p:cNvSpPr/>
          <p:nvPr/>
        </p:nvSpPr>
        <p:spPr>
          <a:xfrm>
            <a:off x="512064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2" name="Rounded Rectangle 401"/>
          <p:cNvSpPr/>
          <p:nvPr/>
        </p:nvSpPr>
        <p:spPr>
          <a:xfrm>
            <a:off x="522579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3" name="Rounded Rectangle 402"/>
          <p:cNvSpPr/>
          <p:nvPr/>
        </p:nvSpPr>
        <p:spPr>
          <a:xfrm>
            <a:off x="533095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543610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5" name="Rounded Rectangle 404"/>
          <p:cNvSpPr/>
          <p:nvPr/>
        </p:nvSpPr>
        <p:spPr>
          <a:xfrm>
            <a:off x="554126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6" name="Rounded Rectangle 405"/>
          <p:cNvSpPr/>
          <p:nvPr/>
        </p:nvSpPr>
        <p:spPr>
          <a:xfrm>
            <a:off x="564642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7" name="Rounded Rectangle 406"/>
          <p:cNvSpPr/>
          <p:nvPr/>
        </p:nvSpPr>
        <p:spPr>
          <a:xfrm>
            <a:off x="575157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8" name="Rounded Rectangle 407"/>
          <p:cNvSpPr/>
          <p:nvPr/>
        </p:nvSpPr>
        <p:spPr>
          <a:xfrm>
            <a:off x="5856732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09" name="Rounded Rectangle 408"/>
          <p:cNvSpPr/>
          <p:nvPr/>
        </p:nvSpPr>
        <p:spPr>
          <a:xfrm>
            <a:off x="5961888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0" name="Rounded Rectangle 409"/>
          <p:cNvSpPr/>
          <p:nvPr/>
        </p:nvSpPr>
        <p:spPr>
          <a:xfrm>
            <a:off x="6067044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1" name="Rounded Rectangle 410"/>
          <p:cNvSpPr/>
          <p:nvPr/>
        </p:nvSpPr>
        <p:spPr>
          <a:xfrm>
            <a:off x="6172200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2" name="Rounded Rectangle 411"/>
          <p:cNvSpPr/>
          <p:nvPr/>
        </p:nvSpPr>
        <p:spPr>
          <a:xfrm>
            <a:off x="6277356" y="5447538"/>
            <a:ext cx="88331" cy="228600"/>
          </a:xfrm>
          <a:prstGeom prst="roundRect">
            <a:avLst>
              <a:gd name="adj" fmla="val 15000"/>
            </a:avLst>
          </a:prstGeom>
          <a:solidFill>
            <a:srgbClr val="0E1A12"/>
          </a:solidFill>
          <a:ln w="6350">
            <a:solidFill>
              <a:srgbClr val="22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3" name="Rounded Rectangle 412"/>
          <p:cNvSpPr/>
          <p:nvPr/>
        </p:nvSpPr>
        <p:spPr>
          <a:xfrm>
            <a:off x="731520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905256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AI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1163116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336852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AO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1594713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BD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768449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DI</a:t>
            </a:r>
          </a:p>
        </p:txBody>
      </p:sp>
      <p:sp>
        <p:nvSpPr>
          <p:cNvPr id="419" name="Rounded Rectangle 418"/>
          <p:cNvSpPr/>
          <p:nvPr/>
        </p:nvSpPr>
        <p:spPr>
          <a:xfrm>
            <a:off x="2026310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2200046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DO</a:t>
            </a:r>
          </a:p>
        </p:txBody>
      </p:sp>
      <p:sp>
        <p:nvSpPr>
          <p:cNvPr id="421" name="Rounded Rectangle 420"/>
          <p:cNvSpPr/>
          <p:nvPr/>
        </p:nvSpPr>
        <p:spPr>
          <a:xfrm>
            <a:off x="2457907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2631643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DO iso+fused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3493008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3666744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relay TB</a:t>
            </a:r>
          </a:p>
        </p:txBody>
      </p:sp>
      <p:sp>
        <p:nvSpPr>
          <p:cNvPr id="425" name="Rounded Rectangle 424"/>
          <p:cNvSpPr/>
          <p:nvPr/>
        </p:nvSpPr>
        <p:spPr>
          <a:xfrm>
            <a:off x="4286707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5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4460443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wired spare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5261457" y="591616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E1A12"/>
          </a:solidFill>
          <a:ln w="12700">
            <a:solidFill>
              <a:srgbClr val="2E4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5435193" y="58795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9C2AE"/>
                </a:solidFill>
                <a:latin typeface="Arial"/>
              </a:rPr>
              <a:t>free</a:t>
            </a:r>
          </a:p>
        </p:txBody>
      </p:sp>
      <p:sp>
        <p:nvSpPr>
          <p:cNvPr id="429" name="Rounded Rectangle 428"/>
          <p:cNvSpPr/>
          <p:nvPr/>
        </p:nvSpPr>
        <p:spPr>
          <a:xfrm>
            <a:off x="6830568" y="2788920"/>
            <a:ext cx="4965192" cy="3383280"/>
          </a:xfrm>
          <a:prstGeom prst="roundRect">
            <a:avLst>
              <a:gd name="adj" fmla="val 3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6995159" y="2862072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PROTOTYPE UI (real screenshots, post-audit build)</a:t>
            </a:r>
          </a:p>
        </p:txBody>
      </p:sp>
      <p:pic>
        <p:nvPicPr>
          <p:cNvPr id="431" name="Picture 430" descr="ui_allocat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52" y="3172968"/>
            <a:ext cx="3619222" cy="1502577"/>
          </a:xfrm>
          <a:prstGeom prst="rect">
            <a:avLst/>
          </a:prstGeom>
        </p:spPr>
      </p:pic>
      <p:pic>
        <p:nvPicPr>
          <p:cNvPr id="432" name="Picture 431" descr="ui_revis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552" y="4748697"/>
            <a:ext cx="3619222" cy="1039454"/>
          </a:xfrm>
          <a:prstGeom prst="rect">
            <a:avLst/>
          </a:prstGeom>
        </p:spPr>
      </p:pic>
      <p:sp>
        <p:nvSpPr>
          <p:cNvPr id="433" name="TextBox 432"/>
          <p:cNvSpPr txBox="1"/>
          <p:nvPr/>
        </p:nvSpPr>
        <p:spPr>
          <a:xfrm>
            <a:off x="6995159" y="5843016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A9C2AE"/>
                </a:solidFill>
                <a:latin typeface="Arial"/>
              </a:rPr>
              <a:t>SYNTHETIC 2,000-signal MDB (6 injected errors) + synthetic Rev B. Top: allocate. Bottom: revise.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1783080"/>
            <a:ext cx="2724912" cy="278892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4DD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856231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BUILT TODAY · 10 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48840"/>
            <a:ext cx="2523744" cy="23774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Synthetic MDB + Rev B generator (seeded)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Ingestion: multi-file, header detection, auto-map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Validation → TQs citing rule + source row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Allocator: cable blocks, FFD, groups, A/B, spares, CHARM/TB, names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Independent verifier: 11 rule families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Excel export incl. rule check + impact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Revision engine + CP-SAT window repair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Streamlit prototype UI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31 automated tests incl. property-based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83080"/>
            <a:ext cx="2724912" cy="278892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856231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B547"/>
                </a:solidFill>
                <a:latin typeface="Arial"/>
              </a:rPr>
              <a:t>ROUND 2 · BY 16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2148840"/>
            <a:ext cx="2523744" cy="23774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UI polish: mapping review/override, CHARM-table editing, exports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Map to the organiser template once released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Confirm open rule interpretations with mentors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Cut CP-SAT repair time and run-to-run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83080"/>
            <a:ext cx="2724912" cy="278892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856231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FD3FF"/>
                </a:solidFill>
                <a:latin typeface="Arial"/>
              </a:rPr>
              <a:t>GRAND FINALE · 24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2523744" cy="23774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Run on organiser samples + hidden test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AI helpers: column-mapping suggestions, plain-English → rule JSON (previewed)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Demo hardening, offline bundle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0848" y="1783080"/>
            <a:ext cx="2724912" cy="278892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A9C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8008" y="1856231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A9C2AE"/>
                </a:solidFill>
                <a:latin typeface="Arial"/>
              </a:rPr>
              <a:t>BEYOND THE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2148840"/>
            <a:ext cx="2523744" cy="23774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Bulk-Edit-style export for DeltaV import (format to be validated)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Other electronic-marshalling platforms (untested)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980" b="0" i="0">
                <a:solidFill>
                  <a:srgbClr val="EAF5EC"/>
                </a:solidFill>
                <a:latin typeface="Arial"/>
              </a:rPr>
              <a:t>Cabinet labels and drawings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09160"/>
            <a:ext cx="11228832" cy="137160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4DD262"/>
                </a:solidFill>
                <a:latin typeface="Arial"/>
              </a:rPr>
              <a:t>MEASURED ON SYNTHETIC DATA (prototype, Apple M5)</a:t>
            </a:r>
            <a:r>
              <a:rPr sz="1000" b="0" i="1">
                <a:solidFill>
                  <a:srgbClr val="A9C2AE"/>
                </a:solidFill>
                <a:latin typeface="Arial"/>
              </a:rPr>
              <a:t>  ·  not evidence about the hidden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56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77256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 i="0">
                <a:solidFill>
                  <a:srgbClr val="A9C2AE"/>
                </a:solidFill>
                <a:latin typeface="Arial"/>
              </a:rPr>
              <a:t>verifier violations in 12 runs (500–20k signals)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056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477256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 i="0">
                <a:solidFill>
                  <a:srgbClr val="A9C2AE"/>
                </a:solidFill>
                <a:latin typeface="Arial"/>
              </a:rPr>
              <a:t>of rows allocated or covered by a TQ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056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81/81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477256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 i="0">
                <a:solidFill>
                  <a:srgbClr val="A9C2AE"/>
                </a:solidFill>
                <a:latin typeface="Arial"/>
              </a:rPr>
              <a:t>injected data errors raised as TQs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56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77256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 i="0">
                <a:solidFill>
                  <a:srgbClr val="A9C2AE"/>
                </a:solidFill>
                <a:latin typeface="Arial"/>
              </a:rPr>
              <a:t>baseplates above the exact per-group minimum (12 runs)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056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5.99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477256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 i="0">
                <a:solidFill>
                  <a:srgbClr val="A9C2AE"/>
                </a:solidFill>
                <a:latin typeface="Arial"/>
              </a:rPr>
              <a:t>end-to-end for 20,033 signals (median)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5056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429–470 vs 49,805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477256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 i="0">
                <a:solidFill>
                  <a:srgbClr val="A9C2AE"/>
                </a:solidFill>
                <a:latin typeface="Arial"/>
              </a:rPr>
              <a:t>moved: SlotSmith vs re-run, 10 Rev B cases, 3 runs; CP-SAT proven exact in 7/11 window repairs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1810512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901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4DD262"/>
                </a:solidFill>
                <a:latin typeface="Arial"/>
              </a:rPr>
              <a:t>IO / project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2203704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0" i="0">
                <a:solidFill>
                  <a:srgbClr val="EAF5EC"/>
                </a:solidFill>
                <a:latin typeface="Arial"/>
              </a:rPr>
              <a:t>Allocation becomes a re-runnable, rule-checked step instead of hand-editing 10,000+ Excel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10512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901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4DD262"/>
                </a:solidFill>
                <a:latin typeface="Arial"/>
              </a:rPr>
              <a:t>Reviewers and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2203704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0" i="0">
                <a:solidFill>
                  <a:srgbClr val="EAF5EC"/>
                </a:solidFill>
                <a:latin typeface="Arial"/>
              </a:rPr>
              <a:t>Every deliverable ships with a rule-check report; every placement and TQ traces to an MDB 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1810512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901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4DD262"/>
                </a:solidFill>
                <a:latin typeface="Arial"/>
              </a:rPr>
              <a:t>Customers and EPCs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203704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0" i="0">
                <a:solidFill>
                  <a:srgbClr val="EAF5EC"/>
                </a:solidFill>
                <a:latin typeface="Arial"/>
              </a:rPr>
              <a:t>Specific, traceable TQs and a Rev A → Rev B impact report: added, deleted, moved, cabinets hit.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08960"/>
            <a:ext cx="5532120" cy="182880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821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HOW BIG THE OPPORTUNITY IS (sourced)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7530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F5EC"/>
                </a:solidFill>
                <a:latin typeface="Arial"/>
              </a:rPr>
              <a:t>signals per project, allocated by hand today (Emerson 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≤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032503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F5EC"/>
                </a:solidFill>
                <a:latin typeface="Arial"/>
              </a:rPr>
              <a:t>CIOCs per DeltaV system (spec maximum) → at most 28,800 CHARM channels (EM PDS)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Every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89703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F5EC"/>
                </a:solidFill>
                <a:latin typeface="Arial"/>
              </a:rPr>
              <a:t>customer revision means rework and impact tracing (Emerson PS)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108960"/>
            <a:ext cx="5532120" cy="1828800"/>
          </a:xfrm>
          <a:prstGeom prst="roundRect">
            <a:avLst>
              <a:gd name="adj" fmla="val 5000"/>
            </a:avLst>
          </a:prstGeom>
          <a:solidFill>
            <a:srgbClr val="06140A">
              <a:alpha val="92000"/>
            </a:srgbClr>
          </a:solidFill>
          <a:ln w="12700">
            <a:solidFill>
              <a:srgbClr val="1F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1821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4DD262"/>
                </a:solidFill>
                <a:latin typeface="Arial"/>
              </a:rPr>
              <a:t>HOW IT GROWS BEYOND A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93008"/>
            <a:ext cx="525780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30" b="0" i="0">
                <a:solidFill>
                  <a:srgbClr val="EAF5EC"/>
                </a:solidFill>
                <a:latin typeface="Arial"/>
              </a:rPr>
              <a:t>Rule sets saved per customer and project: the next project starts from the last one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30" b="0" i="0">
                <a:solidFill>
                  <a:srgbClr val="EAF5EC"/>
                </a:solidFill>
                <a:latin typeface="Arial"/>
              </a:rPr>
              <a:t>Designed to complement DeltaV and SPI: an export adapter to their import formats is planned (not yet validated)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30" b="0" i="0">
                <a:solidFill>
                  <a:srgbClr val="EAF5EC"/>
                </a:solidFill>
                <a:latin typeface="Arial"/>
              </a:rPr>
              <a:t>Block-packing engine could be adapted to other electronic-marshalling I/O families (untested)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30" b="0" i="0">
                <a:solidFill>
                  <a:srgbClr val="EAF5EC"/>
                </a:solidFill>
                <a:latin typeface="Arial"/>
              </a:rPr>
              <a:t>Near-linear runtime measured: 0.6 s at 2k, 3.0 s at 10k, 6.0 s at 20k signals (synthetic)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93208"/>
            <a:ext cx="11228832" cy="960120"/>
          </a:xfrm>
          <a:prstGeom prst="roundRect">
            <a:avLst>
              <a:gd name="adj" fmla="val 5000"/>
            </a:avLst>
          </a:prstGeom>
          <a:solidFill>
            <a:srgbClr val="231A08">
              <a:alpha val="90000"/>
            </a:srgbClr>
          </a:solidFill>
          <a:ln w="1270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572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B547"/>
                </a:solidFill>
                <a:latin typeface="Arial"/>
              </a:rPr>
              <a:t>HONEST LIMITS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3153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30" b="0" i="0">
                <a:solidFill>
                  <a:srgbClr val="EAF5EC"/>
                </a:solidFill>
                <a:latin typeface="Arial"/>
              </a:rPr>
              <a:t>Synthetic data only: the organiser's sample MDB and template are not yet released, so no official-template compatibility is claimed. Rule interpretations (straddling, spare rounding, controller mapping) await mentors. Rules are parameters; new rule types still need code. CP-SAT repair is window-local. No time savings claimed. Complements DeltaV tools; does not replace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9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5332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A9C2AE"/>
                </a:solidFill>
                <a:latin typeface="Arial"/>
              </a:rPr>
              <a:t>Team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Mac_Enthu</a:t>
            </a:r>
            <a:r>
              <a:rPr sz="1200" b="0" i="0">
                <a:solidFill>
                  <a:srgbClr val="EAF5EC"/>
                </a:solidFill>
                <a:latin typeface="Arial"/>
              </a:rPr>
              <a:t>  ·  Aayush Aade (lead)  ·  Siddhant Patil  ·  Gaurang Bagwe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SlotSmith · VIT Code Apex 3.0 Round 1 · Team Mac_Enthu</dc:title>
  <dc:subject/>
  <dc:creator>Team Mac_Enthu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
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19206"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Team Mac_Enthu. Track 1 (Emerson), PS 1.2 Project IO SIGNAL SUDOKU. SlotSmith is a working prototype tested on synthetic data only; no organiser sample data or template had been released when this deck was prepared.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Emerson PS #02 p.4-5 (six rules, 10,000+ signals by hand, revisions); DeltaV Electronic Marshalling PDS (12 CHARMs per baseplate, 8 baseplates per CIOC; 4 CIOCs per cabinet is a PS project rule); Smart Commissioning and Bulk Edit white papers. The interaction example uses PS rule 2 (A and B never share a CIOC) and rule 4 (cable whole, in pair order); in the engine a cable that mixes A and B becomes a TQ (S-2). The six PS rules map to six verifier families (G-1, S-1, C-1, K-1, P-1, H-1..6); the verifier has five more (Q-1, D-2, N-1..6, C-2, M-1), 11 in total (src/slotsmith/verifier.py CHECKS). 'We found no public tool' reflects the sources reviewed, not proof of absence.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Allocation is constructive (per-class first-fit-decreasing); CP-SAT is used only to repair revisions inside a window of cabinets. Proof: docs/architecture.md section 4 (divisible item sizes 2, 6, 12 with capacity 12: free space is always a multiple of the current size, so FFD opens a new bin only when all others are full). Exhaustive audit: artifacts/audit/ffd_exact.json (19,682 group cases against CP-SAT, all solved to OPTIMAL, 0 worse), artifacts/audit/lb_gap.json (150 random larger groups, 148 OPTIMAL / 2 FEASIBLE, 0 worse). The audit compares baseplate counts per group under the same A/B and group-isolation rules; it does not cover CIOC or cabinet counts. Verifier: src/slotsmith/verifier.py imports only rules.py; pipeline.py re-reads the exported workbook before verifying. 122 tests = 31 engine (25 + 6 audit regressions) + 91 UI.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Follows src/slotsmith: ingest.py, validate.py, rules.py, allocator.py, export.py, verifier.py, revision.py + repair_cpsat.py, pipeline.py, cli.py; UI in app/. Verifier imports only rules.py. pipeline.run re-reads the exported workbook for verification. Planned items per docs/technology_decisions.md: optional LLM for mapping suggestions and rule drafts (never in the placement path), Docker deferred, React optional later. A SQLite run log appeared in the earlier deck but is not in the code or docs, so it is no longer shown. Technology logos: Simple Icons (CC0 data), see docs/pitch_deck/research_notes.md; openpyxl and OR-Tools have no logo here and are text.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Crops of the running Streamlit workbench (app/), dark theme, synthetic demo dataset (seed 7, 2,000 signals, 6 injected errors). Screens: Cabinets, Results, Revise (Rev B). Capture method and raw files: docs/pitch_deck/visual_qa_report.md and deliverables/pitch_deck/assets/screens/raw. Numbers on the slide are read from those screenshots. Repair-window status and move counts vary between runs (CP-SAT, multi-threaded, wall-clock limit).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Revision metric: 10 synthetic revision cases (5 at 2,000 signals, 5 at 10,000), Rev B = about 3% deleted, 5% added, 2% type changes, 1 cable regrouped. Moves are counted identically for both methods with revision.impact_report: a tag present in both revisions whose cabinet/CIOC/baseplate/slot differs. SlotSmith total moved over the 10 cases in 4 independent runs: 429, 446, 470, 575; the full re-run total is 49,805 in every run (deterministic). The difference between runs comes from CP-SAT repair (multi-threaded under a wall-clock limit). One run overlapped with other CPU load and gave a worse result for one case; the cause was not isolated. 'Cases' vs 'windows': 7 of the 10 revisions needed CP-SAT; across those, 11 repair windows were accepted (7 proven exact, 4 best-found within 10 s); further windows were tried and rejected as infeasible or unanswered. 'Exact per-group minimum' is the closed-form minimum from the divisible-size lemma (allocator.exact_group_baseplates), validated against CP-SAT in the exhaustive audit. All 12 allocation runs: 0 violations, 100% of rows placed or covered by a TQ. Sources: artifacts/benchmarks.json, artifacts/repro/benchmarks_clean_run2.json, artifacts/pitch_deck_repro/benchmarks_rerun.json, artifacts/audit/revision_status.json. Dates: HANDBOOK_CODEAPEX_3.0.pdf timeline (Round 2 15-18 Oct, Grand Finale 24 Oct).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Measured today: runtime points are every allocation run in three benchmark batches (about 500, 2,000, 10,000 and 20,000 signals, three seeds each) on an Apple M5, synthetic data. Wall time covers ingest, validate, allocate, export and verification. Observed scaling only; no asymptotic claim. One 20k run took 8.7 s while other work was running on the machine. Scale context: PS #02 p.4 (10,000+ signals); DeltaV Electronic Marshalling PDS 'Number of CIOCs per System: 300' and 96 channels per CIOC = 28,800 (specification maximum). Benefits are expected, not measured. Complement-not-replace: DeltaV auto-sense, late binding and Bulk Edit are documented by Emerson; SlotSmith plans the allocation before them.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Links: the GitHub address is the team repository. The YouTube demo and documentation links are placeholders ({{YOUTUBE_DEMO_URL}}, {{DOCUMENTATION_URL}}) to be replaced before submission. Check that the repository is public or shared with the judges.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hyperlink" Target="https://github.com/Sidd927/SlotSmith" TargetMode="External"/><Relationship Id="rId4"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emplate background" descr="bg1.jpg"/>
          <p:cNvPicPr>
            <a:picLocks noChangeAspect="1"/>
          </p:cNvPicPr>
          <p:nvPr/>
        </p:nvPicPr>
        <p:blipFill>
          <a:blip r:embed="rId2"/>
          <a:stretch>
            <a:fillRect/>
          </a:stretch>
        </p:blipFill>
        <p:spPr>
          <a:xfrm>
            <a:off x="0" y="0"/>
            <a:ext cx="12191695" cy="6819206"/>
          </a:xfrm>
          <a:prstGeom prst="rect">
            <a:avLst/>
          </a:prstGeom>
        </p:spPr>
      </p:pic>
      <p:sp>
        <p:nvSpPr>
          <p:cNvPr id="3" name="TextBox 2"/>
          <p:cNvSpPr txBox="1"/>
          <p:nvPr/>
        </p:nvSpPr>
        <p:spPr>
          <a:xfrm>
            <a:off x="3090672" y="4777740"/>
            <a:ext cx="5486400" cy="320040"/>
          </a:xfrm>
          <a:prstGeom prst="rect">
            <a:avLst/>
          </a:prstGeom>
          <a:noFill/>
        </p:spPr>
        <p:txBody>
          <a:bodyPr wrap="square" lIns="0" rIns="0" tIns="0" bIns="0" anchor="t"/>
          <a:lstStyle/>
          <a:p>
            <a:pPr algn="l">
              <a:lnSpc>
                <a:spcPct val="100000"/>
              </a:lnSpc>
              <a:spcAft>
                <a:spcPts val="200"/>
              </a:spcAft>
            </a:pPr>
            <a:r>
              <a:rPr sz="1700" b="1" i="0">
                <a:solidFill>
                  <a:srgbClr val="FFFFFF"/>
                </a:solidFill>
                <a:latin typeface="Arial"/>
              </a:rPr>
              <a:t>Mac_Enthu</a:t>
            </a:r>
          </a:p>
        </p:txBody>
      </p:sp>
      <p:sp>
        <p:nvSpPr>
          <p:cNvPr id="4" name="TextBox 3"/>
          <p:cNvSpPr txBox="1"/>
          <p:nvPr/>
        </p:nvSpPr>
        <p:spPr>
          <a:xfrm>
            <a:off x="4160520" y="5157216"/>
            <a:ext cx="5486400" cy="320040"/>
          </a:xfrm>
          <a:prstGeom prst="rect">
            <a:avLst/>
          </a:prstGeom>
          <a:noFill/>
        </p:spPr>
        <p:txBody>
          <a:bodyPr wrap="square" lIns="0" rIns="0" tIns="0" bIns="0" anchor="t"/>
          <a:lstStyle/>
          <a:p>
            <a:pPr algn="l">
              <a:lnSpc>
                <a:spcPct val="100000"/>
              </a:lnSpc>
              <a:spcAft>
                <a:spcPts val="200"/>
              </a:spcAft>
            </a:pPr>
            <a:r>
              <a:rPr sz="1700" b="1" i="0">
                <a:solidFill>
                  <a:srgbClr val="FFFFFF"/>
                </a:solidFill>
                <a:latin typeface="Arial"/>
              </a:rPr>
              <a:t>Aayush Aade</a:t>
            </a:r>
          </a:p>
        </p:txBody>
      </p:sp>
      <p:sp>
        <p:nvSpPr>
          <p:cNvPr id="5" name="TextBox 4"/>
          <p:cNvSpPr txBox="1"/>
          <p:nvPr/>
        </p:nvSpPr>
        <p:spPr>
          <a:xfrm>
            <a:off x="5596128" y="5550408"/>
            <a:ext cx="6217920" cy="320040"/>
          </a:xfrm>
          <a:prstGeom prst="rect">
            <a:avLst/>
          </a:prstGeom>
          <a:noFill/>
        </p:spPr>
        <p:txBody>
          <a:bodyPr wrap="square" lIns="0" rIns="0" tIns="0" bIns="0" anchor="t"/>
          <a:lstStyle/>
          <a:p>
            <a:pPr algn="l">
              <a:lnSpc>
                <a:spcPct val="100000"/>
              </a:lnSpc>
              <a:spcAft>
                <a:spcPts val="200"/>
              </a:spcAft>
            </a:pPr>
            <a:r>
              <a:rPr sz="1500" b="1" i="0">
                <a:solidFill>
                  <a:srgbClr val="FFFFFF"/>
                </a:solidFill>
                <a:latin typeface="Arial"/>
              </a:rPr>
              <a:t>Track 1 (Emerson) · PS 1.2 Project IO SIGNAL SUDOKU</a:t>
            </a:r>
          </a:p>
        </p:txBody>
      </p:sp>
      <p:sp>
        <p:nvSpPr>
          <p:cNvPr id="6" name="TextBox 5"/>
          <p:cNvSpPr txBox="1"/>
          <p:nvPr/>
        </p:nvSpPr>
        <p:spPr>
          <a:xfrm>
            <a:off x="1527048" y="5870448"/>
            <a:ext cx="10241280" cy="274320"/>
          </a:xfrm>
          <a:prstGeom prst="rect">
            <a:avLst/>
          </a:prstGeom>
          <a:noFill/>
        </p:spPr>
        <p:txBody>
          <a:bodyPr wrap="square" lIns="0" rIns="0" tIns="0" bIns="0" anchor="t"/>
          <a:lstStyle/>
          <a:p>
            <a:pPr algn="l">
              <a:lnSpc>
                <a:spcPct val="100000"/>
              </a:lnSpc>
              <a:spcAft>
                <a:spcPts val="200"/>
              </a:spcAft>
            </a:pPr>
            <a:r>
              <a:rPr sz="1500" b="1" i="0">
                <a:solidFill>
                  <a:srgbClr val="4DD262"/>
                </a:solidFill>
                <a:latin typeface="Arial"/>
              </a:rPr>
              <a:t>SlotSmith</a:t>
            </a:r>
            <a:r>
              <a:rPr sz="1400" b="0" i="0">
                <a:solidFill>
                  <a:srgbClr val="EAF5EC"/>
                </a:solidFill>
                <a:latin typeface="Arial"/>
              </a:rPr>
              <a:t>  ·  rule-driven, independently checked, revision-aware DeltaV I/O allocation</a:t>
            </a:r>
          </a:p>
        </p:txBody>
      </p:sp>
      <p:sp>
        <p:nvSpPr>
          <p:cNvPr id="7" name="TextBox 6"/>
          <p:cNvSpPr txBox="1"/>
          <p:nvPr/>
        </p:nvSpPr>
        <p:spPr>
          <a:xfrm>
            <a:off x="1527048" y="6117336"/>
            <a:ext cx="10241280" cy="201168"/>
          </a:xfrm>
          <a:prstGeom prst="rect">
            <a:avLst/>
          </a:prstGeom>
          <a:noFill/>
        </p:spPr>
        <p:txBody>
          <a:bodyPr wrap="square" lIns="0" rIns="0" tIns="0" bIns="0" anchor="t"/>
          <a:lstStyle/>
          <a:p>
            <a:pPr algn="l">
              <a:lnSpc>
                <a:spcPct val="100000"/>
              </a:lnSpc>
              <a:spcAft>
                <a:spcPts val="200"/>
              </a:spcAft>
            </a:pPr>
            <a:r>
              <a:rPr sz="1050" b="0" i="0">
                <a:solidFill>
                  <a:srgbClr val="A9C2AE"/>
                </a:solidFill>
                <a:latin typeface="Arial"/>
              </a:rPr>
              <a:t>Places each signal in cabinet → CIOC → baseplate → CHARM under project rules and re-checks the export independently. Prototype, synthetic data.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emplate background" descr="bg2.jpg"/>
          <p:cNvPicPr>
            <a:picLocks noChangeAspect="1"/>
          </p:cNvPicPr>
          <p:nvPr/>
        </p:nvPicPr>
        <p:blipFill>
          <a:blip r:embed="rId2"/>
          <a:stretch>
            <a:fillRect/>
          </a:stretch>
        </p:blipFill>
        <p:spPr>
          <a:xfrm>
            <a:off x="0" y="0"/>
            <a:ext cx="12191695" cy="6819206"/>
          </a:xfrm>
          <a:prstGeom prst="rect">
            <a:avLst/>
          </a:prstGeom>
        </p:spPr>
      </p:pic>
      <p:sp>
        <p:nvSpPr>
          <p:cNvPr id="3" name="TextBox 2"/>
          <p:cNvSpPr txBox="1"/>
          <p:nvPr/>
        </p:nvSpPr>
        <p:spPr>
          <a:xfrm>
            <a:off x="713232" y="2487168"/>
            <a:ext cx="5989320" cy="914400"/>
          </a:xfrm>
          <a:prstGeom prst="rect">
            <a:avLst/>
          </a:prstGeom>
          <a:noFill/>
        </p:spPr>
        <p:txBody>
          <a:bodyPr wrap="square" lIns="0" rIns="0" tIns="0" bIns="0" anchor="t"/>
          <a:lstStyle/>
          <a:p>
            <a:pPr algn="l">
              <a:lnSpc>
                <a:spcPct val="100000"/>
              </a:lnSpc>
              <a:spcAft>
                <a:spcPts val="200"/>
              </a:spcAft>
            </a:pPr>
            <a:r>
              <a:rPr sz="1250" b="1" i="0">
                <a:solidFill>
                  <a:srgbClr val="FFFFFF"/>
                </a:solidFill>
                <a:latin typeface="Arial"/>
              </a:rPr>
              <a:t>DeltaV project and I/O engineers </a:t>
            </a:r>
            <a:r>
              <a:rPr sz="1250" b="0" i="0">
                <a:solidFill>
                  <a:srgbClr val="EAF5EC"/>
                </a:solidFill>
                <a:latin typeface="Arial"/>
              </a:rPr>
              <a:t>must give every field signal an exact home: cabinet → CIOC → baseplate → CHARM slot. Panel builders and site teams then wire to that allocation.</a:t>
            </a:r>
          </a:p>
        </p:txBody>
      </p:sp>
      <p:sp>
        <p:nvSpPr>
          <p:cNvPr id="4" name="TextBox 3"/>
          <p:cNvSpPr txBox="1"/>
          <p:nvPr/>
        </p:nvSpPr>
        <p:spPr>
          <a:xfrm>
            <a:off x="713232" y="3630168"/>
            <a:ext cx="6080759" cy="960120"/>
          </a:xfrm>
          <a:prstGeom prst="rect">
            <a:avLst/>
          </a:prstGeom>
          <a:noFill/>
        </p:spPr>
        <p:txBody>
          <a:bodyPr wrap="square" lIns="0" rIns="0" tIns="0" bIns="0" anchor="t"/>
          <a:lstStyle/>
          <a:p>
            <a:pPr algn="l">
              <a:lnSpc>
                <a:spcPct val="100000"/>
              </a:lnSpc>
              <a:spcAft>
                <a:spcPts val="200"/>
              </a:spcAft>
            </a:pPr>
            <a:r>
              <a:rPr sz="1200" b="1" i="0">
                <a:solidFill>
                  <a:srgbClr val="FFFFFF"/>
                </a:solidFill>
                <a:latin typeface="Arial"/>
              </a:rPr>
              <a:t>Emerson's PS: </a:t>
            </a:r>
            <a:r>
              <a:rPr sz="1200" b="0" i="0">
                <a:solidFill>
                  <a:srgbClr val="EAF5EC"/>
                </a:solidFill>
                <a:latin typeface="Arial"/>
              </a:rPr>
              <a:t>10,000+ signals are allocated by hand in Excel, and each customer revision means reworking it and tracing the impact again. </a:t>
            </a:r>
            <a:r>
              <a:rPr sz="1200" b="0" i="0">
                <a:solidFill>
                  <a:srgbClr val="A9C2AE"/>
                </a:solidFill>
                <a:latin typeface="Arial"/>
              </a:rPr>
              <a:t>DeltaV tools automate the steps around it (auto-sense, late binding, Bulk Edit); we found no public tool that places signals from project rules (internal tools may exist).</a:t>
            </a:r>
          </a:p>
        </p:txBody>
      </p:sp>
      <p:sp>
        <p:nvSpPr>
          <p:cNvPr id="5" name="TextBox 4"/>
          <p:cNvSpPr txBox="1"/>
          <p:nvPr/>
        </p:nvSpPr>
        <p:spPr>
          <a:xfrm>
            <a:off x="713232" y="4736592"/>
            <a:ext cx="6080759" cy="1097280"/>
          </a:xfrm>
          <a:prstGeom prst="rect">
            <a:avLst/>
          </a:prstGeom>
          <a:noFill/>
        </p:spPr>
        <p:txBody>
          <a:bodyPr wrap="square" lIns="0" rIns="0" tIns="0" bIns="0" anchor="t"/>
          <a:lstStyle/>
          <a:p>
            <a:pPr algn="l">
              <a:lnSpc>
                <a:spcPct val="100000"/>
              </a:lnSpc>
              <a:spcAft>
                <a:spcPts val="200"/>
              </a:spcAft>
            </a:pPr>
            <a:r>
              <a:rPr sz="1250" b="0" i="0">
                <a:solidFill>
                  <a:srgbClr val="EAF5EC"/>
                </a:solidFill>
                <a:latin typeface="Arial"/>
              </a:rPr>
              <a:t>Electronic Marshalling makes late changes physically cheap ("without lifting a wire"), </a:t>
            </a:r>
            <a:r>
              <a:rPr sz="1250" b="1" i="0">
                <a:solidFill>
                  <a:srgbClr val="FFFFFF"/>
                </a:solidFill>
                <a:latin typeface="Arial"/>
              </a:rPr>
              <a:t>but allocation planning and revision tracking remain a manual workflow burden (per the PS). </a:t>
            </a:r>
            <a:r>
              <a:rPr sz="1250" b="0" i="0">
                <a:solidFill>
                  <a:srgbClr val="EAF5EC"/>
                </a:solidFill>
                <a:latin typeface="Arial"/>
              </a:rPr>
              <a:t>Six interacting rules must hold at once, on every revision, with a technical query (TQ) for each data conflict.</a:t>
            </a:r>
          </a:p>
        </p:txBody>
      </p:sp>
      <p:sp>
        <p:nvSpPr>
          <p:cNvPr id="6" name="TextBox 5"/>
          <p:cNvSpPr txBox="1"/>
          <p:nvPr/>
        </p:nvSpPr>
        <p:spPr>
          <a:xfrm>
            <a:off x="713232" y="5961888"/>
            <a:ext cx="6080759" cy="310896"/>
          </a:xfrm>
          <a:prstGeom prst="rect">
            <a:avLst/>
          </a:prstGeom>
          <a:noFill/>
        </p:spPr>
        <p:txBody>
          <a:bodyPr wrap="square" lIns="0" rIns="0" tIns="0" bIns="0" anchor="t"/>
          <a:lstStyle/>
          <a:p>
            <a:pPr algn="l">
              <a:lnSpc>
                <a:spcPct val="100000"/>
              </a:lnSpc>
              <a:spcAft>
                <a:spcPts val="200"/>
              </a:spcAft>
            </a:pPr>
            <a:r>
              <a:rPr sz="950" b="0" i="1">
                <a:solidFill>
                  <a:srgbClr val="A9C2AE"/>
                </a:solidFill>
                <a:latin typeface="Arial"/>
              </a:rPr>
              <a:t>Sources: Emerson PS #02 p.4; DeltaV Electronic Marshalling PDS (Aug 2026); Smart Commissioning WP (2021) p.5; Bulk Edit WP (2022).</a:t>
            </a:r>
          </a:p>
        </p:txBody>
      </p:sp>
      <p:sp>
        <p:nvSpPr>
          <p:cNvPr id="7" name="Rounded Rectangle 6"/>
          <p:cNvSpPr/>
          <p:nvPr/>
        </p:nvSpPr>
        <p:spPr>
          <a:xfrm>
            <a:off x="6967728" y="1755648"/>
            <a:ext cx="4800600" cy="4462272"/>
          </a:xfrm>
          <a:prstGeom prst="roundRect">
            <a:avLst>
              <a:gd name="adj" fmla="val 4000"/>
            </a:avLst>
          </a:prstGeom>
          <a:solidFill>
            <a:srgbClr val="06140A">
              <a:alpha val="90000"/>
            </a:srgbClr>
          </a:solidFill>
          <a:ln w="12700">
            <a:solidFill>
              <a:srgbClr val="1F5F2A"/>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8" name="TextBox 7"/>
          <p:cNvSpPr txBox="1"/>
          <p:nvPr/>
        </p:nvSpPr>
        <p:spPr>
          <a:xfrm>
            <a:off x="7132320" y="1828800"/>
            <a:ext cx="4526280" cy="274320"/>
          </a:xfrm>
          <a:prstGeom prst="rect">
            <a:avLst/>
          </a:prstGeom>
          <a:noFill/>
        </p:spPr>
        <p:txBody>
          <a:bodyPr wrap="square" lIns="0" rIns="0" tIns="0" bIns="0" anchor="t"/>
          <a:lstStyle/>
          <a:p>
            <a:pPr algn="l">
              <a:lnSpc>
                <a:spcPct val="100000"/>
              </a:lnSpc>
              <a:spcAft>
                <a:spcPts val="200"/>
              </a:spcAft>
            </a:pPr>
            <a:r>
              <a:rPr sz="1100" b="1" i="0">
                <a:solidFill>
                  <a:srgbClr val="4DD262"/>
                </a:solidFill>
                <a:latin typeface="Arial"/>
              </a:rPr>
              <a:t>THE PUZZLE, PER EMERSON'S RULEBOOK</a:t>
            </a:r>
          </a:p>
        </p:txBody>
      </p:sp>
      <p:sp>
        <p:nvSpPr>
          <p:cNvPr id="9" name="Rounded Rectangle 8"/>
          <p:cNvSpPr/>
          <p:nvPr/>
        </p:nvSpPr>
        <p:spPr>
          <a:xfrm>
            <a:off x="7150608" y="2139696"/>
            <a:ext cx="914400" cy="512064"/>
          </a:xfrm>
          <a:prstGeom prst="roundRect">
            <a:avLst>
              <a:gd name="adj" fmla="val 12000"/>
            </a:avLst>
          </a:prstGeom>
          <a:solidFill>
            <a:srgbClr val="0C2412"/>
          </a:solidFill>
          <a:ln w="12700">
            <a:solidFill>
              <a:srgbClr val="4DD26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0"/>
              </a:spcAft>
            </a:pPr>
            <a:r>
              <a:rPr sz="1100" b="1" i="0">
                <a:solidFill>
                  <a:srgbClr val="FFFFFF"/>
                </a:solidFill>
                <a:latin typeface="Arial"/>
              </a:rPr>
              <a:t>Cabinet</a:t>
            </a:r>
          </a:p>
          <a:p>
            <a:pPr algn="ctr">
              <a:lnSpc>
                <a:spcPct val="100000"/>
              </a:lnSpc>
              <a:spcAft>
                <a:spcPts val="0"/>
              </a:spcAft>
            </a:pPr>
            <a:r>
              <a:rPr sz="950" b="0" i="0">
                <a:solidFill>
                  <a:srgbClr val="A9C2AE"/>
                </a:solidFill>
                <a:latin typeface="Arial"/>
              </a:rPr>
              <a:t>≤ 4 CIOCs</a:t>
            </a:r>
          </a:p>
        </p:txBody>
      </p:sp>
      <p:cxnSp>
        <p:nvCxnSpPr>
          <p:cNvPr id="10" name="Connector 9"/>
          <p:cNvCxnSpPr/>
          <p:nvPr/>
        </p:nvCxnSpPr>
        <p:spPr>
          <a:xfrm>
            <a:off x="8083296" y="2395728"/>
            <a:ext cx="222199" cy="0"/>
          </a:xfrm>
          <a:prstGeom prst="line">
            <a:avLst/>
          </a:prstGeom>
          <a:ln w="19050">
            <a:solidFill>
              <a:srgbClr val="4DD26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323783" y="2139696"/>
            <a:ext cx="914400" cy="512064"/>
          </a:xfrm>
          <a:prstGeom prst="roundRect">
            <a:avLst>
              <a:gd name="adj" fmla="val 12000"/>
            </a:avLst>
          </a:prstGeom>
          <a:solidFill>
            <a:srgbClr val="0C2412"/>
          </a:solidFill>
          <a:ln w="12700">
            <a:solidFill>
              <a:srgbClr val="4DD26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0"/>
              </a:spcAft>
            </a:pPr>
            <a:r>
              <a:rPr sz="1100" b="1" i="0">
                <a:solidFill>
                  <a:srgbClr val="FFFFFF"/>
                </a:solidFill>
                <a:latin typeface="Arial"/>
              </a:rPr>
              <a:t>CIOC</a:t>
            </a:r>
          </a:p>
          <a:p>
            <a:pPr algn="ctr">
              <a:lnSpc>
                <a:spcPct val="100000"/>
              </a:lnSpc>
              <a:spcAft>
                <a:spcPts val="0"/>
              </a:spcAft>
            </a:pPr>
            <a:r>
              <a:rPr sz="950" b="0" i="0">
                <a:solidFill>
                  <a:srgbClr val="A9C2AE"/>
                </a:solidFill>
                <a:latin typeface="Arial"/>
              </a:rPr>
              <a:t>8 baseplates</a:t>
            </a:r>
          </a:p>
        </p:txBody>
      </p:sp>
      <p:cxnSp>
        <p:nvCxnSpPr>
          <p:cNvPr id="12" name="Connector 11"/>
          <p:cNvCxnSpPr/>
          <p:nvPr/>
        </p:nvCxnSpPr>
        <p:spPr>
          <a:xfrm>
            <a:off x="9256471" y="2395728"/>
            <a:ext cx="222199" cy="0"/>
          </a:xfrm>
          <a:prstGeom prst="line">
            <a:avLst/>
          </a:prstGeom>
          <a:ln w="19050">
            <a:solidFill>
              <a:srgbClr val="4DD26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496958" y="2139696"/>
            <a:ext cx="914400" cy="512064"/>
          </a:xfrm>
          <a:prstGeom prst="roundRect">
            <a:avLst>
              <a:gd name="adj" fmla="val 12000"/>
            </a:avLst>
          </a:prstGeom>
          <a:solidFill>
            <a:srgbClr val="0C2412"/>
          </a:solidFill>
          <a:ln w="12700">
            <a:solidFill>
              <a:srgbClr val="4DD26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0"/>
              </a:spcAft>
            </a:pPr>
            <a:r>
              <a:rPr sz="1100" b="1" i="0">
                <a:solidFill>
                  <a:srgbClr val="FFFFFF"/>
                </a:solidFill>
                <a:latin typeface="Arial"/>
              </a:rPr>
              <a:t>Baseplate</a:t>
            </a:r>
          </a:p>
          <a:p>
            <a:pPr algn="ctr">
              <a:lnSpc>
                <a:spcPct val="100000"/>
              </a:lnSpc>
              <a:spcAft>
                <a:spcPts val="0"/>
              </a:spcAft>
            </a:pPr>
            <a:r>
              <a:rPr sz="950" b="0" i="0">
                <a:solidFill>
                  <a:srgbClr val="A9C2AE"/>
                </a:solidFill>
                <a:latin typeface="Arial"/>
              </a:rPr>
              <a:t>12 CHARMs</a:t>
            </a:r>
          </a:p>
        </p:txBody>
      </p:sp>
      <p:cxnSp>
        <p:nvCxnSpPr>
          <p:cNvPr id="14" name="Connector 13"/>
          <p:cNvCxnSpPr/>
          <p:nvPr/>
        </p:nvCxnSpPr>
        <p:spPr>
          <a:xfrm>
            <a:off x="10429646" y="2395728"/>
            <a:ext cx="222199" cy="0"/>
          </a:xfrm>
          <a:prstGeom prst="line">
            <a:avLst/>
          </a:prstGeom>
          <a:ln w="19050">
            <a:solidFill>
              <a:srgbClr val="4DD26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10670133" y="2139696"/>
            <a:ext cx="914400" cy="512064"/>
          </a:xfrm>
          <a:prstGeom prst="roundRect">
            <a:avLst>
              <a:gd name="adj" fmla="val 12000"/>
            </a:avLst>
          </a:prstGeom>
          <a:solidFill>
            <a:srgbClr val="0C2412"/>
          </a:solidFill>
          <a:ln w="12700">
            <a:solidFill>
              <a:srgbClr val="4DD26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0"/>
              </a:spcAft>
            </a:pPr>
            <a:r>
              <a:rPr sz="1100" b="1" i="0">
                <a:solidFill>
                  <a:srgbClr val="FFFFFF"/>
                </a:solidFill>
                <a:latin typeface="Arial"/>
              </a:rPr>
              <a:t>CHARM</a:t>
            </a:r>
          </a:p>
          <a:p>
            <a:pPr algn="ctr">
              <a:lnSpc>
                <a:spcPct val="100000"/>
              </a:lnSpc>
              <a:spcAft>
                <a:spcPts val="0"/>
              </a:spcAft>
            </a:pPr>
            <a:r>
              <a:rPr sz="950" b="0" i="0">
                <a:solidFill>
                  <a:srgbClr val="A9C2AE"/>
                </a:solidFill>
                <a:latin typeface="Arial"/>
              </a:rPr>
              <a:t>1 signal</a:t>
            </a:r>
          </a:p>
        </p:txBody>
      </p:sp>
      <p:sp>
        <p:nvSpPr>
          <p:cNvPr id="16" name="TextBox 15"/>
          <p:cNvSpPr txBox="1"/>
          <p:nvPr/>
        </p:nvSpPr>
        <p:spPr>
          <a:xfrm>
            <a:off x="7150608" y="2761488"/>
            <a:ext cx="4434840" cy="237744"/>
          </a:xfrm>
          <a:prstGeom prst="rect">
            <a:avLst/>
          </a:prstGeom>
          <a:noFill/>
        </p:spPr>
        <p:txBody>
          <a:bodyPr wrap="square" lIns="0" rIns="0" tIns="0" bIns="0" anchor="t"/>
          <a:lstStyle/>
          <a:p>
            <a:pPr algn="l">
              <a:lnSpc>
                <a:spcPct val="100000"/>
              </a:lnSpc>
              <a:spcAft>
                <a:spcPts val="200"/>
              </a:spcAft>
            </a:pPr>
            <a:r>
              <a:rPr sz="1000" b="1" i="0">
                <a:solidFill>
                  <a:srgbClr val="FFB547"/>
                </a:solidFill>
                <a:latin typeface="Arial"/>
              </a:rPr>
              <a:t>ONE INTERACTION  two 6-pair cables, one on side A, one on side B</a:t>
            </a:r>
          </a:p>
        </p:txBody>
      </p:sp>
      <p:sp>
        <p:nvSpPr>
          <p:cNvPr id="17" name="TextBox 16"/>
          <p:cNvSpPr txBox="1"/>
          <p:nvPr/>
        </p:nvSpPr>
        <p:spPr>
          <a:xfrm>
            <a:off x="7150608" y="3035808"/>
            <a:ext cx="2103120" cy="201168"/>
          </a:xfrm>
          <a:prstGeom prst="rect">
            <a:avLst/>
          </a:prstGeom>
          <a:noFill/>
        </p:spPr>
        <p:txBody>
          <a:bodyPr wrap="square" lIns="0" rIns="0" tIns="0" bIns="0" anchor="t"/>
          <a:lstStyle/>
          <a:p>
            <a:pPr algn="l">
              <a:lnSpc>
                <a:spcPct val="100000"/>
              </a:lnSpc>
              <a:spcAft>
                <a:spcPts val="200"/>
              </a:spcAft>
            </a:pPr>
            <a:r>
              <a:rPr sz="1050" b="0" i="0">
                <a:solidFill>
                  <a:srgbClr val="EAF5EC"/>
                </a:solidFill>
                <a:latin typeface="Arial"/>
              </a:rPr>
              <a:t>Would fit one baseplate…</a:t>
            </a:r>
          </a:p>
        </p:txBody>
      </p:sp>
      <p:sp>
        <p:nvSpPr>
          <p:cNvPr id="18" name="Rounded Rectangle 17"/>
          <p:cNvSpPr/>
          <p:nvPr/>
        </p:nvSpPr>
        <p:spPr>
          <a:xfrm>
            <a:off x="7150608" y="3273552"/>
            <a:ext cx="146304" cy="237744"/>
          </a:xfrm>
          <a:prstGeom prst="roundRect">
            <a:avLst>
              <a:gd name="adj" fmla="val 15000"/>
            </a:avLst>
          </a:prstGeom>
          <a:solidFill>
            <a:srgbClr val="2A2208"/>
          </a:solidFill>
          <a:ln w="15875">
            <a:solidFill>
              <a:srgbClr val="F2B84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200"/>
              </a:spcAft>
            </a:pPr>
            <a:r>
              <a:rPr sz="800" b="1" i="0">
                <a:solidFill>
                  <a:srgbClr val="F2B84B"/>
                </a:solidFill>
                <a:latin typeface="Arial"/>
              </a:rPr>
              <a:t>A</a:t>
            </a:r>
          </a:p>
        </p:txBody>
      </p:sp>
      <p:sp>
        <p:nvSpPr>
          <p:cNvPr id="19" name="Rounded Rectangle 18"/>
          <p:cNvSpPr/>
          <p:nvPr/>
        </p:nvSpPr>
        <p:spPr>
          <a:xfrm>
            <a:off x="7315200" y="3273552"/>
            <a:ext cx="146304" cy="237744"/>
          </a:xfrm>
          <a:prstGeom prst="roundRect">
            <a:avLst>
              <a:gd name="adj" fmla="val 15000"/>
            </a:avLst>
          </a:prstGeom>
          <a:solidFill>
            <a:srgbClr val="2A2208"/>
          </a:solidFill>
          <a:ln w="15875">
            <a:solidFill>
              <a:srgbClr val="F2B84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200"/>
              </a:spcAft>
            </a:pPr>
            <a:r>
              <a:rPr sz="800" b="1" i="0">
                <a:solidFill>
                  <a:srgbClr val="F2B84B"/>
                </a:solidFill>
                <a:latin typeface="Arial"/>
              </a:rPr>
              <a:t>A</a:t>
            </a:r>
          </a:p>
        </p:txBody>
      </p:sp>
      <p:sp>
        <p:nvSpPr>
          <p:cNvPr id="20" name="Rounded Rectangle 19"/>
          <p:cNvSpPr/>
          <p:nvPr/>
        </p:nvSpPr>
        <p:spPr>
          <a:xfrm>
            <a:off x="7479792" y="3273552"/>
            <a:ext cx="146304" cy="237744"/>
          </a:xfrm>
          <a:prstGeom prst="roundRect">
            <a:avLst>
              <a:gd name="adj" fmla="val 15000"/>
            </a:avLst>
          </a:prstGeom>
          <a:solidFill>
            <a:srgbClr val="2A2208"/>
          </a:solidFill>
          <a:ln w="15875">
            <a:solidFill>
              <a:srgbClr val="F2B84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200"/>
              </a:spcAft>
            </a:pPr>
            <a:r>
              <a:rPr sz="800" b="1" i="0">
                <a:solidFill>
                  <a:srgbClr val="F2B84B"/>
                </a:solidFill>
                <a:latin typeface="Arial"/>
              </a:rPr>
              <a:t>A</a:t>
            </a:r>
          </a:p>
        </p:txBody>
      </p:sp>
      <p:sp>
        <p:nvSpPr>
          <p:cNvPr id="21" name="Rounded Rectangle 20"/>
          <p:cNvSpPr/>
          <p:nvPr/>
        </p:nvSpPr>
        <p:spPr>
          <a:xfrm>
            <a:off x="7644383" y="3273552"/>
            <a:ext cx="146304" cy="237744"/>
          </a:xfrm>
          <a:prstGeom prst="roundRect">
            <a:avLst>
              <a:gd name="adj" fmla="val 15000"/>
            </a:avLst>
          </a:prstGeom>
          <a:solidFill>
            <a:srgbClr val="2A2208"/>
          </a:solidFill>
          <a:ln w="15875">
            <a:solidFill>
              <a:srgbClr val="F2B84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200"/>
              </a:spcAft>
            </a:pPr>
            <a:r>
              <a:rPr sz="800" b="1" i="0">
                <a:solidFill>
                  <a:srgbClr val="F2B84B"/>
                </a:solidFill>
                <a:latin typeface="Arial"/>
              </a:rPr>
              <a:t>A</a:t>
            </a:r>
          </a:p>
        </p:txBody>
      </p:sp>
      <p:sp>
        <p:nvSpPr>
          <p:cNvPr id="22" name="Rounded Rectangle 21"/>
          <p:cNvSpPr/>
          <p:nvPr/>
        </p:nvSpPr>
        <p:spPr>
          <a:xfrm>
            <a:off x="7808976" y="3273552"/>
            <a:ext cx="146304" cy="237744"/>
          </a:xfrm>
          <a:prstGeom prst="roundRect">
            <a:avLst>
              <a:gd name="adj" fmla="val 15000"/>
            </a:avLst>
          </a:prstGeom>
          <a:solidFill>
            <a:srgbClr val="2A2208"/>
          </a:solidFill>
          <a:ln w="15875">
            <a:solidFill>
              <a:srgbClr val="F2B84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200"/>
              </a:spcAft>
            </a:pPr>
            <a:r>
              <a:rPr sz="800" b="1" i="0">
                <a:solidFill>
                  <a:srgbClr val="F2B84B"/>
                </a:solidFill>
                <a:latin typeface="Arial"/>
              </a:rPr>
              <a:t>A</a:t>
            </a:r>
          </a:p>
        </p:txBody>
      </p:sp>
      <p:sp>
        <p:nvSpPr>
          <p:cNvPr id="23" name="Rounded Rectangle 22"/>
          <p:cNvSpPr/>
          <p:nvPr/>
        </p:nvSpPr>
        <p:spPr>
          <a:xfrm>
            <a:off x="7973568" y="3273552"/>
            <a:ext cx="146304" cy="237744"/>
          </a:xfrm>
          <a:prstGeom prst="roundRect">
            <a:avLst>
              <a:gd name="adj" fmla="val 15000"/>
            </a:avLst>
          </a:prstGeom>
          <a:solidFill>
            <a:srgbClr val="2A2208"/>
          </a:solidFill>
          <a:ln w="15875">
            <a:solidFill>
              <a:srgbClr val="F2B84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200"/>
              </a:spcAft>
            </a:pPr>
            <a:r>
              <a:rPr sz="800" b="1" i="0">
                <a:solidFill>
                  <a:srgbClr val="F2B84B"/>
                </a:solidFill>
                <a:latin typeface="Arial"/>
              </a:rPr>
              <a:t>A</a:t>
            </a:r>
          </a:p>
        </p:txBody>
      </p:sp>
      <p:sp>
        <p:nvSpPr>
          <p:cNvPr id="24" name="Rounded Rectangle 23"/>
          <p:cNvSpPr/>
          <p:nvPr/>
        </p:nvSpPr>
        <p:spPr>
          <a:xfrm>
            <a:off x="8138160" y="3273552"/>
            <a:ext cx="146304" cy="237744"/>
          </a:xfrm>
          <a:prstGeom prst="roundRect">
            <a:avLst>
              <a:gd name="adj" fmla="val 15000"/>
            </a:avLst>
          </a:prstGeom>
          <a:solidFill>
            <a:srgbClr val="0B2B38"/>
          </a:solidFill>
          <a:ln w="15875">
            <a:solidFill>
              <a:srgbClr val="5FC8F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200"/>
              </a:spcAft>
            </a:pPr>
            <a:r>
              <a:rPr sz="800" b="1" i="0">
                <a:solidFill>
                  <a:srgbClr val="5FC8F0"/>
                </a:solidFill>
                <a:latin typeface="Arial"/>
              </a:rPr>
              <a:t>B</a:t>
            </a:r>
          </a:p>
        </p:txBody>
      </p:sp>
      <p:sp>
        <p:nvSpPr>
          <p:cNvPr id="25" name="Rounded Rectangle 24"/>
          <p:cNvSpPr/>
          <p:nvPr/>
        </p:nvSpPr>
        <p:spPr>
          <a:xfrm>
            <a:off x="8302752" y="3273552"/>
            <a:ext cx="146304" cy="237744"/>
          </a:xfrm>
          <a:prstGeom prst="roundRect">
            <a:avLst>
              <a:gd name="adj" fmla="val 15000"/>
            </a:avLst>
          </a:prstGeom>
          <a:solidFill>
            <a:srgbClr val="0B2B38"/>
          </a:solidFill>
          <a:ln w="15875">
            <a:solidFill>
              <a:srgbClr val="5FC8F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200"/>
              </a:spcAft>
            </a:pPr>
            <a:r>
              <a:rPr sz="800" b="1" i="0">
                <a:solidFill>
                  <a:srgbClr val="5FC8F0"/>
                </a:solidFill>
                <a:latin typeface="Arial"/>
              </a:rPr>
              <a:t>B</a:t>
            </a:r>
          </a:p>
        </p:txBody>
      </p:sp>
      <p:sp>
        <p:nvSpPr>
          <p:cNvPr id="26" name="Rounded Rectangle 25"/>
          <p:cNvSpPr/>
          <p:nvPr/>
        </p:nvSpPr>
        <p:spPr>
          <a:xfrm>
            <a:off x="8467344" y="3273552"/>
            <a:ext cx="146304" cy="237744"/>
          </a:xfrm>
          <a:prstGeom prst="roundRect">
            <a:avLst>
              <a:gd name="adj" fmla="val 15000"/>
            </a:avLst>
          </a:prstGeom>
          <a:solidFill>
            <a:srgbClr val="0B2B38"/>
          </a:solidFill>
          <a:ln w="15875">
            <a:solidFill>
              <a:srgbClr val="5FC8F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200"/>
              </a:spcAft>
            </a:pPr>
            <a:r>
              <a:rPr sz="800" b="1" i="0">
                <a:solidFill>
                  <a:srgbClr val="5FC8F0"/>
                </a:solidFill>
                <a:latin typeface="Arial"/>
              </a:rPr>
              <a:t>B</a:t>
            </a:r>
          </a:p>
        </p:txBody>
      </p:sp>
      <p:sp>
        <p:nvSpPr>
          <p:cNvPr id="27" name="Rounded Rectangle 26"/>
          <p:cNvSpPr/>
          <p:nvPr/>
        </p:nvSpPr>
        <p:spPr>
          <a:xfrm>
            <a:off x="8631936" y="3273552"/>
            <a:ext cx="146304" cy="237744"/>
          </a:xfrm>
          <a:prstGeom prst="roundRect">
            <a:avLst>
              <a:gd name="adj" fmla="val 15000"/>
            </a:avLst>
          </a:prstGeom>
          <a:solidFill>
            <a:srgbClr val="0B2B38"/>
          </a:solidFill>
          <a:ln w="15875">
            <a:solidFill>
              <a:srgbClr val="5FC8F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200"/>
              </a:spcAft>
            </a:pPr>
            <a:r>
              <a:rPr sz="800" b="1" i="0">
                <a:solidFill>
                  <a:srgbClr val="5FC8F0"/>
                </a:solidFill>
                <a:latin typeface="Arial"/>
              </a:rPr>
              <a:t>B</a:t>
            </a:r>
          </a:p>
        </p:txBody>
      </p:sp>
      <p:sp>
        <p:nvSpPr>
          <p:cNvPr id="28" name="Rounded Rectangle 27"/>
          <p:cNvSpPr/>
          <p:nvPr/>
        </p:nvSpPr>
        <p:spPr>
          <a:xfrm>
            <a:off x="8796528" y="3273552"/>
            <a:ext cx="146304" cy="237744"/>
          </a:xfrm>
          <a:prstGeom prst="roundRect">
            <a:avLst>
              <a:gd name="adj" fmla="val 15000"/>
            </a:avLst>
          </a:prstGeom>
          <a:solidFill>
            <a:srgbClr val="0B2B38"/>
          </a:solidFill>
          <a:ln w="15875">
            <a:solidFill>
              <a:srgbClr val="5FC8F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200"/>
              </a:spcAft>
            </a:pPr>
            <a:r>
              <a:rPr sz="800" b="1" i="0">
                <a:solidFill>
                  <a:srgbClr val="5FC8F0"/>
                </a:solidFill>
                <a:latin typeface="Arial"/>
              </a:rPr>
              <a:t>B</a:t>
            </a:r>
          </a:p>
        </p:txBody>
      </p:sp>
      <p:sp>
        <p:nvSpPr>
          <p:cNvPr id="29" name="Rounded Rectangle 28"/>
          <p:cNvSpPr/>
          <p:nvPr/>
        </p:nvSpPr>
        <p:spPr>
          <a:xfrm>
            <a:off x="8961120" y="3273552"/>
            <a:ext cx="146304" cy="237744"/>
          </a:xfrm>
          <a:prstGeom prst="roundRect">
            <a:avLst>
              <a:gd name="adj" fmla="val 15000"/>
            </a:avLst>
          </a:prstGeom>
          <a:solidFill>
            <a:srgbClr val="0B2B38"/>
          </a:solidFill>
          <a:ln w="15875">
            <a:solidFill>
              <a:srgbClr val="5FC8F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200"/>
              </a:spcAft>
            </a:pPr>
            <a:r>
              <a:rPr sz="800" b="1" i="0">
                <a:solidFill>
                  <a:srgbClr val="5FC8F0"/>
                </a:solidFill>
                <a:latin typeface="Arial"/>
              </a:rPr>
              <a:t>B</a:t>
            </a:r>
          </a:p>
        </p:txBody>
      </p:sp>
      <p:sp>
        <p:nvSpPr>
          <p:cNvPr id="30" name="Rounded Rectangle 29"/>
          <p:cNvSpPr/>
          <p:nvPr/>
        </p:nvSpPr>
        <p:spPr>
          <a:xfrm>
            <a:off x="7150608" y="3584448"/>
            <a:ext cx="2011680" cy="256032"/>
          </a:xfrm>
          <a:prstGeom prst="roundRect">
            <a:avLst>
              <a:gd name="adj" fmla="val 30000"/>
            </a:avLst>
          </a:prstGeom>
          <a:solidFill>
            <a:srgbClr val="2A0F0F"/>
          </a:solidFill>
          <a:ln w="12700">
            <a:solidFill>
              <a:srgbClr val="FF6B6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200"/>
              </a:spcAft>
            </a:pPr>
            <a:r>
              <a:rPr sz="950" b="1" i="0">
                <a:solidFill>
                  <a:srgbClr val="FF6B6B"/>
                </a:solidFill>
                <a:latin typeface="Arial"/>
              </a:rPr>
              <a:t>✕ A and B never share a CIOC</a:t>
            </a:r>
          </a:p>
        </p:txBody>
      </p:sp>
      <p:cxnSp>
        <p:nvCxnSpPr>
          <p:cNvPr id="31" name="Connector 30"/>
          <p:cNvCxnSpPr/>
          <p:nvPr/>
        </p:nvCxnSpPr>
        <p:spPr>
          <a:xfrm>
            <a:off x="9299448" y="3401568"/>
            <a:ext cx="228600" cy="0"/>
          </a:xfrm>
          <a:prstGeom prst="line">
            <a:avLst/>
          </a:prstGeom>
          <a:ln w="22225">
            <a:solidFill>
              <a:srgbClr val="4DD262"/>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9619488" y="3035808"/>
            <a:ext cx="2011680" cy="201168"/>
          </a:xfrm>
          <a:prstGeom prst="rect">
            <a:avLst/>
          </a:prstGeom>
          <a:noFill/>
        </p:spPr>
        <p:txBody>
          <a:bodyPr wrap="square" lIns="0" rIns="0" tIns="0" bIns="0" anchor="t"/>
          <a:lstStyle/>
          <a:p>
            <a:pPr algn="l">
              <a:lnSpc>
                <a:spcPct val="100000"/>
              </a:lnSpc>
              <a:spcAft>
                <a:spcPts val="200"/>
              </a:spcAft>
            </a:pPr>
            <a:r>
              <a:rPr sz="1050" b="0" i="0">
                <a:solidFill>
                  <a:srgbClr val="EAF5EC"/>
                </a:solidFill>
                <a:latin typeface="Arial"/>
              </a:rPr>
              <a:t>…so each gets its own CIOC</a:t>
            </a:r>
          </a:p>
        </p:txBody>
      </p:sp>
      <p:sp>
        <p:nvSpPr>
          <p:cNvPr id="33" name="Rounded Rectangle 32"/>
          <p:cNvSpPr/>
          <p:nvPr/>
        </p:nvSpPr>
        <p:spPr>
          <a:xfrm>
            <a:off x="9619488" y="3273552"/>
            <a:ext cx="146304" cy="237744"/>
          </a:xfrm>
          <a:prstGeom prst="roundRect">
            <a:avLst>
              <a:gd name="adj" fmla="val 15000"/>
            </a:avLst>
          </a:prstGeom>
          <a:solidFill>
            <a:srgbClr val="2A2208"/>
          </a:solidFill>
          <a:ln w="15875">
            <a:solidFill>
              <a:srgbClr val="F2B84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200"/>
              </a:spcAft>
            </a:pPr>
            <a:r>
              <a:rPr sz="800" b="1" i="0">
                <a:solidFill>
                  <a:srgbClr val="F2B84B"/>
                </a:solidFill>
                <a:latin typeface="Arial"/>
              </a:rPr>
              <a:t>A</a:t>
            </a:r>
          </a:p>
        </p:txBody>
      </p:sp>
      <p:sp>
        <p:nvSpPr>
          <p:cNvPr id="34" name="Rounded Rectangle 33"/>
          <p:cNvSpPr/>
          <p:nvPr/>
        </p:nvSpPr>
        <p:spPr>
          <a:xfrm>
            <a:off x="9784080" y="3273552"/>
            <a:ext cx="146304" cy="237744"/>
          </a:xfrm>
          <a:prstGeom prst="roundRect">
            <a:avLst>
              <a:gd name="adj" fmla="val 15000"/>
            </a:avLst>
          </a:prstGeom>
          <a:solidFill>
            <a:srgbClr val="2A2208"/>
          </a:solidFill>
          <a:ln w="15875">
            <a:solidFill>
              <a:srgbClr val="F2B84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200"/>
              </a:spcAft>
            </a:pPr>
            <a:r>
              <a:rPr sz="800" b="1" i="0">
                <a:solidFill>
                  <a:srgbClr val="F2B84B"/>
                </a:solidFill>
                <a:latin typeface="Arial"/>
              </a:rPr>
              <a:t>A</a:t>
            </a:r>
          </a:p>
        </p:txBody>
      </p:sp>
      <p:sp>
        <p:nvSpPr>
          <p:cNvPr id="35" name="Rounded Rectangle 34"/>
          <p:cNvSpPr/>
          <p:nvPr/>
        </p:nvSpPr>
        <p:spPr>
          <a:xfrm>
            <a:off x="9948672" y="3273552"/>
            <a:ext cx="146304" cy="237744"/>
          </a:xfrm>
          <a:prstGeom prst="roundRect">
            <a:avLst>
              <a:gd name="adj" fmla="val 15000"/>
            </a:avLst>
          </a:prstGeom>
          <a:solidFill>
            <a:srgbClr val="2A2208"/>
          </a:solidFill>
          <a:ln w="15875">
            <a:solidFill>
              <a:srgbClr val="F2B84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200"/>
              </a:spcAft>
            </a:pPr>
            <a:r>
              <a:rPr sz="800" b="1" i="0">
                <a:solidFill>
                  <a:srgbClr val="F2B84B"/>
                </a:solidFill>
                <a:latin typeface="Arial"/>
              </a:rPr>
              <a:t>A</a:t>
            </a:r>
          </a:p>
        </p:txBody>
      </p:sp>
      <p:sp>
        <p:nvSpPr>
          <p:cNvPr id="36" name="Rounded Rectangle 35"/>
          <p:cNvSpPr/>
          <p:nvPr/>
        </p:nvSpPr>
        <p:spPr>
          <a:xfrm>
            <a:off x="10113263" y="3273552"/>
            <a:ext cx="146304" cy="237744"/>
          </a:xfrm>
          <a:prstGeom prst="roundRect">
            <a:avLst>
              <a:gd name="adj" fmla="val 15000"/>
            </a:avLst>
          </a:prstGeom>
          <a:solidFill>
            <a:srgbClr val="2A2208"/>
          </a:solidFill>
          <a:ln w="15875">
            <a:solidFill>
              <a:srgbClr val="F2B84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200"/>
              </a:spcAft>
            </a:pPr>
            <a:r>
              <a:rPr sz="800" b="1" i="0">
                <a:solidFill>
                  <a:srgbClr val="F2B84B"/>
                </a:solidFill>
                <a:latin typeface="Arial"/>
              </a:rPr>
              <a:t>A</a:t>
            </a:r>
          </a:p>
        </p:txBody>
      </p:sp>
      <p:sp>
        <p:nvSpPr>
          <p:cNvPr id="37" name="Rounded Rectangle 36"/>
          <p:cNvSpPr/>
          <p:nvPr/>
        </p:nvSpPr>
        <p:spPr>
          <a:xfrm>
            <a:off x="10277856" y="3273552"/>
            <a:ext cx="146304" cy="237744"/>
          </a:xfrm>
          <a:prstGeom prst="roundRect">
            <a:avLst>
              <a:gd name="adj" fmla="val 15000"/>
            </a:avLst>
          </a:prstGeom>
          <a:solidFill>
            <a:srgbClr val="2A2208"/>
          </a:solidFill>
          <a:ln w="15875">
            <a:solidFill>
              <a:srgbClr val="F2B84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200"/>
              </a:spcAft>
            </a:pPr>
            <a:r>
              <a:rPr sz="800" b="1" i="0">
                <a:solidFill>
                  <a:srgbClr val="F2B84B"/>
                </a:solidFill>
                <a:latin typeface="Arial"/>
              </a:rPr>
              <a:t>A</a:t>
            </a:r>
          </a:p>
        </p:txBody>
      </p:sp>
      <p:sp>
        <p:nvSpPr>
          <p:cNvPr id="38" name="Rounded Rectangle 37"/>
          <p:cNvSpPr/>
          <p:nvPr/>
        </p:nvSpPr>
        <p:spPr>
          <a:xfrm>
            <a:off x="10442448" y="3273552"/>
            <a:ext cx="146304" cy="237744"/>
          </a:xfrm>
          <a:prstGeom prst="roundRect">
            <a:avLst>
              <a:gd name="adj" fmla="val 15000"/>
            </a:avLst>
          </a:prstGeom>
          <a:solidFill>
            <a:srgbClr val="2A2208"/>
          </a:solidFill>
          <a:ln w="15875">
            <a:solidFill>
              <a:srgbClr val="F2B84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200"/>
              </a:spcAft>
            </a:pPr>
            <a:r>
              <a:rPr sz="800" b="1" i="0">
                <a:solidFill>
                  <a:srgbClr val="F2B84B"/>
                </a:solidFill>
                <a:latin typeface="Arial"/>
              </a:rPr>
              <a:t>A</a:t>
            </a:r>
          </a:p>
        </p:txBody>
      </p:sp>
      <p:sp>
        <p:nvSpPr>
          <p:cNvPr id="39" name="Rounded Rectangle 38"/>
          <p:cNvSpPr/>
          <p:nvPr/>
        </p:nvSpPr>
        <p:spPr>
          <a:xfrm>
            <a:off x="10607040" y="3273552"/>
            <a:ext cx="146304" cy="237744"/>
          </a:xfrm>
          <a:prstGeom prst="roundRect">
            <a:avLst>
              <a:gd name="adj" fmla="val 15000"/>
            </a:avLst>
          </a:prstGeom>
          <a:solidFill>
            <a:srgbClr val="0E1A12"/>
          </a:solidFill>
          <a:ln w="9525">
            <a:solidFill>
              <a:srgbClr val="2E4A3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40" name="Rounded Rectangle 39"/>
          <p:cNvSpPr/>
          <p:nvPr/>
        </p:nvSpPr>
        <p:spPr>
          <a:xfrm>
            <a:off x="10771632" y="3273552"/>
            <a:ext cx="146304" cy="237744"/>
          </a:xfrm>
          <a:prstGeom prst="roundRect">
            <a:avLst>
              <a:gd name="adj" fmla="val 15000"/>
            </a:avLst>
          </a:prstGeom>
          <a:solidFill>
            <a:srgbClr val="0E1A12"/>
          </a:solidFill>
          <a:ln w="9525">
            <a:solidFill>
              <a:srgbClr val="2E4A3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41" name="Rounded Rectangle 40"/>
          <p:cNvSpPr/>
          <p:nvPr/>
        </p:nvSpPr>
        <p:spPr>
          <a:xfrm>
            <a:off x="10936224" y="3273552"/>
            <a:ext cx="146304" cy="237744"/>
          </a:xfrm>
          <a:prstGeom prst="roundRect">
            <a:avLst>
              <a:gd name="adj" fmla="val 15000"/>
            </a:avLst>
          </a:prstGeom>
          <a:solidFill>
            <a:srgbClr val="0E1A12"/>
          </a:solidFill>
          <a:ln w="9525">
            <a:solidFill>
              <a:srgbClr val="2E4A3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42" name="Rounded Rectangle 41"/>
          <p:cNvSpPr/>
          <p:nvPr/>
        </p:nvSpPr>
        <p:spPr>
          <a:xfrm>
            <a:off x="11100815" y="3273552"/>
            <a:ext cx="146304" cy="237744"/>
          </a:xfrm>
          <a:prstGeom prst="roundRect">
            <a:avLst>
              <a:gd name="adj" fmla="val 15000"/>
            </a:avLst>
          </a:prstGeom>
          <a:solidFill>
            <a:srgbClr val="0E1A12"/>
          </a:solidFill>
          <a:ln w="9525">
            <a:solidFill>
              <a:srgbClr val="2E4A3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43" name="Rounded Rectangle 42"/>
          <p:cNvSpPr/>
          <p:nvPr/>
        </p:nvSpPr>
        <p:spPr>
          <a:xfrm>
            <a:off x="11265408" y="3273552"/>
            <a:ext cx="146304" cy="237744"/>
          </a:xfrm>
          <a:prstGeom prst="roundRect">
            <a:avLst>
              <a:gd name="adj" fmla="val 15000"/>
            </a:avLst>
          </a:prstGeom>
          <a:solidFill>
            <a:srgbClr val="0E1A12"/>
          </a:solidFill>
          <a:ln w="9525">
            <a:solidFill>
              <a:srgbClr val="2E4A3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44" name="Rounded Rectangle 43"/>
          <p:cNvSpPr/>
          <p:nvPr/>
        </p:nvSpPr>
        <p:spPr>
          <a:xfrm>
            <a:off x="11430000" y="3273552"/>
            <a:ext cx="146304" cy="237744"/>
          </a:xfrm>
          <a:prstGeom prst="roundRect">
            <a:avLst>
              <a:gd name="adj" fmla="val 15000"/>
            </a:avLst>
          </a:prstGeom>
          <a:solidFill>
            <a:srgbClr val="0E1A12"/>
          </a:solidFill>
          <a:ln w="9525">
            <a:solidFill>
              <a:srgbClr val="2E4A3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45" name="Rounded Rectangle 44"/>
          <p:cNvSpPr/>
          <p:nvPr/>
        </p:nvSpPr>
        <p:spPr>
          <a:xfrm>
            <a:off x="9619488" y="3584448"/>
            <a:ext cx="146304" cy="237744"/>
          </a:xfrm>
          <a:prstGeom prst="roundRect">
            <a:avLst>
              <a:gd name="adj" fmla="val 15000"/>
            </a:avLst>
          </a:prstGeom>
          <a:solidFill>
            <a:srgbClr val="0B2B38"/>
          </a:solidFill>
          <a:ln w="15875">
            <a:solidFill>
              <a:srgbClr val="5FC8F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200"/>
              </a:spcAft>
            </a:pPr>
            <a:r>
              <a:rPr sz="800" b="1" i="0">
                <a:solidFill>
                  <a:srgbClr val="5FC8F0"/>
                </a:solidFill>
                <a:latin typeface="Arial"/>
              </a:rPr>
              <a:t>B</a:t>
            </a:r>
          </a:p>
        </p:txBody>
      </p:sp>
      <p:sp>
        <p:nvSpPr>
          <p:cNvPr id="46" name="Rounded Rectangle 45"/>
          <p:cNvSpPr/>
          <p:nvPr/>
        </p:nvSpPr>
        <p:spPr>
          <a:xfrm>
            <a:off x="9784080" y="3584448"/>
            <a:ext cx="146304" cy="237744"/>
          </a:xfrm>
          <a:prstGeom prst="roundRect">
            <a:avLst>
              <a:gd name="adj" fmla="val 15000"/>
            </a:avLst>
          </a:prstGeom>
          <a:solidFill>
            <a:srgbClr val="0B2B38"/>
          </a:solidFill>
          <a:ln w="15875">
            <a:solidFill>
              <a:srgbClr val="5FC8F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200"/>
              </a:spcAft>
            </a:pPr>
            <a:r>
              <a:rPr sz="800" b="1" i="0">
                <a:solidFill>
                  <a:srgbClr val="5FC8F0"/>
                </a:solidFill>
                <a:latin typeface="Arial"/>
              </a:rPr>
              <a:t>B</a:t>
            </a:r>
          </a:p>
        </p:txBody>
      </p:sp>
      <p:sp>
        <p:nvSpPr>
          <p:cNvPr id="47" name="Rounded Rectangle 46"/>
          <p:cNvSpPr/>
          <p:nvPr/>
        </p:nvSpPr>
        <p:spPr>
          <a:xfrm>
            <a:off x="9948672" y="3584448"/>
            <a:ext cx="146304" cy="237744"/>
          </a:xfrm>
          <a:prstGeom prst="roundRect">
            <a:avLst>
              <a:gd name="adj" fmla="val 15000"/>
            </a:avLst>
          </a:prstGeom>
          <a:solidFill>
            <a:srgbClr val="0B2B38"/>
          </a:solidFill>
          <a:ln w="15875">
            <a:solidFill>
              <a:srgbClr val="5FC8F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200"/>
              </a:spcAft>
            </a:pPr>
            <a:r>
              <a:rPr sz="800" b="1" i="0">
                <a:solidFill>
                  <a:srgbClr val="5FC8F0"/>
                </a:solidFill>
                <a:latin typeface="Arial"/>
              </a:rPr>
              <a:t>B</a:t>
            </a:r>
          </a:p>
        </p:txBody>
      </p:sp>
      <p:sp>
        <p:nvSpPr>
          <p:cNvPr id="48" name="Rounded Rectangle 47"/>
          <p:cNvSpPr/>
          <p:nvPr/>
        </p:nvSpPr>
        <p:spPr>
          <a:xfrm>
            <a:off x="10113263" y="3584448"/>
            <a:ext cx="146304" cy="237744"/>
          </a:xfrm>
          <a:prstGeom prst="roundRect">
            <a:avLst>
              <a:gd name="adj" fmla="val 15000"/>
            </a:avLst>
          </a:prstGeom>
          <a:solidFill>
            <a:srgbClr val="0B2B38"/>
          </a:solidFill>
          <a:ln w="15875">
            <a:solidFill>
              <a:srgbClr val="5FC8F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200"/>
              </a:spcAft>
            </a:pPr>
            <a:r>
              <a:rPr sz="800" b="1" i="0">
                <a:solidFill>
                  <a:srgbClr val="5FC8F0"/>
                </a:solidFill>
                <a:latin typeface="Arial"/>
              </a:rPr>
              <a:t>B</a:t>
            </a:r>
          </a:p>
        </p:txBody>
      </p:sp>
      <p:sp>
        <p:nvSpPr>
          <p:cNvPr id="49" name="Rounded Rectangle 48"/>
          <p:cNvSpPr/>
          <p:nvPr/>
        </p:nvSpPr>
        <p:spPr>
          <a:xfrm>
            <a:off x="10277856" y="3584448"/>
            <a:ext cx="146304" cy="237744"/>
          </a:xfrm>
          <a:prstGeom prst="roundRect">
            <a:avLst>
              <a:gd name="adj" fmla="val 15000"/>
            </a:avLst>
          </a:prstGeom>
          <a:solidFill>
            <a:srgbClr val="0B2B38"/>
          </a:solidFill>
          <a:ln w="15875">
            <a:solidFill>
              <a:srgbClr val="5FC8F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200"/>
              </a:spcAft>
            </a:pPr>
            <a:r>
              <a:rPr sz="800" b="1" i="0">
                <a:solidFill>
                  <a:srgbClr val="5FC8F0"/>
                </a:solidFill>
                <a:latin typeface="Arial"/>
              </a:rPr>
              <a:t>B</a:t>
            </a:r>
          </a:p>
        </p:txBody>
      </p:sp>
      <p:sp>
        <p:nvSpPr>
          <p:cNvPr id="50" name="Rounded Rectangle 49"/>
          <p:cNvSpPr/>
          <p:nvPr/>
        </p:nvSpPr>
        <p:spPr>
          <a:xfrm>
            <a:off x="10442448" y="3584448"/>
            <a:ext cx="146304" cy="237744"/>
          </a:xfrm>
          <a:prstGeom prst="roundRect">
            <a:avLst>
              <a:gd name="adj" fmla="val 15000"/>
            </a:avLst>
          </a:prstGeom>
          <a:solidFill>
            <a:srgbClr val="0B2B38"/>
          </a:solidFill>
          <a:ln w="15875">
            <a:solidFill>
              <a:srgbClr val="5FC8F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200"/>
              </a:spcAft>
            </a:pPr>
            <a:r>
              <a:rPr sz="800" b="1" i="0">
                <a:solidFill>
                  <a:srgbClr val="5FC8F0"/>
                </a:solidFill>
                <a:latin typeface="Arial"/>
              </a:rPr>
              <a:t>B</a:t>
            </a:r>
          </a:p>
        </p:txBody>
      </p:sp>
      <p:sp>
        <p:nvSpPr>
          <p:cNvPr id="51" name="Rounded Rectangle 50"/>
          <p:cNvSpPr/>
          <p:nvPr/>
        </p:nvSpPr>
        <p:spPr>
          <a:xfrm>
            <a:off x="10607040" y="3584448"/>
            <a:ext cx="146304" cy="237744"/>
          </a:xfrm>
          <a:prstGeom prst="roundRect">
            <a:avLst>
              <a:gd name="adj" fmla="val 15000"/>
            </a:avLst>
          </a:prstGeom>
          <a:solidFill>
            <a:srgbClr val="0E1A12"/>
          </a:solidFill>
          <a:ln w="9525">
            <a:solidFill>
              <a:srgbClr val="2E4A3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52" name="Rounded Rectangle 51"/>
          <p:cNvSpPr/>
          <p:nvPr/>
        </p:nvSpPr>
        <p:spPr>
          <a:xfrm>
            <a:off x="10771632" y="3584448"/>
            <a:ext cx="146304" cy="237744"/>
          </a:xfrm>
          <a:prstGeom prst="roundRect">
            <a:avLst>
              <a:gd name="adj" fmla="val 15000"/>
            </a:avLst>
          </a:prstGeom>
          <a:solidFill>
            <a:srgbClr val="0E1A12"/>
          </a:solidFill>
          <a:ln w="9525">
            <a:solidFill>
              <a:srgbClr val="2E4A3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53" name="Rounded Rectangle 52"/>
          <p:cNvSpPr/>
          <p:nvPr/>
        </p:nvSpPr>
        <p:spPr>
          <a:xfrm>
            <a:off x="10936224" y="3584448"/>
            <a:ext cx="146304" cy="237744"/>
          </a:xfrm>
          <a:prstGeom prst="roundRect">
            <a:avLst>
              <a:gd name="adj" fmla="val 15000"/>
            </a:avLst>
          </a:prstGeom>
          <a:solidFill>
            <a:srgbClr val="0E1A12"/>
          </a:solidFill>
          <a:ln w="9525">
            <a:solidFill>
              <a:srgbClr val="2E4A3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54" name="Rounded Rectangle 53"/>
          <p:cNvSpPr/>
          <p:nvPr/>
        </p:nvSpPr>
        <p:spPr>
          <a:xfrm>
            <a:off x="11100815" y="3584448"/>
            <a:ext cx="146304" cy="237744"/>
          </a:xfrm>
          <a:prstGeom prst="roundRect">
            <a:avLst>
              <a:gd name="adj" fmla="val 15000"/>
            </a:avLst>
          </a:prstGeom>
          <a:solidFill>
            <a:srgbClr val="0E1A12"/>
          </a:solidFill>
          <a:ln w="9525">
            <a:solidFill>
              <a:srgbClr val="2E4A3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55" name="Rounded Rectangle 54"/>
          <p:cNvSpPr/>
          <p:nvPr/>
        </p:nvSpPr>
        <p:spPr>
          <a:xfrm>
            <a:off x="11265408" y="3584448"/>
            <a:ext cx="146304" cy="237744"/>
          </a:xfrm>
          <a:prstGeom prst="roundRect">
            <a:avLst>
              <a:gd name="adj" fmla="val 15000"/>
            </a:avLst>
          </a:prstGeom>
          <a:solidFill>
            <a:srgbClr val="0E1A12"/>
          </a:solidFill>
          <a:ln w="9525">
            <a:solidFill>
              <a:srgbClr val="2E4A3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56" name="Rounded Rectangle 55"/>
          <p:cNvSpPr/>
          <p:nvPr/>
        </p:nvSpPr>
        <p:spPr>
          <a:xfrm>
            <a:off x="11430000" y="3584448"/>
            <a:ext cx="146304" cy="237744"/>
          </a:xfrm>
          <a:prstGeom prst="roundRect">
            <a:avLst>
              <a:gd name="adj" fmla="val 15000"/>
            </a:avLst>
          </a:prstGeom>
          <a:solidFill>
            <a:srgbClr val="0E1A12"/>
          </a:solidFill>
          <a:ln w="9525">
            <a:solidFill>
              <a:srgbClr val="2E4A3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57" name="TextBox 56"/>
          <p:cNvSpPr txBox="1"/>
          <p:nvPr/>
        </p:nvSpPr>
        <p:spPr>
          <a:xfrm>
            <a:off x="7150608" y="3913632"/>
            <a:ext cx="4434840" cy="457200"/>
          </a:xfrm>
          <a:prstGeom prst="rect">
            <a:avLst/>
          </a:prstGeom>
          <a:noFill/>
        </p:spPr>
        <p:txBody>
          <a:bodyPr wrap="square" lIns="0" rIns="0" tIns="0" bIns="0" anchor="t"/>
          <a:lstStyle/>
          <a:p>
            <a:pPr algn="l">
              <a:lnSpc>
                <a:spcPct val="100000"/>
              </a:lnSpc>
              <a:spcAft>
                <a:spcPts val="200"/>
              </a:spcAft>
            </a:pPr>
            <a:r>
              <a:rPr sz="1000" b="0" i="0">
                <a:solidFill>
                  <a:srgbClr val="A9C2AE"/>
                </a:solidFill>
                <a:latin typeface="Arial"/>
              </a:rPr>
              <a:t>Rule 4 keeps each cable whole, in pair order, so both baseplates stay half empty. Capacity (rule 3) and the spare reserve (rule 5) must absorb that.</a:t>
            </a:r>
          </a:p>
        </p:txBody>
      </p:sp>
      <p:sp>
        <p:nvSpPr>
          <p:cNvPr id="58" name="TextBox 57"/>
          <p:cNvSpPr txBox="1"/>
          <p:nvPr/>
        </p:nvSpPr>
        <p:spPr>
          <a:xfrm>
            <a:off x="7150608" y="4498848"/>
            <a:ext cx="4434840" cy="237744"/>
          </a:xfrm>
          <a:prstGeom prst="rect">
            <a:avLst/>
          </a:prstGeom>
          <a:noFill/>
        </p:spPr>
        <p:txBody>
          <a:bodyPr wrap="square" lIns="0" rIns="0" tIns="0" bIns="0" anchor="t"/>
          <a:lstStyle/>
          <a:p>
            <a:pPr algn="l">
              <a:lnSpc>
                <a:spcPct val="100000"/>
              </a:lnSpc>
              <a:spcAft>
                <a:spcPts val="200"/>
              </a:spcAft>
            </a:pPr>
            <a:r>
              <a:rPr sz="1000" b="1" i="0">
                <a:solidFill>
                  <a:srgbClr val="4DD262"/>
                </a:solidFill>
                <a:latin typeface="Arial"/>
              </a:rPr>
              <a:t>SIX RULES, ELEVEN INDEPENDENT CHECKS</a:t>
            </a:r>
          </a:p>
        </p:txBody>
      </p:sp>
      <p:sp>
        <p:nvSpPr>
          <p:cNvPr id="59" name="Rounded Rectangle 58"/>
          <p:cNvSpPr/>
          <p:nvPr/>
        </p:nvSpPr>
        <p:spPr>
          <a:xfrm>
            <a:off x="7150608" y="4773168"/>
            <a:ext cx="1426464" cy="329184"/>
          </a:xfrm>
          <a:prstGeom prst="roundRect">
            <a:avLst>
              <a:gd name="adj" fmla="val 25000"/>
            </a:avLst>
          </a:prstGeom>
          <a:solidFill>
            <a:srgbClr val="0C2412"/>
          </a:solidFill>
          <a:ln w="12700">
            <a:solidFill>
              <a:srgbClr val="1F5F2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200"/>
              </a:spcAft>
            </a:pPr>
            <a:r>
              <a:rPr sz="930" b="0" i="0">
                <a:solidFill>
                  <a:srgbClr val="FFFFFF"/>
                </a:solidFill>
                <a:latin typeface="Arial"/>
              </a:rPr>
              <a:t>1 Groups together </a:t>
            </a:r>
            <a:r>
              <a:rPr sz="930" b="1" i="0">
                <a:solidFill>
                  <a:srgbClr val="FFB547"/>
                </a:solidFill>
                <a:latin typeface="Arial"/>
              </a:rPr>
              <a:t>G-1</a:t>
            </a:r>
          </a:p>
        </p:txBody>
      </p:sp>
      <p:sp>
        <p:nvSpPr>
          <p:cNvPr id="60" name="Rounded Rectangle 59"/>
          <p:cNvSpPr/>
          <p:nvPr/>
        </p:nvSpPr>
        <p:spPr>
          <a:xfrm>
            <a:off x="8654796" y="4773168"/>
            <a:ext cx="1426464" cy="329184"/>
          </a:xfrm>
          <a:prstGeom prst="roundRect">
            <a:avLst>
              <a:gd name="adj" fmla="val 25000"/>
            </a:avLst>
          </a:prstGeom>
          <a:solidFill>
            <a:srgbClr val="0C2412"/>
          </a:solidFill>
          <a:ln w="12700">
            <a:solidFill>
              <a:srgbClr val="1F5F2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200"/>
              </a:spcAft>
            </a:pPr>
            <a:r>
              <a:rPr sz="930" b="0" i="0">
                <a:solidFill>
                  <a:srgbClr val="FFFFFF"/>
                </a:solidFill>
                <a:latin typeface="Arial"/>
              </a:rPr>
              <a:t>2 A and B apart </a:t>
            </a:r>
            <a:r>
              <a:rPr sz="930" b="1" i="0">
                <a:solidFill>
                  <a:srgbClr val="FFB547"/>
                </a:solidFill>
                <a:latin typeface="Arial"/>
              </a:rPr>
              <a:t>S-1</a:t>
            </a:r>
          </a:p>
        </p:txBody>
      </p:sp>
      <p:sp>
        <p:nvSpPr>
          <p:cNvPr id="61" name="Rounded Rectangle 60"/>
          <p:cNvSpPr/>
          <p:nvPr/>
        </p:nvSpPr>
        <p:spPr>
          <a:xfrm>
            <a:off x="10158984" y="4773168"/>
            <a:ext cx="1426464" cy="329184"/>
          </a:xfrm>
          <a:prstGeom prst="roundRect">
            <a:avLst>
              <a:gd name="adj" fmla="val 25000"/>
            </a:avLst>
          </a:prstGeom>
          <a:solidFill>
            <a:srgbClr val="0C2412"/>
          </a:solidFill>
          <a:ln w="12700">
            <a:solidFill>
              <a:srgbClr val="1F5F2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200"/>
              </a:spcAft>
            </a:pPr>
            <a:r>
              <a:rPr sz="930" b="0" i="0">
                <a:solidFill>
                  <a:srgbClr val="FFFFFF"/>
                </a:solidFill>
                <a:latin typeface="Arial"/>
              </a:rPr>
              <a:t>3 Capacity 12·8·4 </a:t>
            </a:r>
            <a:r>
              <a:rPr sz="930" b="1" i="0">
                <a:solidFill>
                  <a:srgbClr val="FFB547"/>
                </a:solidFill>
                <a:latin typeface="Arial"/>
              </a:rPr>
              <a:t>C-1</a:t>
            </a:r>
          </a:p>
        </p:txBody>
      </p:sp>
      <p:sp>
        <p:nvSpPr>
          <p:cNvPr id="62" name="Rounded Rectangle 61"/>
          <p:cNvSpPr/>
          <p:nvPr/>
        </p:nvSpPr>
        <p:spPr>
          <a:xfrm>
            <a:off x="7150608" y="5175504"/>
            <a:ext cx="1426464" cy="329184"/>
          </a:xfrm>
          <a:prstGeom prst="roundRect">
            <a:avLst>
              <a:gd name="adj" fmla="val 25000"/>
            </a:avLst>
          </a:prstGeom>
          <a:solidFill>
            <a:srgbClr val="0C2412"/>
          </a:solidFill>
          <a:ln w="12700">
            <a:solidFill>
              <a:srgbClr val="1F5F2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200"/>
              </a:spcAft>
            </a:pPr>
            <a:r>
              <a:rPr sz="930" b="0" i="0">
                <a:solidFill>
                  <a:srgbClr val="FFFFFF"/>
                </a:solidFill>
                <a:latin typeface="Arial"/>
              </a:rPr>
              <a:t>4 Cable intact </a:t>
            </a:r>
            <a:r>
              <a:rPr sz="930" b="1" i="0">
                <a:solidFill>
                  <a:srgbClr val="FFB547"/>
                </a:solidFill>
                <a:latin typeface="Arial"/>
              </a:rPr>
              <a:t>K-1</a:t>
            </a:r>
          </a:p>
        </p:txBody>
      </p:sp>
      <p:sp>
        <p:nvSpPr>
          <p:cNvPr id="63" name="Rounded Rectangle 62"/>
          <p:cNvSpPr/>
          <p:nvPr/>
        </p:nvSpPr>
        <p:spPr>
          <a:xfrm>
            <a:off x="8654796" y="5175504"/>
            <a:ext cx="1426464" cy="329184"/>
          </a:xfrm>
          <a:prstGeom prst="roundRect">
            <a:avLst>
              <a:gd name="adj" fmla="val 25000"/>
            </a:avLst>
          </a:prstGeom>
          <a:solidFill>
            <a:srgbClr val="0C2412"/>
          </a:solidFill>
          <a:ln w="12700">
            <a:solidFill>
              <a:srgbClr val="1F5F2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200"/>
              </a:spcAft>
            </a:pPr>
            <a:r>
              <a:rPr sz="930" b="0" i="0">
                <a:solidFill>
                  <a:srgbClr val="FFFFFF"/>
                </a:solidFill>
                <a:latin typeface="Arial"/>
              </a:rPr>
              <a:t>5 ~10% spare </a:t>
            </a:r>
            <a:r>
              <a:rPr sz="930" b="1" i="0">
                <a:solidFill>
                  <a:srgbClr val="FFB547"/>
                </a:solidFill>
                <a:latin typeface="Arial"/>
              </a:rPr>
              <a:t>P-1</a:t>
            </a:r>
          </a:p>
        </p:txBody>
      </p:sp>
      <p:sp>
        <p:nvSpPr>
          <p:cNvPr id="64" name="Rounded Rectangle 63"/>
          <p:cNvSpPr/>
          <p:nvPr/>
        </p:nvSpPr>
        <p:spPr>
          <a:xfrm>
            <a:off x="10158984" y="5175504"/>
            <a:ext cx="1426464" cy="329184"/>
          </a:xfrm>
          <a:prstGeom prst="roundRect">
            <a:avLst>
              <a:gd name="adj" fmla="val 25000"/>
            </a:avLst>
          </a:prstGeom>
          <a:solidFill>
            <a:srgbClr val="0C2412"/>
          </a:solidFill>
          <a:ln w="12700">
            <a:solidFill>
              <a:srgbClr val="1F5F2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200"/>
              </a:spcAft>
            </a:pPr>
            <a:r>
              <a:rPr sz="930" b="0" i="0">
                <a:solidFill>
                  <a:srgbClr val="FFFFFF"/>
                </a:solidFill>
                <a:latin typeface="Arial"/>
              </a:rPr>
              <a:t>6 CHARM + block </a:t>
            </a:r>
            <a:r>
              <a:rPr sz="930" b="1" i="0">
                <a:solidFill>
                  <a:srgbClr val="FFB547"/>
                </a:solidFill>
                <a:latin typeface="Arial"/>
              </a:rPr>
              <a:t>H-1..6</a:t>
            </a:r>
          </a:p>
        </p:txBody>
      </p:sp>
      <p:sp>
        <p:nvSpPr>
          <p:cNvPr id="65" name="Rounded Rectangle 64"/>
          <p:cNvSpPr/>
          <p:nvPr/>
        </p:nvSpPr>
        <p:spPr>
          <a:xfrm>
            <a:off x="7150608" y="5596128"/>
            <a:ext cx="4434840" cy="457200"/>
          </a:xfrm>
          <a:prstGeom prst="roundRect">
            <a:avLst>
              <a:gd name="adj" fmla="val 10000"/>
            </a:avLst>
          </a:prstGeom>
          <a:solidFill>
            <a:srgbClr val="0A2433"/>
          </a:solidFill>
          <a:ln w="12700">
            <a:solidFill>
              <a:srgbClr val="6FD3FF"/>
            </a:solidFill>
          </a:ln>
          <a:effectLst/>
        </p:spPr>
        <p:style>
          <a:lnRef idx="1">
            <a:schemeClr val="accent1"/>
          </a:lnRef>
          <a:fillRef idx="3">
            <a:schemeClr val="accent1"/>
          </a:fillRef>
          <a:effectRef idx="2">
            <a:schemeClr val="accent1"/>
          </a:effectRef>
          <a:fontRef idx="minor">
            <a:schemeClr val="lt1"/>
          </a:fontRef>
        </p:style>
        <p:txBody>
          <a:bodyPr rtlCol="0" anchor="ctr" tIns="91440" bIns="91440" wrap="square"/>
          <a:lstStyle/>
          <a:p>
            <a:pPr algn="l">
              <a:lnSpc>
                <a:spcPct val="100000"/>
              </a:lnSpc>
              <a:spcAft>
                <a:spcPts val="200"/>
              </a:spcAft>
            </a:pPr>
            <a:r>
              <a:rPr sz="930" b="1" i="0">
                <a:solidFill>
                  <a:srgbClr val="6FD3FF"/>
                </a:solidFill>
                <a:latin typeface="Arial"/>
              </a:rPr>
              <a:t>+5 checks on data and output: </a:t>
            </a:r>
            <a:r>
              <a:rPr sz="930" b="0" i="0">
                <a:solidFill>
                  <a:srgbClr val="EAF5EC"/>
                </a:solidFill>
                <a:latin typeface="Arial"/>
              </a:rPr>
              <a:t>Q-1 every signal placed or queried · D-2 one signal per slot · N-1..6 names · C-2 controllers · M-1 rows match the MDB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emplate background" descr="bg3.jpg"/>
          <p:cNvPicPr>
            <a:picLocks noChangeAspect="1"/>
          </p:cNvPicPr>
          <p:nvPr/>
        </p:nvPicPr>
        <p:blipFill>
          <a:blip r:embed="rId2"/>
          <a:stretch>
            <a:fillRect/>
          </a:stretch>
        </p:blipFill>
        <p:spPr>
          <a:xfrm>
            <a:off x="0" y="0"/>
            <a:ext cx="12191695" cy="6819206"/>
          </a:xfrm>
          <a:prstGeom prst="rect">
            <a:avLst/>
          </a:prstGeom>
        </p:spPr>
      </p:pic>
      <p:sp>
        <p:nvSpPr>
          <p:cNvPr id="3" name="TextBox 2"/>
          <p:cNvSpPr txBox="1"/>
          <p:nvPr/>
        </p:nvSpPr>
        <p:spPr>
          <a:xfrm>
            <a:off x="640080" y="2560320"/>
            <a:ext cx="6492240" cy="960120"/>
          </a:xfrm>
          <a:prstGeom prst="rect">
            <a:avLst/>
          </a:prstGeom>
          <a:noFill/>
        </p:spPr>
        <p:txBody>
          <a:bodyPr wrap="square" lIns="0" rIns="0" tIns="0" bIns="0" anchor="t"/>
          <a:lstStyle/>
          <a:p>
            <a:pPr algn="l" marL="146304" indent="-146304">
              <a:lnSpc>
                <a:spcPct val="100000"/>
              </a:lnSpc>
              <a:spcAft>
                <a:spcPts val="100"/>
              </a:spcAft>
              <a:buFont typeface="Arial"/>
              <a:buChar char="•"/>
            </a:pPr>
            <a:r>
              <a:rPr sz="1180" b="1" i="0">
                <a:solidFill>
                  <a:srgbClr val="FFFFFF"/>
                </a:solidFill>
                <a:latin typeface="Arial"/>
              </a:rPr>
              <a:t>Independently checked: </a:t>
            </a:r>
            <a:r>
              <a:rPr sz="1180" b="0" i="0">
                <a:solidFill>
                  <a:srgbClr val="EAF5EC"/>
                </a:solidFill>
                <a:latin typeface="Arial"/>
              </a:rPr>
              <a:t>a separate module re-reads the exported file (11 checks).</a:t>
            </a:r>
          </a:p>
          <a:p>
            <a:pPr algn="l" marL="146304" indent="-146304">
              <a:lnSpc>
                <a:spcPct val="100000"/>
              </a:lnSpc>
              <a:spcAft>
                <a:spcPts val="100"/>
              </a:spcAft>
              <a:buFont typeface="Arial"/>
              <a:buChar char="•"/>
            </a:pPr>
            <a:r>
              <a:rPr sz="1180" b="1" i="0">
                <a:solidFill>
                  <a:srgbClr val="FFFFFF"/>
                </a:solidFill>
                <a:latin typeface="Arial"/>
              </a:rPr>
              <a:t>Revision-aware: </a:t>
            </a:r>
            <a:r>
              <a:rPr sz="1180" b="0" i="0">
                <a:solidFill>
                  <a:srgbClr val="EAF5EC"/>
                </a:solidFill>
                <a:latin typeface="Arial"/>
              </a:rPr>
              <a:t>unchanged cables stay put; CP-SAT repairs a local window.</a:t>
            </a:r>
          </a:p>
          <a:p>
            <a:pPr algn="l" marL="146304" indent="-146304">
              <a:lnSpc>
                <a:spcPct val="100000"/>
              </a:lnSpc>
              <a:spcAft>
                <a:spcPts val="100"/>
              </a:spcAft>
              <a:buFont typeface="Arial"/>
              <a:buChar char="•"/>
            </a:pPr>
            <a:r>
              <a:rPr sz="1180" b="1" i="0">
                <a:solidFill>
                  <a:srgbClr val="FFFFFF"/>
                </a:solidFill>
                <a:latin typeface="Arial"/>
              </a:rPr>
              <a:t>Configurable: </a:t>
            </a:r>
            <a:r>
              <a:rPr sz="1180" b="0" i="0">
                <a:solidFill>
                  <a:srgbClr val="EAF5EC"/>
                </a:solidFill>
                <a:latin typeface="Arial"/>
              </a:rPr>
              <a:t>rule parameters live in JSON; new rule types may need code.</a:t>
            </a:r>
          </a:p>
          <a:p>
            <a:pPr algn="l" marL="146304" indent="-146304">
              <a:lnSpc>
                <a:spcPct val="100000"/>
              </a:lnSpc>
              <a:spcAft>
                <a:spcPts val="100"/>
              </a:spcAft>
              <a:buFont typeface="Arial"/>
              <a:buChar char="•"/>
            </a:pPr>
            <a:r>
              <a:rPr sz="1180" b="1" i="0">
                <a:solidFill>
                  <a:srgbClr val="FFFFFF"/>
                </a:solidFill>
                <a:latin typeface="Arial"/>
              </a:rPr>
              <a:t>Traceable: </a:t>
            </a:r>
            <a:r>
              <a:rPr sz="1180" b="0" i="0">
                <a:solidFill>
                  <a:srgbClr val="EAF5EC"/>
                </a:solidFill>
                <a:latin typeface="Arial"/>
              </a:rPr>
              <a:t>every TQ cites a rule ID and the file, sheet and row.</a:t>
            </a:r>
          </a:p>
        </p:txBody>
      </p:sp>
      <p:sp>
        <p:nvSpPr>
          <p:cNvPr id="4" name="TextBox 3"/>
          <p:cNvSpPr txBox="1"/>
          <p:nvPr/>
        </p:nvSpPr>
        <p:spPr>
          <a:xfrm>
            <a:off x="640080" y="3858768"/>
            <a:ext cx="6492240" cy="1005840"/>
          </a:xfrm>
          <a:prstGeom prst="rect">
            <a:avLst/>
          </a:prstGeom>
          <a:noFill/>
        </p:spPr>
        <p:txBody>
          <a:bodyPr wrap="square" lIns="0" rIns="0" tIns="0" bIns="0" anchor="t"/>
          <a:lstStyle/>
          <a:p>
            <a:pPr algn="l">
              <a:lnSpc>
                <a:spcPct val="100000"/>
              </a:lnSpc>
              <a:spcAft>
                <a:spcPts val="200"/>
              </a:spcAft>
            </a:pPr>
            <a:r>
              <a:rPr sz="1180" b="1" i="0">
                <a:solidFill>
                  <a:srgbClr val="FFFFFF"/>
                </a:solidFill>
                <a:latin typeface="Arial"/>
              </a:rPr>
              <a:t>Baseline allocation is constructive, with no solver: </a:t>
            </a:r>
            <a:r>
              <a:rPr sz="1180" b="0" i="0">
                <a:solidFill>
                  <a:srgbClr val="EAF5EC"/>
                </a:solidFill>
                <a:latin typeface="Arial"/>
              </a:rPr>
              <a:t>each cable becomes one block of 24/12/6/2 slots and first-fit-decreasing (FFD) packs blocks per group and A/B side into baseplates, CIOCs and cabinets. </a:t>
            </a:r>
            <a:r>
              <a:rPr sz="1180" b="0" i="0">
                <a:solidFill>
                  <a:srgbClr val="A9C2AE"/>
                </a:solidFill>
                <a:latin typeface="Arial"/>
              </a:rPr>
              <a:t>CP-SAT enters only to repair a revision (10 s limit per window) and reports each window as proven exact or best found.</a:t>
            </a:r>
          </a:p>
        </p:txBody>
      </p:sp>
      <p:sp>
        <p:nvSpPr>
          <p:cNvPr id="5" name="TextBox 4"/>
          <p:cNvSpPr txBox="1"/>
          <p:nvPr/>
        </p:nvSpPr>
        <p:spPr>
          <a:xfrm>
            <a:off x="640080" y="5138928"/>
            <a:ext cx="6492240" cy="868680"/>
          </a:xfrm>
          <a:prstGeom prst="rect">
            <a:avLst/>
          </a:prstGeom>
          <a:noFill/>
        </p:spPr>
        <p:txBody>
          <a:bodyPr wrap="square" lIns="0" rIns="0" tIns="0" bIns="0" anchor="t"/>
          <a:lstStyle/>
          <a:p>
            <a:pPr algn="l">
              <a:lnSpc>
                <a:spcPct val="100000"/>
              </a:lnSpc>
              <a:spcAft>
                <a:spcPts val="200"/>
              </a:spcAft>
            </a:pPr>
            <a:r>
              <a:rPr sz="1200" b="0" i="0">
                <a:solidFill>
                  <a:srgbClr val="EAF5EC"/>
                </a:solidFill>
                <a:latin typeface="Arial"/>
              </a:rPr>
              <a:t>Open-source Python, OR-Tools and openpyxl; 122 automated tests pass. The prototype allocates and verifies 20,033 synthetic signals in about 6 s on a laptop (slide 6). AI helpers are planned and would only suggest; none runs today.</a:t>
            </a:r>
          </a:p>
        </p:txBody>
      </p:sp>
      <p:sp>
        <p:nvSpPr>
          <p:cNvPr id="6" name="Rounded Rectangle 5"/>
          <p:cNvSpPr/>
          <p:nvPr/>
        </p:nvSpPr>
        <p:spPr>
          <a:xfrm>
            <a:off x="7269480" y="1755648"/>
            <a:ext cx="4498848" cy="2788920"/>
          </a:xfrm>
          <a:prstGeom prst="roundRect">
            <a:avLst>
              <a:gd name="adj" fmla="val 4000"/>
            </a:avLst>
          </a:prstGeom>
          <a:solidFill>
            <a:srgbClr val="06140A">
              <a:alpha val="90000"/>
            </a:srgbClr>
          </a:solidFill>
          <a:ln w="12700">
            <a:solidFill>
              <a:srgbClr val="1F5F2A"/>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7" name="TextBox 6"/>
          <p:cNvSpPr txBox="1"/>
          <p:nvPr/>
        </p:nvSpPr>
        <p:spPr>
          <a:xfrm>
            <a:off x="7434072" y="1828800"/>
            <a:ext cx="4224528" cy="274320"/>
          </a:xfrm>
          <a:prstGeom prst="rect">
            <a:avLst/>
          </a:prstGeom>
          <a:noFill/>
        </p:spPr>
        <p:txBody>
          <a:bodyPr wrap="square" lIns="0" rIns="0" tIns="0" bIns="0" anchor="t"/>
          <a:lstStyle/>
          <a:p>
            <a:pPr algn="l">
              <a:lnSpc>
                <a:spcPct val="100000"/>
              </a:lnSpc>
              <a:spcAft>
                <a:spcPts val="200"/>
              </a:spcAft>
            </a:pPr>
            <a:r>
              <a:rPr sz="1100" b="1" i="0">
                <a:solidFill>
                  <a:srgbClr val="4DD262"/>
                </a:solidFill>
                <a:latin typeface="Arial"/>
              </a:rPr>
              <a:t>WORKFLOW</a:t>
            </a:r>
          </a:p>
        </p:txBody>
      </p:sp>
      <p:sp>
        <p:nvSpPr>
          <p:cNvPr id="8" name="Rounded Rectangle 7"/>
          <p:cNvSpPr/>
          <p:nvPr/>
        </p:nvSpPr>
        <p:spPr>
          <a:xfrm>
            <a:off x="7434072" y="2139696"/>
            <a:ext cx="1097280" cy="365760"/>
          </a:xfrm>
          <a:prstGeom prst="roundRect">
            <a:avLst>
              <a:gd name="adj" fmla="val 15000"/>
            </a:avLst>
          </a:prstGeom>
          <a:solidFill>
            <a:srgbClr val="0C2412"/>
          </a:solidFill>
          <a:ln w="17780">
            <a:solidFill>
              <a:srgbClr val="4DD26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200"/>
              </a:spcAft>
            </a:pPr>
            <a:r>
              <a:rPr sz="1150" b="1" i="0">
                <a:solidFill>
                  <a:srgbClr val="4DD262"/>
                </a:solidFill>
                <a:latin typeface="Arial"/>
              </a:rPr>
              <a:t>1 Input</a:t>
            </a:r>
          </a:p>
        </p:txBody>
      </p:sp>
      <p:sp>
        <p:nvSpPr>
          <p:cNvPr id="9" name="TextBox 8"/>
          <p:cNvSpPr txBox="1"/>
          <p:nvPr/>
        </p:nvSpPr>
        <p:spPr>
          <a:xfrm>
            <a:off x="8641080" y="2121408"/>
            <a:ext cx="2990088" cy="411480"/>
          </a:xfrm>
          <a:prstGeom prst="rect">
            <a:avLst/>
          </a:prstGeom>
          <a:noFill/>
        </p:spPr>
        <p:txBody>
          <a:bodyPr wrap="square" lIns="0" rIns="0" tIns="0" bIns="0" anchor="ctr"/>
          <a:lstStyle/>
          <a:p>
            <a:pPr algn="l">
              <a:lnSpc>
                <a:spcPct val="100000"/>
              </a:lnSpc>
              <a:spcAft>
                <a:spcPts val="200"/>
              </a:spcAft>
            </a:pPr>
            <a:r>
              <a:rPr sz="1030" b="0" i="0">
                <a:solidFill>
                  <a:srgbClr val="EAF5EC"/>
                </a:solidFill>
                <a:latin typeface="Arial"/>
              </a:rPr>
              <a:t>Excel or CSV lists; columns auto-mapped; file · sheet · row kept</a:t>
            </a:r>
          </a:p>
        </p:txBody>
      </p:sp>
      <p:cxnSp>
        <p:nvCxnSpPr>
          <p:cNvPr id="10" name="Connector 9"/>
          <p:cNvCxnSpPr/>
          <p:nvPr/>
        </p:nvCxnSpPr>
        <p:spPr>
          <a:xfrm>
            <a:off x="7982712" y="2505456"/>
            <a:ext cx="0" cy="109728"/>
          </a:xfrm>
          <a:prstGeom prst="line">
            <a:avLst/>
          </a:prstGeom>
          <a:ln w="17780">
            <a:solidFill>
              <a:srgbClr val="4DD26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434072" y="2615184"/>
            <a:ext cx="1097280" cy="365760"/>
          </a:xfrm>
          <a:prstGeom prst="roundRect">
            <a:avLst>
              <a:gd name="adj" fmla="val 15000"/>
            </a:avLst>
          </a:prstGeom>
          <a:solidFill>
            <a:srgbClr val="0C2412"/>
          </a:solidFill>
          <a:ln w="17780">
            <a:solidFill>
              <a:srgbClr val="4DD26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200"/>
              </a:spcAft>
            </a:pPr>
            <a:r>
              <a:rPr sz="1150" b="1" i="0">
                <a:solidFill>
                  <a:srgbClr val="4DD262"/>
                </a:solidFill>
                <a:latin typeface="Arial"/>
              </a:rPr>
              <a:t>2 Validate</a:t>
            </a:r>
          </a:p>
        </p:txBody>
      </p:sp>
      <p:sp>
        <p:nvSpPr>
          <p:cNvPr id="12" name="TextBox 11"/>
          <p:cNvSpPr txBox="1"/>
          <p:nvPr/>
        </p:nvSpPr>
        <p:spPr>
          <a:xfrm>
            <a:off x="8641080" y="2596896"/>
            <a:ext cx="2990088" cy="411480"/>
          </a:xfrm>
          <a:prstGeom prst="rect">
            <a:avLst/>
          </a:prstGeom>
          <a:noFill/>
        </p:spPr>
        <p:txBody>
          <a:bodyPr wrap="square" lIns="0" rIns="0" tIns="0" bIns="0" anchor="ctr"/>
          <a:lstStyle/>
          <a:p>
            <a:pPr algn="l">
              <a:lnSpc>
                <a:spcPct val="100000"/>
              </a:lnSpc>
              <a:spcAft>
                <a:spcPts val="200"/>
              </a:spcAft>
            </a:pPr>
            <a:r>
              <a:rPr sz="1030" b="0" i="0">
                <a:solidFill>
                  <a:srgbClr val="EAF5EC"/>
                </a:solidFill>
                <a:latin typeface="Arial"/>
              </a:rPr>
              <a:t>Missing, duplicate or conflicting data → TQs with rule ID</a:t>
            </a:r>
          </a:p>
        </p:txBody>
      </p:sp>
      <p:cxnSp>
        <p:nvCxnSpPr>
          <p:cNvPr id="13" name="Connector 12"/>
          <p:cNvCxnSpPr/>
          <p:nvPr/>
        </p:nvCxnSpPr>
        <p:spPr>
          <a:xfrm>
            <a:off x="7982712" y="2980944"/>
            <a:ext cx="0" cy="109728"/>
          </a:xfrm>
          <a:prstGeom prst="line">
            <a:avLst/>
          </a:prstGeom>
          <a:ln w="17780">
            <a:solidFill>
              <a:srgbClr val="4DD26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434072" y="3090672"/>
            <a:ext cx="1097280" cy="365760"/>
          </a:xfrm>
          <a:prstGeom prst="roundRect">
            <a:avLst>
              <a:gd name="adj" fmla="val 15000"/>
            </a:avLst>
          </a:prstGeom>
          <a:solidFill>
            <a:srgbClr val="0C2412"/>
          </a:solidFill>
          <a:ln w="17780">
            <a:solidFill>
              <a:srgbClr val="4DD26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200"/>
              </a:spcAft>
            </a:pPr>
            <a:r>
              <a:rPr sz="1150" b="1" i="0">
                <a:solidFill>
                  <a:srgbClr val="4DD262"/>
                </a:solidFill>
                <a:latin typeface="Arial"/>
              </a:rPr>
              <a:t>3 Allocate</a:t>
            </a:r>
          </a:p>
        </p:txBody>
      </p:sp>
      <p:sp>
        <p:nvSpPr>
          <p:cNvPr id="15" name="TextBox 14"/>
          <p:cNvSpPr txBox="1"/>
          <p:nvPr/>
        </p:nvSpPr>
        <p:spPr>
          <a:xfrm>
            <a:off x="8641080" y="3072384"/>
            <a:ext cx="2990088" cy="411480"/>
          </a:xfrm>
          <a:prstGeom prst="rect">
            <a:avLst/>
          </a:prstGeom>
          <a:noFill/>
        </p:spPr>
        <p:txBody>
          <a:bodyPr wrap="square" lIns="0" rIns="0" tIns="0" bIns="0" anchor="ctr"/>
          <a:lstStyle/>
          <a:p>
            <a:pPr algn="l">
              <a:lnSpc>
                <a:spcPct val="100000"/>
              </a:lnSpc>
              <a:spcAft>
                <a:spcPts val="200"/>
              </a:spcAft>
            </a:pPr>
            <a:r>
              <a:rPr sz="1030" b="0" i="0">
                <a:solidFill>
                  <a:srgbClr val="EAF5EC"/>
                </a:solidFill>
                <a:latin typeface="Arial"/>
              </a:rPr>
              <a:t>Constructive first-fit-decreasing packing, no solver</a:t>
            </a:r>
          </a:p>
        </p:txBody>
      </p:sp>
      <p:cxnSp>
        <p:nvCxnSpPr>
          <p:cNvPr id="16" name="Connector 15"/>
          <p:cNvCxnSpPr/>
          <p:nvPr/>
        </p:nvCxnSpPr>
        <p:spPr>
          <a:xfrm>
            <a:off x="7982712" y="3456432"/>
            <a:ext cx="0" cy="109728"/>
          </a:xfrm>
          <a:prstGeom prst="line">
            <a:avLst/>
          </a:prstGeom>
          <a:ln w="17780">
            <a:solidFill>
              <a:srgbClr val="4DD26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434072" y="3566160"/>
            <a:ext cx="1097280" cy="365760"/>
          </a:xfrm>
          <a:prstGeom prst="roundRect">
            <a:avLst>
              <a:gd name="adj" fmla="val 15000"/>
            </a:avLst>
          </a:prstGeom>
          <a:solidFill>
            <a:srgbClr val="2A1F0A"/>
          </a:solidFill>
          <a:ln w="17780">
            <a:solidFill>
              <a:srgbClr val="FFB54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200"/>
              </a:spcAft>
            </a:pPr>
            <a:r>
              <a:rPr sz="1150" b="1" i="0">
                <a:solidFill>
                  <a:srgbClr val="FFB547"/>
                </a:solidFill>
                <a:latin typeface="Arial"/>
              </a:rPr>
              <a:t>4 Verify</a:t>
            </a:r>
          </a:p>
        </p:txBody>
      </p:sp>
      <p:sp>
        <p:nvSpPr>
          <p:cNvPr id="18" name="TextBox 17"/>
          <p:cNvSpPr txBox="1"/>
          <p:nvPr/>
        </p:nvSpPr>
        <p:spPr>
          <a:xfrm>
            <a:off x="8641080" y="3547872"/>
            <a:ext cx="2990088" cy="411480"/>
          </a:xfrm>
          <a:prstGeom prst="rect">
            <a:avLst/>
          </a:prstGeom>
          <a:noFill/>
        </p:spPr>
        <p:txBody>
          <a:bodyPr wrap="square" lIns="0" rIns="0" tIns="0" bIns="0" anchor="ctr"/>
          <a:lstStyle/>
          <a:p>
            <a:pPr algn="l">
              <a:lnSpc>
                <a:spcPct val="100000"/>
              </a:lnSpc>
              <a:spcAft>
                <a:spcPts val="200"/>
              </a:spcAft>
            </a:pPr>
            <a:r>
              <a:rPr sz="1030" b="0" i="0">
                <a:solidFill>
                  <a:srgbClr val="EAF5EC"/>
                </a:solidFill>
                <a:latin typeface="Arial"/>
              </a:rPr>
              <a:t>Separate module re-reads the exported file; 11 checks</a:t>
            </a:r>
          </a:p>
        </p:txBody>
      </p:sp>
      <p:cxnSp>
        <p:nvCxnSpPr>
          <p:cNvPr id="19" name="Connector 18"/>
          <p:cNvCxnSpPr/>
          <p:nvPr/>
        </p:nvCxnSpPr>
        <p:spPr>
          <a:xfrm>
            <a:off x="7982712" y="3931920"/>
            <a:ext cx="0" cy="109728"/>
          </a:xfrm>
          <a:prstGeom prst="line">
            <a:avLst/>
          </a:prstGeom>
          <a:ln w="17780">
            <a:solidFill>
              <a:srgbClr val="FFB5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434072" y="4041648"/>
            <a:ext cx="1097280" cy="365760"/>
          </a:xfrm>
          <a:prstGeom prst="roundRect">
            <a:avLst>
              <a:gd name="adj" fmla="val 15000"/>
            </a:avLst>
          </a:prstGeom>
          <a:solidFill>
            <a:srgbClr val="0C2412"/>
          </a:solidFill>
          <a:ln w="17780">
            <a:solidFill>
              <a:srgbClr val="4DD26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200"/>
              </a:spcAft>
            </a:pPr>
            <a:r>
              <a:rPr sz="1150" b="1" i="0">
                <a:solidFill>
                  <a:srgbClr val="4DD262"/>
                </a:solidFill>
                <a:latin typeface="Arial"/>
              </a:rPr>
              <a:t>5 Revise</a:t>
            </a:r>
          </a:p>
        </p:txBody>
      </p:sp>
      <p:sp>
        <p:nvSpPr>
          <p:cNvPr id="21" name="TextBox 20"/>
          <p:cNvSpPr txBox="1"/>
          <p:nvPr/>
        </p:nvSpPr>
        <p:spPr>
          <a:xfrm>
            <a:off x="8641080" y="4023360"/>
            <a:ext cx="2990088" cy="411480"/>
          </a:xfrm>
          <a:prstGeom prst="rect">
            <a:avLst/>
          </a:prstGeom>
          <a:noFill/>
        </p:spPr>
        <p:txBody>
          <a:bodyPr wrap="square" lIns="0" rIns="0" tIns="0" bIns="0" anchor="ctr"/>
          <a:lstStyle/>
          <a:p>
            <a:pPr algn="l">
              <a:lnSpc>
                <a:spcPct val="100000"/>
              </a:lnSpc>
              <a:spcAft>
                <a:spcPts val="200"/>
              </a:spcAft>
            </a:pPr>
            <a:r>
              <a:rPr sz="1030" b="0" i="0">
                <a:solidFill>
                  <a:srgbClr val="EAF5EC"/>
                </a:solidFill>
                <a:latin typeface="Arial"/>
              </a:rPr>
              <a:t>Pin unchanged, CP-SAT window repair, impact sheet</a:t>
            </a:r>
          </a:p>
        </p:txBody>
      </p:sp>
      <p:sp>
        <p:nvSpPr>
          <p:cNvPr id="22" name="Rounded Rectangle 21"/>
          <p:cNvSpPr/>
          <p:nvPr/>
        </p:nvSpPr>
        <p:spPr>
          <a:xfrm>
            <a:off x="7269480" y="4636008"/>
            <a:ext cx="4498848" cy="1581912"/>
          </a:xfrm>
          <a:prstGeom prst="roundRect">
            <a:avLst>
              <a:gd name="adj" fmla="val 4000"/>
            </a:avLst>
          </a:prstGeom>
          <a:solidFill>
            <a:srgbClr val="06140A">
              <a:alpha val="92000"/>
            </a:srgbClr>
          </a:solidFill>
          <a:ln w="12700">
            <a:solidFill>
              <a:srgbClr val="1F5F2A"/>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3" name="Rounded Rectangle 22"/>
          <p:cNvSpPr/>
          <p:nvPr/>
        </p:nvSpPr>
        <p:spPr>
          <a:xfrm>
            <a:off x="7434072" y="4800600"/>
            <a:ext cx="1097280" cy="274320"/>
          </a:xfrm>
          <a:prstGeom prst="roundRect">
            <a:avLst>
              <a:gd name="adj" fmla="val 35000"/>
            </a:avLst>
          </a:prstGeom>
          <a:solidFill>
            <a:srgbClr val="06140A"/>
          </a:solidFill>
          <a:ln w="12700">
            <a:solidFill>
              <a:srgbClr val="4DD26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200"/>
              </a:spcAft>
            </a:pPr>
            <a:r>
              <a:rPr sz="1000" b="1" i="0">
                <a:solidFill>
                  <a:srgbClr val="4DD262"/>
                </a:solidFill>
                <a:latin typeface="Arial"/>
              </a:rPr>
              <a:t>PROVED</a:t>
            </a:r>
          </a:p>
        </p:txBody>
      </p:sp>
      <p:sp>
        <p:nvSpPr>
          <p:cNvPr id="24" name="TextBox 23"/>
          <p:cNvSpPr txBox="1"/>
          <p:nvPr/>
        </p:nvSpPr>
        <p:spPr>
          <a:xfrm>
            <a:off x="8641080" y="4727448"/>
            <a:ext cx="2990088" cy="475488"/>
          </a:xfrm>
          <a:prstGeom prst="rect">
            <a:avLst/>
          </a:prstGeom>
          <a:noFill/>
        </p:spPr>
        <p:txBody>
          <a:bodyPr wrap="square" lIns="0" rIns="0" tIns="0" bIns="0" anchor="ctr"/>
          <a:lstStyle/>
          <a:p>
            <a:pPr algn="l">
              <a:lnSpc>
                <a:spcPct val="100000"/>
              </a:lnSpc>
              <a:spcAft>
                <a:spcPts val="200"/>
              </a:spcAft>
            </a:pPr>
            <a:r>
              <a:rPr sz="1000" b="0" i="0">
                <a:solidFill>
                  <a:srgbClr val="EAF5EC"/>
                </a:solidFill>
                <a:latin typeface="Arial"/>
              </a:rPr>
              <a:t>First-fit-decreasing uses the fewest baseplates for one A/B side with cable sizes 2/6/12.</a:t>
            </a:r>
          </a:p>
        </p:txBody>
      </p:sp>
      <p:sp>
        <p:nvSpPr>
          <p:cNvPr id="25" name="Rounded Rectangle 24"/>
          <p:cNvSpPr/>
          <p:nvPr/>
        </p:nvSpPr>
        <p:spPr>
          <a:xfrm>
            <a:off x="7434072" y="5294376"/>
            <a:ext cx="1097280" cy="274320"/>
          </a:xfrm>
          <a:prstGeom prst="roundRect">
            <a:avLst>
              <a:gd name="adj" fmla="val 35000"/>
            </a:avLst>
          </a:prstGeom>
          <a:solidFill>
            <a:srgbClr val="06140A"/>
          </a:solidFill>
          <a:ln w="12700">
            <a:solidFill>
              <a:srgbClr val="6FD3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200"/>
              </a:spcAft>
            </a:pPr>
            <a:r>
              <a:rPr sz="1000" b="1" i="0">
                <a:solidFill>
                  <a:srgbClr val="6FD3FF"/>
                </a:solidFill>
                <a:latin typeface="Arial"/>
              </a:rPr>
              <a:t>TESTED</a:t>
            </a:r>
          </a:p>
        </p:txBody>
      </p:sp>
      <p:sp>
        <p:nvSpPr>
          <p:cNvPr id="26" name="TextBox 25"/>
          <p:cNvSpPr txBox="1"/>
          <p:nvPr/>
        </p:nvSpPr>
        <p:spPr>
          <a:xfrm>
            <a:off x="8641080" y="5221224"/>
            <a:ext cx="2990088" cy="475488"/>
          </a:xfrm>
          <a:prstGeom prst="rect">
            <a:avLst/>
          </a:prstGeom>
          <a:noFill/>
        </p:spPr>
        <p:txBody>
          <a:bodyPr wrap="square" lIns="0" rIns="0" tIns="0" bIns="0" anchor="ctr"/>
          <a:lstStyle/>
          <a:p>
            <a:pPr algn="l">
              <a:lnSpc>
                <a:spcPct val="100000"/>
              </a:lnSpc>
              <a:spcAft>
                <a:spcPts val="200"/>
              </a:spcAft>
            </a:pPr>
            <a:r>
              <a:rPr sz="1000" b="0" i="0">
                <a:solidFill>
                  <a:srgbClr val="EAF5EC"/>
                </a:solidFill>
                <a:latin typeface="Arial"/>
              </a:rPr>
              <a:t>Group baseplate totals matched exact CP-SAT optima in all 19,682 small cases and 148 of 150 larger groups (2 unproven, none worse).</a:t>
            </a:r>
          </a:p>
        </p:txBody>
      </p:sp>
      <p:sp>
        <p:nvSpPr>
          <p:cNvPr id="27" name="Rounded Rectangle 26"/>
          <p:cNvSpPr/>
          <p:nvPr/>
        </p:nvSpPr>
        <p:spPr>
          <a:xfrm>
            <a:off x="7434072" y="5788152"/>
            <a:ext cx="1097280" cy="274320"/>
          </a:xfrm>
          <a:prstGeom prst="roundRect">
            <a:avLst>
              <a:gd name="adj" fmla="val 35000"/>
            </a:avLst>
          </a:prstGeom>
          <a:solidFill>
            <a:srgbClr val="06140A"/>
          </a:solidFill>
          <a:ln w="12700">
            <a:solidFill>
              <a:srgbClr val="FFB54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200"/>
              </a:spcAft>
            </a:pPr>
            <a:r>
              <a:rPr sz="1000" b="1" i="0">
                <a:solidFill>
                  <a:srgbClr val="FFB547"/>
                </a:solidFill>
                <a:latin typeface="Arial"/>
              </a:rPr>
              <a:t>NOT CLAIMED</a:t>
            </a:r>
          </a:p>
        </p:txBody>
      </p:sp>
      <p:sp>
        <p:nvSpPr>
          <p:cNvPr id="28" name="TextBox 27"/>
          <p:cNvSpPr txBox="1"/>
          <p:nvPr/>
        </p:nvSpPr>
        <p:spPr>
          <a:xfrm>
            <a:off x="8641080" y="5715000"/>
            <a:ext cx="2990088" cy="475488"/>
          </a:xfrm>
          <a:prstGeom prst="rect">
            <a:avLst/>
          </a:prstGeom>
          <a:noFill/>
        </p:spPr>
        <p:txBody>
          <a:bodyPr wrap="square" lIns="0" rIns="0" tIns="0" bIns="0" anchor="ctr"/>
          <a:lstStyle/>
          <a:p>
            <a:pPr algn="l">
              <a:lnSpc>
                <a:spcPct val="100000"/>
              </a:lnSpc>
              <a:spcAft>
                <a:spcPts val="200"/>
              </a:spcAft>
            </a:pPr>
            <a:r>
              <a:rPr sz="1000" b="0" i="0">
                <a:solidFill>
                  <a:srgbClr val="EAF5EC"/>
                </a:solidFill>
                <a:latin typeface="Arial"/>
              </a:rPr>
              <a:t>Minimum CIOCs, cabinets or revision moves; global optimality; results on organiser data.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emplate background" descr="bg4.jpg"/>
          <p:cNvPicPr>
            <a:picLocks noChangeAspect="1"/>
          </p:cNvPicPr>
          <p:nvPr/>
        </p:nvPicPr>
        <p:blipFill>
          <a:blip r:embed="rId2"/>
          <a:stretch>
            <a:fillRect/>
          </a:stretch>
        </p:blipFill>
        <p:spPr>
          <a:xfrm>
            <a:off x="0" y="0"/>
            <a:ext cx="12191695" cy="6819206"/>
          </a:xfrm>
          <a:prstGeom prst="rect">
            <a:avLst/>
          </a:prstGeom>
        </p:spPr>
      </p:pic>
      <p:sp>
        <p:nvSpPr>
          <p:cNvPr id="3" name="TextBox 2"/>
          <p:cNvSpPr txBox="1"/>
          <p:nvPr/>
        </p:nvSpPr>
        <p:spPr>
          <a:xfrm>
            <a:off x="1810512" y="2048255"/>
            <a:ext cx="2304288" cy="384048"/>
          </a:xfrm>
          <a:prstGeom prst="rect">
            <a:avLst/>
          </a:prstGeom>
          <a:noFill/>
        </p:spPr>
        <p:txBody>
          <a:bodyPr wrap="square" lIns="0" rIns="0" tIns="0" bIns="0" anchor="t"/>
          <a:lstStyle/>
          <a:p>
            <a:pPr algn="l">
              <a:lnSpc>
                <a:spcPct val="100000"/>
              </a:lnSpc>
              <a:spcAft>
                <a:spcPts val="200"/>
              </a:spcAft>
            </a:pPr>
            <a:r>
              <a:rPr sz="1000" b="0" i="0">
                <a:solidFill>
                  <a:srgbClr val="EAF5EC"/>
                </a:solidFill>
                <a:latin typeface="Arial"/>
              </a:rPr>
              <a:t>Streamlit workbench (built): 7 stages, cabinet map, TQs, revision diff</a:t>
            </a:r>
          </a:p>
        </p:txBody>
      </p:sp>
      <p:pic>
        <p:nvPicPr>
          <p:cNvPr id="4" name="Picture 3" descr="streamlit_light.png"/>
          <p:cNvPicPr>
            <a:picLocks noChangeAspect="1"/>
          </p:cNvPicPr>
          <p:nvPr/>
        </p:nvPicPr>
        <p:blipFill>
          <a:blip r:embed="rId3"/>
          <a:stretch>
            <a:fillRect/>
          </a:stretch>
        </p:blipFill>
        <p:spPr>
          <a:xfrm>
            <a:off x="1810512" y="2386584"/>
            <a:ext cx="219456" cy="219456"/>
          </a:xfrm>
          <a:prstGeom prst="rect">
            <a:avLst/>
          </a:prstGeom>
        </p:spPr>
      </p:pic>
      <p:sp>
        <p:nvSpPr>
          <p:cNvPr id="5" name="TextBox 4"/>
          <p:cNvSpPr txBox="1"/>
          <p:nvPr/>
        </p:nvSpPr>
        <p:spPr>
          <a:xfrm>
            <a:off x="1810512" y="2798063"/>
            <a:ext cx="2304288" cy="384048"/>
          </a:xfrm>
          <a:prstGeom prst="rect">
            <a:avLst/>
          </a:prstGeom>
          <a:noFill/>
        </p:spPr>
        <p:txBody>
          <a:bodyPr wrap="square" lIns="0" rIns="0" tIns="0" bIns="0" anchor="t"/>
          <a:lstStyle/>
          <a:p>
            <a:pPr algn="l">
              <a:lnSpc>
                <a:spcPct val="100000"/>
              </a:lnSpc>
              <a:spcAft>
                <a:spcPts val="200"/>
              </a:spcAft>
            </a:pPr>
            <a:r>
              <a:rPr sz="1000" b="0" i="0">
                <a:solidFill>
                  <a:srgbClr val="EAF5EC"/>
                </a:solidFill>
                <a:latin typeface="Arial"/>
              </a:rPr>
              <a:t>Python 3.12 · pandas · openpyxl · pydantic typed rule sets · CLI</a:t>
            </a:r>
          </a:p>
        </p:txBody>
      </p:sp>
      <p:pic>
        <p:nvPicPr>
          <p:cNvPr id="6" name="Picture 5" descr="python_light.png"/>
          <p:cNvPicPr>
            <a:picLocks noChangeAspect="1"/>
          </p:cNvPicPr>
          <p:nvPr/>
        </p:nvPicPr>
        <p:blipFill>
          <a:blip r:embed="rId4"/>
          <a:stretch>
            <a:fillRect/>
          </a:stretch>
        </p:blipFill>
        <p:spPr>
          <a:xfrm>
            <a:off x="1810512" y="3136391"/>
            <a:ext cx="219456" cy="219456"/>
          </a:xfrm>
          <a:prstGeom prst="rect">
            <a:avLst/>
          </a:prstGeom>
        </p:spPr>
      </p:pic>
      <p:pic>
        <p:nvPicPr>
          <p:cNvPr id="7" name="Picture 6" descr="pandas_light.png"/>
          <p:cNvPicPr>
            <a:picLocks noChangeAspect="1"/>
          </p:cNvPicPr>
          <p:nvPr/>
        </p:nvPicPr>
        <p:blipFill>
          <a:blip r:embed="rId5"/>
          <a:stretch>
            <a:fillRect/>
          </a:stretch>
        </p:blipFill>
        <p:spPr>
          <a:xfrm>
            <a:off x="2139696" y="3136391"/>
            <a:ext cx="219456" cy="219456"/>
          </a:xfrm>
          <a:prstGeom prst="rect">
            <a:avLst/>
          </a:prstGeom>
        </p:spPr>
      </p:pic>
      <p:pic>
        <p:nvPicPr>
          <p:cNvPr id="8" name="Picture 7" descr="pydantic_light.png"/>
          <p:cNvPicPr>
            <a:picLocks noChangeAspect="1"/>
          </p:cNvPicPr>
          <p:nvPr/>
        </p:nvPicPr>
        <p:blipFill>
          <a:blip r:embed="rId6"/>
          <a:stretch>
            <a:fillRect/>
          </a:stretch>
        </p:blipFill>
        <p:spPr>
          <a:xfrm>
            <a:off x="2468880" y="3136391"/>
            <a:ext cx="219456" cy="219456"/>
          </a:xfrm>
          <a:prstGeom prst="rect">
            <a:avLst/>
          </a:prstGeom>
        </p:spPr>
      </p:pic>
      <p:sp>
        <p:nvSpPr>
          <p:cNvPr id="9" name="TextBox 8"/>
          <p:cNvSpPr txBox="1"/>
          <p:nvPr/>
        </p:nvSpPr>
        <p:spPr>
          <a:xfrm>
            <a:off x="1810512" y="3557015"/>
            <a:ext cx="2304288" cy="566928"/>
          </a:xfrm>
          <a:prstGeom prst="rect">
            <a:avLst/>
          </a:prstGeom>
          <a:noFill/>
        </p:spPr>
        <p:txBody>
          <a:bodyPr wrap="square" lIns="0" rIns="0" tIns="0" bIns="0" anchor="ctr"/>
          <a:lstStyle/>
          <a:p>
            <a:pPr algn="l">
              <a:lnSpc>
                <a:spcPct val="100000"/>
              </a:lnSpc>
              <a:spcAft>
                <a:spcPts val="200"/>
              </a:spcAft>
            </a:pPr>
            <a:r>
              <a:rPr sz="1000" b="0" i="0">
                <a:solidFill>
                  <a:srgbClr val="EAF5EC"/>
                </a:solidFill>
                <a:latin typeface="Arial"/>
              </a:rPr>
              <a:t>No database: xlsx / csv in, JSON rule sets, xlsx workbooks out</a:t>
            </a:r>
          </a:p>
        </p:txBody>
      </p:sp>
      <p:sp>
        <p:nvSpPr>
          <p:cNvPr id="10" name="TextBox 9"/>
          <p:cNvSpPr txBox="1"/>
          <p:nvPr/>
        </p:nvSpPr>
        <p:spPr>
          <a:xfrm>
            <a:off x="1810512" y="4352544"/>
            <a:ext cx="2304288" cy="566928"/>
          </a:xfrm>
          <a:prstGeom prst="rect">
            <a:avLst/>
          </a:prstGeom>
          <a:noFill/>
        </p:spPr>
        <p:txBody>
          <a:bodyPr wrap="square" lIns="0" rIns="0" tIns="0" bIns="0" anchor="ctr"/>
          <a:lstStyle/>
          <a:p>
            <a:pPr algn="l">
              <a:lnSpc>
                <a:spcPct val="100000"/>
              </a:lnSpc>
              <a:spcAft>
                <a:spcPts val="200"/>
              </a:spcAft>
            </a:pPr>
            <a:r>
              <a:rPr sz="1000" b="0" i="0">
                <a:solidFill>
                  <a:srgbClr val="EAF5EC"/>
                </a:solidFill>
                <a:latin typeface="Arial"/>
              </a:rPr>
              <a:t>OR-Tools CP-SAT for revision repair only. No LLM runs today; an optional helper is planned</a:t>
            </a:r>
          </a:p>
        </p:txBody>
      </p:sp>
      <p:sp>
        <p:nvSpPr>
          <p:cNvPr id="11" name="TextBox 10"/>
          <p:cNvSpPr txBox="1"/>
          <p:nvPr/>
        </p:nvSpPr>
        <p:spPr>
          <a:xfrm>
            <a:off x="2606040" y="5148072"/>
            <a:ext cx="1508760" cy="566928"/>
          </a:xfrm>
          <a:prstGeom prst="rect">
            <a:avLst/>
          </a:prstGeom>
          <a:noFill/>
        </p:spPr>
        <p:txBody>
          <a:bodyPr wrap="square" lIns="0" rIns="0" tIns="0" bIns="0" anchor="ctr"/>
          <a:lstStyle/>
          <a:p>
            <a:pPr algn="l">
              <a:lnSpc>
                <a:spcPct val="100000"/>
              </a:lnSpc>
              <a:spcAft>
                <a:spcPts val="200"/>
              </a:spcAft>
            </a:pPr>
            <a:r>
              <a:rPr sz="1000" b="0" i="0">
                <a:solidFill>
                  <a:srgbClr val="EAF5EC"/>
                </a:solidFill>
                <a:latin typeface="Arial"/>
              </a:rPr>
              <a:t>Local run · pytest + Hypothesis · Docker bundle planned</a:t>
            </a:r>
          </a:p>
        </p:txBody>
      </p:sp>
      <p:sp>
        <p:nvSpPr>
          <p:cNvPr id="12" name="Rounded Rectangle 11"/>
          <p:cNvSpPr/>
          <p:nvPr/>
        </p:nvSpPr>
        <p:spPr>
          <a:xfrm>
            <a:off x="4526280" y="1755648"/>
            <a:ext cx="7251192" cy="4462272"/>
          </a:xfrm>
          <a:prstGeom prst="roundRect">
            <a:avLst>
              <a:gd name="adj" fmla="val 4000"/>
            </a:avLst>
          </a:prstGeom>
          <a:solidFill>
            <a:srgbClr val="06140A">
              <a:alpha val="90000"/>
            </a:srgbClr>
          </a:solidFill>
          <a:ln w="12700">
            <a:solidFill>
              <a:srgbClr val="1F5F2A"/>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13" name="TextBox 12"/>
          <p:cNvSpPr txBox="1"/>
          <p:nvPr/>
        </p:nvSpPr>
        <p:spPr>
          <a:xfrm>
            <a:off x="4690872" y="1819656"/>
            <a:ext cx="6976872" cy="237744"/>
          </a:xfrm>
          <a:prstGeom prst="rect">
            <a:avLst/>
          </a:prstGeom>
          <a:noFill/>
        </p:spPr>
        <p:txBody>
          <a:bodyPr wrap="square" lIns="0" rIns="0" tIns="0" bIns="0" anchor="t"/>
          <a:lstStyle/>
          <a:p>
            <a:pPr algn="l">
              <a:lnSpc>
                <a:spcPct val="100000"/>
              </a:lnSpc>
              <a:spcAft>
                <a:spcPts val="200"/>
              </a:spcAft>
            </a:pPr>
            <a:r>
              <a:rPr sz="1100" b="1" i="0">
                <a:solidFill>
                  <a:srgbClr val="4DD262"/>
                </a:solidFill>
                <a:latin typeface="Arial"/>
              </a:rPr>
              <a:t>DATA FLOW</a:t>
            </a:r>
            <a:r>
              <a:rPr sz="1000" b="0" i="0">
                <a:solidFill>
                  <a:srgbClr val="A9C2AE"/>
                </a:solidFill>
                <a:latin typeface="Arial"/>
              </a:rPr>
              <a:t>   solid = built · amber = verification · dashed = planned</a:t>
            </a:r>
          </a:p>
        </p:txBody>
      </p:sp>
      <p:sp>
        <p:nvSpPr>
          <p:cNvPr id="14" name="Rounded Rectangle 13"/>
          <p:cNvSpPr/>
          <p:nvPr/>
        </p:nvSpPr>
        <p:spPr>
          <a:xfrm>
            <a:off x="4690872" y="2121408"/>
            <a:ext cx="6922007" cy="329184"/>
          </a:xfrm>
          <a:prstGeom prst="roundRect">
            <a:avLst>
              <a:gd name="adj" fmla="val 30000"/>
            </a:avLst>
          </a:prstGeom>
          <a:solidFill>
            <a:srgbClr val="12202A"/>
          </a:solidFill>
          <a:ln w="12700">
            <a:solidFill>
              <a:srgbClr val="6FD3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200"/>
              </a:spcAft>
            </a:pPr>
            <a:r>
              <a:rPr sz="1030" b="1" i="0">
                <a:solidFill>
                  <a:srgbClr val="6FD3FF"/>
                </a:solidFill>
                <a:latin typeface="Arial"/>
              </a:rPr>
              <a:t>Rule set </a:t>
            </a:r>
            <a:r>
              <a:rPr sz="1030" b="0" i="0">
                <a:solidFill>
                  <a:srgbClr val="EAF5EC"/>
                </a:solidFill>
                <a:latin typeface="Arial"/>
              </a:rPr>
              <a:t>JSON, typed with pydantic · read by validate, allocate, revise and verify</a:t>
            </a:r>
          </a:p>
        </p:txBody>
      </p:sp>
      <p:sp>
        <p:nvSpPr>
          <p:cNvPr id="15" name="Rounded Rectangle 14"/>
          <p:cNvSpPr/>
          <p:nvPr/>
        </p:nvSpPr>
        <p:spPr>
          <a:xfrm>
            <a:off x="4690872" y="2624328"/>
            <a:ext cx="1033271" cy="749808"/>
          </a:xfrm>
          <a:prstGeom prst="roundRect">
            <a:avLst>
              <a:gd name="adj" fmla="val 10000"/>
            </a:avLst>
          </a:prstGeom>
          <a:solidFill>
            <a:srgbClr val="12202A"/>
          </a:solidFill>
          <a:ln w="17780">
            <a:solidFill>
              <a:srgbClr val="6FD3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0"/>
              </a:spcAft>
            </a:pPr>
            <a:r>
              <a:rPr sz="1080" b="1" i="0">
                <a:solidFill>
                  <a:srgbClr val="FFFFFF"/>
                </a:solidFill>
                <a:latin typeface="Arial"/>
              </a:rPr>
              <a:t>Rev A list</a:t>
            </a:r>
          </a:p>
          <a:p>
            <a:pPr algn="ctr">
              <a:lnSpc>
                <a:spcPct val="100000"/>
              </a:lnSpc>
              <a:spcAft>
                <a:spcPts val="0"/>
              </a:spcAft>
            </a:pPr>
            <a:r>
              <a:rPr sz="900" b="0" i="0">
                <a:solidFill>
                  <a:srgbClr val="A9C2AE"/>
                </a:solidFill>
                <a:latin typeface="Arial"/>
              </a:rPr>
              <a:t>xlsx or csv, one or many files</a:t>
            </a:r>
          </a:p>
        </p:txBody>
      </p:sp>
      <p:sp>
        <p:nvSpPr>
          <p:cNvPr id="16" name="Rounded Rectangle 15"/>
          <p:cNvSpPr/>
          <p:nvPr/>
        </p:nvSpPr>
        <p:spPr>
          <a:xfrm>
            <a:off x="5879592" y="2624328"/>
            <a:ext cx="1033271" cy="749808"/>
          </a:xfrm>
          <a:prstGeom prst="roundRect">
            <a:avLst>
              <a:gd name="adj" fmla="val 10000"/>
            </a:avLst>
          </a:prstGeom>
          <a:solidFill>
            <a:srgbClr val="0C2412"/>
          </a:solidFill>
          <a:ln w="17780">
            <a:solidFill>
              <a:srgbClr val="4DD26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0"/>
              </a:spcAft>
            </a:pPr>
            <a:r>
              <a:rPr sz="1080" b="1" i="0">
                <a:solidFill>
                  <a:srgbClr val="FFFFFF"/>
                </a:solidFill>
                <a:latin typeface="Arial"/>
              </a:rPr>
              <a:t>Ingest</a:t>
            </a:r>
          </a:p>
          <a:p>
            <a:pPr algn="ctr">
              <a:lnSpc>
                <a:spcPct val="100000"/>
              </a:lnSpc>
              <a:spcAft>
                <a:spcPts val="0"/>
              </a:spcAft>
            </a:pPr>
            <a:r>
              <a:rPr sz="900" b="0" i="0">
                <a:solidFill>
                  <a:srgbClr val="A9C2AE"/>
                </a:solidFill>
                <a:latin typeface="Arial"/>
              </a:rPr>
              <a:t>map columns, keep file·sheet·row</a:t>
            </a:r>
          </a:p>
        </p:txBody>
      </p:sp>
      <p:sp>
        <p:nvSpPr>
          <p:cNvPr id="17" name="Rounded Rectangle 16"/>
          <p:cNvSpPr/>
          <p:nvPr/>
        </p:nvSpPr>
        <p:spPr>
          <a:xfrm>
            <a:off x="7068312" y="2624328"/>
            <a:ext cx="1033271" cy="749808"/>
          </a:xfrm>
          <a:prstGeom prst="roundRect">
            <a:avLst>
              <a:gd name="adj" fmla="val 10000"/>
            </a:avLst>
          </a:prstGeom>
          <a:solidFill>
            <a:srgbClr val="0C2412"/>
          </a:solidFill>
          <a:ln w="17780">
            <a:solidFill>
              <a:srgbClr val="4DD26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0"/>
              </a:spcAft>
            </a:pPr>
            <a:r>
              <a:rPr sz="1080" b="1" i="0">
                <a:solidFill>
                  <a:srgbClr val="FFFFFF"/>
                </a:solidFill>
                <a:latin typeface="Arial"/>
              </a:rPr>
              <a:t>Validate</a:t>
            </a:r>
          </a:p>
          <a:p>
            <a:pPr algn="ctr">
              <a:lnSpc>
                <a:spcPct val="100000"/>
              </a:lnSpc>
              <a:spcAft>
                <a:spcPts val="0"/>
              </a:spcAft>
            </a:pPr>
            <a:r>
              <a:rPr sz="900" b="0" i="0">
                <a:solidFill>
                  <a:srgbClr val="A9C2AE"/>
                </a:solidFill>
                <a:latin typeface="Arial"/>
              </a:rPr>
              <a:t>rules + data → TQs</a:t>
            </a:r>
          </a:p>
        </p:txBody>
      </p:sp>
      <p:sp>
        <p:nvSpPr>
          <p:cNvPr id="18" name="Rounded Rectangle 17"/>
          <p:cNvSpPr/>
          <p:nvPr/>
        </p:nvSpPr>
        <p:spPr>
          <a:xfrm>
            <a:off x="8257031" y="2624328"/>
            <a:ext cx="1033271" cy="749808"/>
          </a:xfrm>
          <a:prstGeom prst="roundRect">
            <a:avLst>
              <a:gd name="adj" fmla="val 10000"/>
            </a:avLst>
          </a:prstGeom>
          <a:solidFill>
            <a:srgbClr val="0C2412"/>
          </a:solidFill>
          <a:ln w="17780">
            <a:solidFill>
              <a:srgbClr val="4DD26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0"/>
              </a:spcAft>
            </a:pPr>
            <a:r>
              <a:rPr sz="1080" b="1" i="0">
                <a:solidFill>
                  <a:srgbClr val="FFFFFF"/>
                </a:solidFill>
                <a:latin typeface="Arial"/>
              </a:rPr>
              <a:t>Allocate</a:t>
            </a:r>
          </a:p>
          <a:p>
            <a:pPr algn="ctr">
              <a:lnSpc>
                <a:spcPct val="100000"/>
              </a:lnSpc>
              <a:spcAft>
                <a:spcPts val="0"/>
              </a:spcAft>
            </a:pPr>
            <a:r>
              <a:rPr sz="900" b="0" i="0">
                <a:solidFill>
                  <a:srgbClr val="A9C2AE"/>
                </a:solidFill>
                <a:latin typeface="Arial"/>
              </a:rPr>
              <a:t>FFD packing → baseplates, CIOCs, cabinets</a:t>
            </a:r>
          </a:p>
        </p:txBody>
      </p:sp>
      <p:sp>
        <p:nvSpPr>
          <p:cNvPr id="19" name="Rounded Rectangle 18"/>
          <p:cNvSpPr/>
          <p:nvPr/>
        </p:nvSpPr>
        <p:spPr>
          <a:xfrm>
            <a:off x="9445751" y="2624328"/>
            <a:ext cx="1033271" cy="749808"/>
          </a:xfrm>
          <a:prstGeom prst="roundRect">
            <a:avLst>
              <a:gd name="adj" fmla="val 10000"/>
            </a:avLst>
          </a:prstGeom>
          <a:solidFill>
            <a:srgbClr val="0C2412"/>
          </a:solidFill>
          <a:ln w="17780">
            <a:solidFill>
              <a:srgbClr val="4DD26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0"/>
              </a:spcAft>
            </a:pPr>
            <a:r>
              <a:rPr sz="1080" b="1" i="0">
                <a:solidFill>
                  <a:srgbClr val="FFFFFF"/>
                </a:solidFill>
                <a:latin typeface="Arial"/>
              </a:rPr>
              <a:t>Export</a:t>
            </a:r>
          </a:p>
          <a:p>
            <a:pPr algn="ctr">
              <a:lnSpc>
                <a:spcPct val="100000"/>
              </a:lnSpc>
              <a:spcAft>
                <a:spcPts val="0"/>
              </a:spcAft>
            </a:pPr>
            <a:r>
              <a:rPr sz="900" b="0" i="0">
                <a:solidFill>
                  <a:srgbClr val="A9C2AE"/>
                </a:solidFill>
                <a:latin typeface="Arial"/>
              </a:rPr>
              <a:t>writes the workbook sheets</a:t>
            </a:r>
          </a:p>
        </p:txBody>
      </p:sp>
      <p:sp>
        <p:nvSpPr>
          <p:cNvPr id="20" name="Rounded Rectangle 19"/>
          <p:cNvSpPr/>
          <p:nvPr/>
        </p:nvSpPr>
        <p:spPr>
          <a:xfrm>
            <a:off x="10634472" y="2624328"/>
            <a:ext cx="1033271" cy="749808"/>
          </a:xfrm>
          <a:prstGeom prst="roundRect">
            <a:avLst>
              <a:gd name="adj" fmla="val 10000"/>
            </a:avLst>
          </a:prstGeom>
          <a:solidFill>
            <a:srgbClr val="12202A"/>
          </a:solidFill>
          <a:ln w="17780">
            <a:solidFill>
              <a:srgbClr val="6FD3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0"/>
              </a:spcAft>
            </a:pPr>
            <a:r>
              <a:rPr sz="1080" b="1" i="0">
                <a:solidFill>
                  <a:srgbClr val="FFFFFF"/>
                </a:solidFill>
                <a:latin typeface="Arial"/>
              </a:rPr>
              <a:t>Workbook</a:t>
            </a:r>
          </a:p>
          <a:p>
            <a:pPr algn="ctr">
              <a:lnSpc>
                <a:spcPct val="100000"/>
              </a:lnSpc>
              <a:spcAft>
                <a:spcPts val="0"/>
              </a:spcAft>
            </a:pPr>
            <a:r>
              <a:rPr sz="900" b="0" i="0">
                <a:solidFill>
                  <a:srgbClr val="A9C2AE"/>
                </a:solidFill>
                <a:latin typeface="Arial"/>
              </a:rPr>
              <a:t>sheets: allocation, summary, TQs, rule check</a:t>
            </a:r>
          </a:p>
        </p:txBody>
      </p:sp>
      <p:cxnSp>
        <p:nvCxnSpPr>
          <p:cNvPr id="21" name="Connector 20"/>
          <p:cNvCxnSpPr/>
          <p:nvPr/>
        </p:nvCxnSpPr>
        <p:spPr>
          <a:xfrm>
            <a:off x="5733288" y="2999232"/>
            <a:ext cx="137160" cy="0"/>
          </a:xfrm>
          <a:prstGeom prst="line">
            <a:avLst/>
          </a:prstGeom>
          <a:ln w="22225">
            <a:solidFill>
              <a:srgbClr val="4DD26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922007" y="2999232"/>
            <a:ext cx="137161" cy="0"/>
          </a:xfrm>
          <a:prstGeom prst="line">
            <a:avLst/>
          </a:prstGeom>
          <a:ln w="22225">
            <a:solidFill>
              <a:srgbClr val="4DD26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110727" y="2999232"/>
            <a:ext cx="137161" cy="0"/>
          </a:xfrm>
          <a:prstGeom prst="line">
            <a:avLst/>
          </a:prstGeom>
          <a:ln w="22225">
            <a:solidFill>
              <a:srgbClr val="4DD26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9299448" y="2999232"/>
            <a:ext cx="137159" cy="0"/>
          </a:xfrm>
          <a:prstGeom prst="line">
            <a:avLst/>
          </a:prstGeom>
          <a:ln w="22225">
            <a:solidFill>
              <a:srgbClr val="4DD26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0488167" y="2999232"/>
            <a:ext cx="137161" cy="0"/>
          </a:xfrm>
          <a:prstGeom prst="line">
            <a:avLst/>
          </a:prstGeom>
          <a:ln w="22225">
            <a:solidFill>
              <a:srgbClr val="4DD26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068312" y="3785615"/>
            <a:ext cx="1033271" cy="749808"/>
          </a:xfrm>
          <a:prstGeom prst="roundRect">
            <a:avLst>
              <a:gd name="adj" fmla="val 10000"/>
            </a:avLst>
          </a:prstGeom>
          <a:solidFill>
            <a:srgbClr val="12202A"/>
          </a:solidFill>
          <a:ln w="17780">
            <a:solidFill>
              <a:srgbClr val="6FD3F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0"/>
              </a:spcAft>
            </a:pPr>
            <a:r>
              <a:rPr sz="1080" b="1" i="0">
                <a:solidFill>
                  <a:srgbClr val="FFFFFF"/>
                </a:solidFill>
                <a:latin typeface="Arial"/>
              </a:rPr>
              <a:t>Rev B list</a:t>
            </a:r>
          </a:p>
          <a:p>
            <a:pPr algn="ctr">
              <a:lnSpc>
                <a:spcPct val="100000"/>
              </a:lnSpc>
              <a:spcAft>
                <a:spcPts val="0"/>
              </a:spcAft>
            </a:pPr>
            <a:r>
              <a:rPr sz="900" b="0" i="0">
                <a:solidFill>
                  <a:srgbClr val="A9C2AE"/>
                </a:solidFill>
                <a:latin typeface="Arial"/>
              </a:rPr>
              <a:t>xlsx or csv</a:t>
            </a:r>
          </a:p>
        </p:txBody>
      </p:sp>
      <p:sp>
        <p:nvSpPr>
          <p:cNvPr id="27" name="Rounded Rectangle 26"/>
          <p:cNvSpPr/>
          <p:nvPr/>
        </p:nvSpPr>
        <p:spPr>
          <a:xfrm>
            <a:off x="8257031" y="3785615"/>
            <a:ext cx="2221991" cy="749808"/>
          </a:xfrm>
          <a:prstGeom prst="roundRect">
            <a:avLst>
              <a:gd name="adj" fmla="val 10000"/>
            </a:avLst>
          </a:prstGeom>
          <a:solidFill>
            <a:srgbClr val="0C2412"/>
          </a:solidFill>
          <a:ln w="17780">
            <a:solidFill>
              <a:srgbClr val="4DD26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0"/>
              </a:spcAft>
            </a:pPr>
            <a:r>
              <a:rPr sz="1080" b="1" i="0">
                <a:solidFill>
                  <a:srgbClr val="FFFFFF"/>
                </a:solidFill>
                <a:latin typeface="Arial"/>
              </a:rPr>
              <a:t>Revision engine</a:t>
            </a:r>
          </a:p>
          <a:p>
            <a:pPr algn="ctr">
              <a:lnSpc>
                <a:spcPct val="100000"/>
              </a:lnSpc>
              <a:spcAft>
                <a:spcPts val="0"/>
              </a:spcAft>
            </a:pPr>
            <a:r>
              <a:rPr sz="900" b="0" i="0">
                <a:solidFill>
                  <a:srgbClr val="A9C2AE"/>
                </a:solidFill>
                <a:latin typeface="Arial"/>
              </a:rPr>
              <a:t>pin unchanged → greedy fill → CP-SAT window repair → full re-run only as fallback</a:t>
            </a:r>
          </a:p>
        </p:txBody>
      </p:sp>
      <p:cxnSp>
        <p:nvCxnSpPr>
          <p:cNvPr id="28" name="Connector 27"/>
          <p:cNvCxnSpPr/>
          <p:nvPr/>
        </p:nvCxnSpPr>
        <p:spPr>
          <a:xfrm>
            <a:off x="8110727" y="4160520"/>
            <a:ext cx="137161" cy="0"/>
          </a:xfrm>
          <a:prstGeom prst="line">
            <a:avLst/>
          </a:prstGeom>
          <a:ln w="22225">
            <a:solidFill>
              <a:srgbClr val="4DD26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9962387" y="3383279"/>
            <a:ext cx="0" cy="393193"/>
          </a:xfrm>
          <a:prstGeom prst="line">
            <a:avLst/>
          </a:prstGeom>
          <a:ln w="22225">
            <a:solidFill>
              <a:srgbClr val="4DD262"/>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690872" y="3831335"/>
            <a:ext cx="2221991" cy="749808"/>
          </a:xfrm>
          <a:prstGeom prst="rect">
            <a:avLst/>
          </a:prstGeom>
          <a:noFill/>
        </p:spPr>
        <p:txBody>
          <a:bodyPr wrap="square" lIns="0" rIns="0" tIns="0" bIns="0" anchor="t"/>
          <a:lstStyle/>
          <a:p>
            <a:pPr algn="l">
              <a:lnSpc>
                <a:spcPct val="100000"/>
              </a:lnSpc>
              <a:spcAft>
                <a:spcPts val="200"/>
              </a:spcAft>
            </a:pPr>
            <a:r>
              <a:rPr sz="950" b="0" i="1">
                <a:solidFill>
                  <a:srgbClr val="A9C2AE"/>
                </a:solidFill>
                <a:latin typeface="Arial"/>
              </a:rPr>
              <a:t>Revisions add a Revision Impact sheet: added, deleted, moved, modified.</a:t>
            </a:r>
          </a:p>
        </p:txBody>
      </p:sp>
      <p:sp>
        <p:nvSpPr>
          <p:cNvPr id="31" name="Rounded Rectangle 30"/>
          <p:cNvSpPr/>
          <p:nvPr/>
        </p:nvSpPr>
        <p:spPr>
          <a:xfrm>
            <a:off x="10634472" y="3785615"/>
            <a:ext cx="1033271" cy="749808"/>
          </a:xfrm>
          <a:prstGeom prst="roundRect">
            <a:avLst>
              <a:gd name="adj" fmla="val 10000"/>
            </a:avLst>
          </a:prstGeom>
          <a:solidFill>
            <a:srgbClr val="2A1F0A"/>
          </a:solidFill>
          <a:ln w="17780">
            <a:solidFill>
              <a:srgbClr val="FFB54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0"/>
              </a:spcAft>
            </a:pPr>
            <a:r>
              <a:rPr sz="1080" b="1" i="0">
                <a:solidFill>
                  <a:srgbClr val="FFB547"/>
                </a:solidFill>
                <a:latin typeface="Arial"/>
              </a:rPr>
              <a:t>Verify</a:t>
            </a:r>
          </a:p>
          <a:p>
            <a:pPr algn="ctr">
              <a:lnSpc>
                <a:spcPct val="100000"/>
              </a:lnSpc>
              <a:spcAft>
                <a:spcPts val="0"/>
              </a:spcAft>
            </a:pPr>
            <a:r>
              <a:rPr sz="900" b="0" i="0">
                <a:solidFill>
                  <a:srgbClr val="A9C2AE"/>
                </a:solidFill>
                <a:latin typeface="Arial"/>
              </a:rPr>
              <a:t>11 checks on the exported file</a:t>
            </a:r>
          </a:p>
        </p:txBody>
      </p:sp>
      <p:cxnSp>
        <p:nvCxnSpPr>
          <p:cNvPr id="32" name="Connector 31"/>
          <p:cNvCxnSpPr/>
          <p:nvPr/>
        </p:nvCxnSpPr>
        <p:spPr>
          <a:xfrm>
            <a:off x="11151107" y="3383279"/>
            <a:ext cx="0" cy="393193"/>
          </a:xfrm>
          <a:prstGeom prst="line">
            <a:avLst/>
          </a:prstGeom>
          <a:ln w="22225">
            <a:solidFill>
              <a:srgbClr val="FFB5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690872" y="4873752"/>
            <a:ext cx="4572000" cy="201168"/>
          </a:xfrm>
          <a:prstGeom prst="rect">
            <a:avLst/>
          </a:prstGeom>
          <a:noFill/>
        </p:spPr>
        <p:txBody>
          <a:bodyPr wrap="square" lIns="0" rIns="0" tIns="0" bIns="0" anchor="t"/>
          <a:lstStyle/>
          <a:p>
            <a:pPr algn="l">
              <a:lnSpc>
                <a:spcPct val="100000"/>
              </a:lnSpc>
              <a:spcAft>
                <a:spcPts val="200"/>
              </a:spcAft>
            </a:pPr>
            <a:r>
              <a:rPr sz="950" b="1" i="0">
                <a:solidFill>
                  <a:srgbClr val="A9C2AE"/>
                </a:solidFill>
                <a:latin typeface="Arial"/>
              </a:rPr>
              <a:t>SURFACES, TESTS AND STORAGE</a:t>
            </a:r>
          </a:p>
        </p:txBody>
      </p:sp>
      <p:sp>
        <p:nvSpPr>
          <p:cNvPr id="34" name="Rounded Rectangle 33"/>
          <p:cNvSpPr/>
          <p:nvPr/>
        </p:nvSpPr>
        <p:spPr>
          <a:xfrm>
            <a:off x="4690872" y="5102352"/>
            <a:ext cx="1033271" cy="658368"/>
          </a:xfrm>
          <a:prstGeom prst="roundRect">
            <a:avLst>
              <a:gd name="adj" fmla="val 10000"/>
            </a:avLst>
          </a:prstGeom>
          <a:solidFill>
            <a:srgbClr val="0C2412"/>
          </a:solidFill>
          <a:ln w="17780">
            <a:solidFill>
              <a:srgbClr val="4DD26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0"/>
              </a:spcAft>
            </a:pPr>
            <a:r>
              <a:rPr sz="1080" b="1" i="0">
                <a:solidFill>
                  <a:srgbClr val="FFFFFF"/>
                </a:solidFill>
                <a:latin typeface="Arial"/>
              </a:rPr>
              <a:t>Streamlit</a:t>
            </a:r>
          </a:p>
          <a:p>
            <a:pPr algn="ctr">
              <a:lnSpc>
                <a:spcPct val="100000"/>
              </a:lnSpc>
              <a:spcAft>
                <a:spcPts val="0"/>
              </a:spcAft>
            </a:pPr>
            <a:r>
              <a:rPr sz="900" b="0" i="0">
                <a:solidFill>
                  <a:srgbClr val="A9C2AE"/>
                </a:solidFill>
                <a:latin typeface="Arial"/>
              </a:rPr>
              <a:t>7-stage workbench</a:t>
            </a:r>
          </a:p>
        </p:txBody>
      </p:sp>
      <p:sp>
        <p:nvSpPr>
          <p:cNvPr id="35" name="Rounded Rectangle 34"/>
          <p:cNvSpPr/>
          <p:nvPr/>
        </p:nvSpPr>
        <p:spPr>
          <a:xfrm>
            <a:off x="5879592" y="5102352"/>
            <a:ext cx="1033271" cy="658368"/>
          </a:xfrm>
          <a:prstGeom prst="roundRect">
            <a:avLst>
              <a:gd name="adj" fmla="val 10000"/>
            </a:avLst>
          </a:prstGeom>
          <a:solidFill>
            <a:srgbClr val="0C2412"/>
          </a:solidFill>
          <a:ln w="17780">
            <a:solidFill>
              <a:srgbClr val="4DD26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0"/>
              </a:spcAft>
            </a:pPr>
            <a:r>
              <a:rPr sz="1080" b="1" i="0">
                <a:solidFill>
                  <a:srgbClr val="FFFFFF"/>
                </a:solidFill>
                <a:latin typeface="Arial"/>
              </a:rPr>
              <a:t>CLI</a:t>
            </a:r>
          </a:p>
          <a:p>
            <a:pPr algn="ctr">
              <a:lnSpc>
                <a:spcPct val="100000"/>
              </a:lnSpc>
              <a:spcAft>
                <a:spcPts val="0"/>
              </a:spcAft>
            </a:pPr>
            <a:r>
              <a:rPr sz="900" b="0" i="0">
                <a:solidFill>
                  <a:srgbClr val="A9C2AE"/>
                </a:solidFill>
                <a:latin typeface="Arial"/>
              </a:rPr>
              <a:t>slotsmith run / revise</a:t>
            </a:r>
          </a:p>
        </p:txBody>
      </p:sp>
      <p:sp>
        <p:nvSpPr>
          <p:cNvPr id="36" name="Rounded Rectangle 35"/>
          <p:cNvSpPr/>
          <p:nvPr/>
        </p:nvSpPr>
        <p:spPr>
          <a:xfrm>
            <a:off x="7068312" y="5102352"/>
            <a:ext cx="1033271" cy="658368"/>
          </a:xfrm>
          <a:prstGeom prst="roundRect">
            <a:avLst>
              <a:gd name="adj" fmla="val 10000"/>
            </a:avLst>
          </a:prstGeom>
          <a:solidFill>
            <a:srgbClr val="0C2412"/>
          </a:solidFill>
          <a:ln w="17780">
            <a:solidFill>
              <a:srgbClr val="4DD26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0"/>
              </a:spcAft>
            </a:pPr>
            <a:r>
              <a:rPr sz="1080" b="1" i="0">
                <a:solidFill>
                  <a:srgbClr val="FFFFFF"/>
                </a:solidFill>
                <a:latin typeface="Arial"/>
              </a:rPr>
              <a:t>pytest</a:t>
            </a:r>
          </a:p>
          <a:p>
            <a:pPr algn="ctr">
              <a:lnSpc>
                <a:spcPct val="100000"/>
              </a:lnSpc>
              <a:spcAft>
                <a:spcPts val="0"/>
              </a:spcAft>
            </a:pPr>
            <a:r>
              <a:rPr sz="900" b="0" i="0">
                <a:solidFill>
                  <a:srgbClr val="A9C2AE"/>
                </a:solidFill>
                <a:latin typeface="Arial"/>
              </a:rPr>
              <a:t>122 tests</a:t>
            </a:r>
          </a:p>
        </p:txBody>
      </p:sp>
      <p:sp>
        <p:nvSpPr>
          <p:cNvPr id="37" name="Rounded Rectangle 36"/>
          <p:cNvSpPr/>
          <p:nvPr/>
        </p:nvSpPr>
        <p:spPr>
          <a:xfrm>
            <a:off x="8257031" y="5102352"/>
            <a:ext cx="1033271" cy="658368"/>
          </a:xfrm>
          <a:prstGeom prst="roundRect">
            <a:avLst>
              <a:gd name="adj" fmla="val 10000"/>
            </a:avLst>
          </a:prstGeom>
          <a:solidFill>
            <a:srgbClr val="0C2412"/>
          </a:solidFill>
          <a:ln w="17780">
            <a:solidFill>
              <a:srgbClr val="4DD26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0"/>
              </a:spcAft>
            </a:pPr>
            <a:r>
              <a:rPr sz="1080" b="1" i="0">
                <a:solidFill>
                  <a:srgbClr val="FFFFFF"/>
                </a:solidFill>
                <a:latin typeface="Arial"/>
              </a:rPr>
              <a:t>Files only</a:t>
            </a:r>
          </a:p>
          <a:p>
            <a:pPr algn="ctr">
              <a:lnSpc>
                <a:spcPct val="100000"/>
              </a:lnSpc>
              <a:spcAft>
                <a:spcPts val="0"/>
              </a:spcAft>
            </a:pPr>
            <a:r>
              <a:rPr sz="900" b="0" i="0">
                <a:solidFill>
                  <a:srgbClr val="A9C2AE"/>
                </a:solidFill>
                <a:latin typeface="Arial"/>
              </a:rPr>
              <a:t>no database</a:t>
            </a:r>
          </a:p>
        </p:txBody>
      </p:sp>
      <p:sp>
        <p:nvSpPr>
          <p:cNvPr id="38" name="Rounded Rectangle 37"/>
          <p:cNvSpPr/>
          <p:nvPr/>
        </p:nvSpPr>
        <p:spPr>
          <a:xfrm>
            <a:off x="9445751" y="5102352"/>
            <a:ext cx="1033271" cy="658368"/>
          </a:xfrm>
          <a:prstGeom prst="roundRect">
            <a:avLst>
              <a:gd name="adj" fmla="val 10000"/>
            </a:avLst>
          </a:prstGeom>
          <a:solidFill>
            <a:srgbClr val="06140A"/>
          </a:solidFill>
          <a:ln w="17780">
            <a:solidFill>
              <a:srgbClr val="7F9A8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0"/>
              </a:spcAft>
            </a:pPr>
            <a:r>
              <a:rPr sz="1080" b="1" i="0">
                <a:solidFill>
                  <a:srgbClr val="7F9A86"/>
                </a:solidFill>
                <a:latin typeface="Arial"/>
              </a:rPr>
              <a:t>LLM helper</a:t>
            </a:r>
          </a:p>
          <a:p>
            <a:pPr algn="ctr">
              <a:lnSpc>
                <a:spcPct val="100000"/>
              </a:lnSpc>
              <a:spcAft>
                <a:spcPts val="0"/>
              </a:spcAft>
            </a:pPr>
            <a:r>
              <a:rPr sz="900" b="0" i="0">
                <a:solidFill>
                  <a:srgbClr val="7F9A86"/>
                </a:solidFill>
                <a:latin typeface="Arial"/>
              </a:rPr>
              <a:t>planned</a:t>
            </a:r>
          </a:p>
        </p:txBody>
      </p:sp>
      <p:sp>
        <p:nvSpPr>
          <p:cNvPr id="39" name="Rounded Rectangle 38"/>
          <p:cNvSpPr/>
          <p:nvPr/>
        </p:nvSpPr>
        <p:spPr>
          <a:xfrm>
            <a:off x="10634472" y="5102352"/>
            <a:ext cx="1033271" cy="658368"/>
          </a:xfrm>
          <a:prstGeom prst="roundRect">
            <a:avLst>
              <a:gd name="adj" fmla="val 10000"/>
            </a:avLst>
          </a:prstGeom>
          <a:solidFill>
            <a:srgbClr val="06140A"/>
          </a:solidFill>
          <a:ln w="17780">
            <a:solidFill>
              <a:srgbClr val="7F9A8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0"/>
              </a:spcAft>
            </a:pPr>
            <a:r>
              <a:rPr sz="1080" b="1" i="0">
                <a:solidFill>
                  <a:srgbClr val="7F9A86"/>
                </a:solidFill>
                <a:latin typeface="Arial"/>
              </a:rPr>
              <a:t>Docker</a:t>
            </a:r>
          </a:p>
          <a:p>
            <a:pPr algn="ctr">
              <a:lnSpc>
                <a:spcPct val="100000"/>
              </a:lnSpc>
              <a:spcAft>
                <a:spcPts val="0"/>
              </a:spcAft>
            </a:pPr>
            <a:r>
              <a:rPr sz="900" b="0" i="0">
                <a:solidFill>
                  <a:srgbClr val="7F9A86"/>
                </a:solidFill>
                <a:latin typeface="Arial"/>
              </a:rPr>
              <a:t>planned</a:t>
            </a:r>
          </a:p>
        </p:txBody>
      </p:sp>
      <p:sp>
        <p:nvSpPr>
          <p:cNvPr id="40" name="TextBox 39"/>
          <p:cNvSpPr txBox="1"/>
          <p:nvPr/>
        </p:nvSpPr>
        <p:spPr>
          <a:xfrm>
            <a:off x="4690872" y="5943600"/>
            <a:ext cx="6885431" cy="237744"/>
          </a:xfrm>
          <a:prstGeom prst="rect">
            <a:avLst/>
          </a:prstGeom>
          <a:noFill/>
        </p:spPr>
        <p:txBody>
          <a:bodyPr wrap="square" lIns="0" rIns="0" tIns="0" bIns="0" anchor="t"/>
          <a:lstStyle/>
          <a:p>
            <a:pPr algn="l">
              <a:lnSpc>
                <a:spcPct val="100000"/>
              </a:lnSpc>
              <a:spcAft>
                <a:spcPts val="200"/>
              </a:spcAft>
            </a:pPr>
            <a:r>
              <a:rPr sz="930" b="0" i="1">
                <a:solidFill>
                  <a:srgbClr val="A9C2AE"/>
                </a:solidFill>
                <a:latin typeface="Arial"/>
              </a:rPr>
              <a:t>The verifier imports only the rule set and parses exported names back into positions.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emplate background" descr="bg5.jpg"/>
          <p:cNvPicPr>
            <a:picLocks noChangeAspect="1"/>
          </p:cNvPicPr>
          <p:nvPr/>
        </p:nvPicPr>
        <p:blipFill>
          <a:blip r:embed="rId2"/>
          <a:stretch>
            <a:fillRect/>
          </a:stretch>
        </p:blipFill>
        <p:spPr>
          <a:xfrm>
            <a:off x="0" y="0"/>
            <a:ext cx="12191695" cy="6819206"/>
          </a:xfrm>
          <a:prstGeom prst="rect">
            <a:avLst/>
          </a:prstGeom>
        </p:spPr>
      </p:pic>
      <p:sp>
        <p:nvSpPr>
          <p:cNvPr id="3" name="TextBox 2"/>
          <p:cNvSpPr txBox="1"/>
          <p:nvPr/>
        </p:nvSpPr>
        <p:spPr>
          <a:xfrm>
            <a:off x="548640" y="1764792"/>
            <a:ext cx="2377440" cy="274320"/>
          </a:xfrm>
          <a:prstGeom prst="rect">
            <a:avLst/>
          </a:prstGeom>
          <a:noFill/>
        </p:spPr>
        <p:txBody>
          <a:bodyPr wrap="square" lIns="0" rIns="0" tIns="0" bIns="0" anchor="t"/>
          <a:lstStyle/>
          <a:p>
            <a:pPr algn="l">
              <a:lnSpc>
                <a:spcPct val="100000"/>
              </a:lnSpc>
              <a:spcAft>
                <a:spcPts val="200"/>
              </a:spcAft>
            </a:pPr>
            <a:r>
              <a:rPr sz="1050" b="1" i="0">
                <a:solidFill>
                  <a:srgbClr val="4DD262"/>
                </a:solidFill>
                <a:latin typeface="Arial"/>
              </a:rPr>
              <a:t>WORKBENCH · 7 STAGES BUILT</a:t>
            </a:r>
          </a:p>
        </p:txBody>
      </p:sp>
      <p:sp>
        <p:nvSpPr>
          <p:cNvPr id="4" name="Rounded Rectangle 3"/>
          <p:cNvSpPr/>
          <p:nvPr/>
        </p:nvSpPr>
        <p:spPr>
          <a:xfrm>
            <a:off x="2926080" y="1764792"/>
            <a:ext cx="832103" cy="274320"/>
          </a:xfrm>
          <a:prstGeom prst="roundRect">
            <a:avLst>
              <a:gd name="adj" fmla="val 30000"/>
            </a:avLst>
          </a:prstGeom>
          <a:solidFill>
            <a:srgbClr val="0C2412"/>
          </a:solidFill>
          <a:ln w="12700">
            <a:solidFill>
              <a:srgbClr val="4DD26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200"/>
              </a:spcAft>
            </a:pPr>
            <a:r>
              <a:rPr sz="1050" b="0" i="0">
                <a:solidFill>
                  <a:srgbClr val="FFFFFF"/>
                </a:solidFill>
                <a:latin typeface="Arial"/>
              </a:rPr>
              <a:t>1 · Input</a:t>
            </a:r>
          </a:p>
        </p:txBody>
      </p:sp>
      <p:sp>
        <p:nvSpPr>
          <p:cNvPr id="5" name="Rounded Rectangle 4"/>
          <p:cNvSpPr/>
          <p:nvPr/>
        </p:nvSpPr>
        <p:spPr>
          <a:xfrm>
            <a:off x="3849624" y="1764792"/>
            <a:ext cx="916228" cy="274320"/>
          </a:xfrm>
          <a:prstGeom prst="roundRect">
            <a:avLst>
              <a:gd name="adj" fmla="val 30000"/>
            </a:avLst>
          </a:prstGeom>
          <a:solidFill>
            <a:srgbClr val="0C2412"/>
          </a:solidFill>
          <a:ln w="12700">
            <a:solidFill>
              <a:srgbClr val="4DD26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200"/>
              </a:spcAft>
            </a:pPr>
            <a:r>
              <a:rPr sz="1050" b="0" i="0">
                <a:solidFill>
                  <a:srgbClr val="FFFFFF"/>
                </a:solidFill>
                <a:latin typeface="Arial"/>
              </a:rPr>
              <a:t>2 · Review</a:t>
            </a:r>
          </a:p>
        </p:txBody>
      </p:sp>
      <p:sp>
        <p:nvSpPr>
          <p:cNvPr id="6" name="Rounded Rectangle 5"/>
          <p:cNvSpPr/>
          <p:nvPr/>
        </p:nvSpPr>
        <p:spPr>
          <a:xfrm>
            <a:off x="4857292" y="1764792"/>
            <a:ext cx="1084478" cy="274320"/>
          </a:xfrm>
          <a:prstGeom prst="roundRect">
            <a:avLst>
              <a:gd name="adj" fmla="val 30000"/>
            </a:avLst>
          </a:prstGeom>
          <a:solidFill>
            <a:srgbClr val="0C2412"/>
          </a:solidFill>
          <a:ln w="12700">
            <a:solidFill>
              <a:srgbClr val="4DD26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200"/>
              </a:spcAft>
            </a:pPr>
            <a:r>
              <a:rPr sz="1050" b="0" i="0">
                <a:solidFill>
                  <a:srgbClr val="FFFFFF"/>
                </a:solidFill>
                <a:latin typeface="Arial"/>
              </a:rPr>
              <a:t>3 · Allocate</a:t>
            </a:r>
          </a:p>
        </p:txBody>
      </p:sp>
      <p:sp>
        <p:nvSpPr>
          <p:cNvPr id="7" name="Rounded Rectangle 6"/>
          <p:cNvSpPr/>
          <p:nvPr/>
        </p:nvSpPr>
        <p:spPr>
          <a:xfrm>
            <a:off x="6033211" y="1764792"/>
            <a:ext cx="1000353" cy="274320"/>
          </a:xfrm>
          <a:prstGeom prst="roundRect">
            <a:avLst>
              <a:gd name="adj" fmla="val 30000"/>
            </a:avLst>
          </a:prstGeom>
          <a:solidFill>
            <a:srgbClr val="0C2412"/>
          </a:solidFill>
          <a:ln w="12700">
            <a:solidFill>
              <a:srgbClr val="4DD26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200"/>
              </a:spcAft>
            </a:pPr>
            <a:r>
              <a:rPr sz="1050" b="0" i="0">
                <a:solidFill>
                  <a:srgbClr val="FFFFFF"/>
                </a:solidFill>
                <a:latin typeface="Arial"/>
              </a:rPr>
              <a:t>4 · Results</a:t>
            </a:r>
          </a:p>
        </p:txBody>
      </p:sp>
      <p:sp>
        <p:nvSpPr>
          <p:cNvPr id="8" name="Rounded Rectangle 7"/>
          <p:cNvSpPr/>
          <p:nvPr/>
        </p:nvSpPr>
        <p:spPr>
          <a:xfrm>
            <a:off x="7125004" y="1764792"/>
            <a:ext cx="1084478" cy="274320"/>
          </a:xfrm>
          <a:prstGeom prst="roundRect">
            <a:avLst>
              <a:gd name="adj" fmla="val 30000"/>
            </a:avLst>
          </a:prstGeom>
          <a:solidFill>
            <a:srgbClr val="0C2412"/>
          </a:solidFill>
          <a:ln w="12700">
            <a:solidFill>
              <a:srgbClr val="4DD26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200"/>
              </a:spcAft>
            </a:pPr>
            <a:r>
              <a:rPr sz="1050" b="0" i="0">
                <a:solidFill>
                  <a:srgbClr val="FFFFFF"/>
                </a:solidFill>
                <a:latin typeface="Arial"/>
              </a:rPr>
              <a:t>5 · Cabinets</a:t>
            </a:r>
          </a:p>
        </p:txBody>
      </p:sp>
      <p:sp>
        <p:nvSpPr>
          <p:cNvPr id="9" name="Rounded Rectangle 8"/>
          <p:cNvSpPr/>
          <p:nvPr/>
        </p:nvSpPr>
        <p:spPr>
          <a:xfrm>
            <a:off x="8300923" y="1764792"/>
            <a:ext cx="1589227" cy="274320"/>
          </a:xfrm>
          <a:prstGeom prst="roundRect">
            <a:avLst>
              <a:gd name="adj" fmla="val 30000"/>
            </a:avLst>
          </a:prstGeom>
          <a:solidFill>
            <a:srgbClr val="0C2412"/>
          </a:solidFill>
          <a:ln w="12700">
            <a:solidFill>
              <a:srgbClr val="4DD26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200"/>
              </a:spcAft>
            </a:pPr>
            <a:r>
              <a:rPr sz="1050" b="0" i="0">
                <a:solidFill>
                  <a:srgbClr val="FFFFFF"/>
                </a:solidFill>
                <a:latin typeface="Arial"/>
              </a:rPr>
              <a:t>6 · Revise (Rev B)</a:t>
            </a:r>
          </a:p>
        </p:txBody>
      </p:sp>
      <p:sp>
        <p:nvSpPr>
          <p:cNvPr id="10" name="Rounded Rectangle 9"/>
          <p:cNvSpPr/>
          <p:nvPr/>
        </p:nvSpPr>
        <p:spPr>
          <a:xfrm>
            <a:off x="9981590" y="1764792"/>
            <a:ext cx="1420977" cy="274320"/>
          </a:xfrm>
          <a:prstGeom prst="roundRect">
            <a:avLst>
              <a:gd name="adj" fmla="val 30000"/>
            </a:avLst>
          </a:prstGeom>
          <a:solidFill>
            <a:srgbClr val="0C2412"/>
          </a:solidFill>
          <a:ln w="12700">
            <a:solidFill>
              <a:srgbClr val="4DD26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200"/>
              </a:spcAft>
            </a:pPr>
            <a:r>
              <a:rPr sz="1050" b="0" i="0">
                <a:solidFill>
                  <a:srgbClr val="FFFFFF"/>
                </a:solidFill>
                <a:latin typeface="Arial"/>
              </a:rPr>
              <a:t>7 · Deliverables</a:t>
            </a:r>
          </a:p>
        </p:txBody>
      </p:sp>
      <p:pic>
        <p:nvPicPr>
          <p:cNvPr id="11" name="Picture 10" descr="ui_cabinets.png"/>
          <p:cNvPicPr>
            <a:picLocks noChangeAspect="1"/>
          </p:cNvPicPr>
          <p:nvPr/>
        </p:nvPicPr>
        <p:blipFill>
          <a:blip r:embed="rId3"/>
          <a:stretch>
            <a:fillRect/>
          </a:stretch>
        </p:blipFill>
        <p:spPr>
          <a:xfrm>
            <a:off x="548640" y="2157984"/>
            <a:ext cx="5257800" cy="3517041"/>
          </a:xfrm>
          <a:prstGeom prst="rect">
            <a:avLst/>
          </a:prstGeom>
        </p:spPr>
      </p:pic>
      <p:sp>
        <p:nvSpPr>
          <p:cNvPr id="12" name="Rectangle 11"/>
          <p:cNvSpPr/>
          <p:nvPr/>
        </p:nvSpPr>
        <p:spPr>
          <a:xfrm>
            <a:off x="548640" y="2157984"/>
            <a:ext cx="5257800" cy="3517041"/>
          </a:xfrm>
          <a:prstGeom prst="rect">
            <a:avLst/>
          </a:prstGeom>
          <a:noFill/>
          <a:ln w="12700">
            <a:solidFill>
              <a:srgbClr val="1F5F2A"/>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13" name="TextBox 12"/>
          <p:cNvSpPr txBox="1"/>
          <p:nvPr/>
        </p:nvSpPr>
        <p:spPr>
          <a:xfrm>
            <a:off x="548640" y="5720745"/>
            <a:ext cx="5257800" cy="365760"/>
          </a:xfrm>
          <a:prstGeom prst="rect">
            <a:avLst/>
          </a:prstGeom>
          <a:noFill/>
        </p:spPr>
        <p:txBody>
          <a:bodyPr wrap="square" lIns="0" rIns="0" tIns="0" bIns="0" anchor="t"/>
          <a:lstStyle/>
          <a:p>
            <a:pPr algn="l">
              <a:lnSpc>
                <a:spcPct val="100000"/>
              </a:lnSpc>
              <a:spcAft>
                <a:spcPts val="200"/>
              </a:spcAft>
            </a:pPr>
            <a:r>
              <a:rPr sz="1050" b="1" i="0">
                <a:solidFill>
                  <a:srgbClr val="FFFFFF"/>
                </a:solidFill>
                <a:latin typeface="Arial"/>
              </a:rPr>
              <a:t>Cabinet inspector. </a:t>
            </a:r>
            <a:r>
              <a:rPr sz="1050" b="0" i="0">
                <a:solidFill>
                  <a:srgbClr val="A9C2AE"/>
                </a:solidFill>
                <a:latin typeface="Arial"/>
              </a:rPr>
              <a:t>Every slot shows its signal type; hatched = wired spare, ! = held for a TQ. 2 of 4 CIOCs of cabinet AR1-DCM-100-01.</a:t>
            </a:r>
          </a:p>
        </p:txBody>
      </p:sp>
      <p:pic>
        <p:nvPicPr>
          <p:cNvPr id="14" name="Picture 13" descr="ui_results.png"/>
          <p:cNvPicPr>
            <a:picLocks noChangeAspect="1"/>
          </p:cNvPicPr>
          <p:nvPr/>
        </p:nvPicPr>
        <p:blipFill>
          <a:blip r:embed="rId4"/>
          <a:stretch>
            <a:fillRect/>
          </a:stretch>
        </p:blipFill>
        <p:spPr>
          <a:xfrm>
            <a:off x="5989320" y="2157984"/>
            <a:ext cx="3291840" cy="1739337"/>
          </a:xfrm>
          <a:prstGeom prst="rect">
            <a:avLst/>
          </a:prstGeom>
        </p:spPr>
      </p:pic>
      <p:sp>
        <p:nvSpPr>
          <p:cNvPr id="15" name="Rectangle 14"/>
          <p:cNvSpPr/>
          <p:nvPr/>
        </p:nvSpPr>
        <p:spPr>
          <a:xfrm>
            <a:off x="5989320" y="2157984"/>
            <a:ext cx="3291840" cy="1739337"/>
          </a:xfrm>
          <a:prstGeom prst="rect">
            <a:avLst/>
          </a:prstGeom>
          <a:noFill/>
          <a:ln w="12700">
            <a:solidFill>
              <a:srgbClr val="1F5F2A"/>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pic>
        <p:nvPicPr>
          <p:cNvPr id="16" name="Picture 15" descr="ui_revise.png"/>
          <p:cNvPicPr>
            <a:picLocks noChangeAspect="1"/>
          </p:cNvPicPr>
          <p:nvPr/>
        </p:nvPicPr>
        <p:blipFill>
          <a:blip r:embed="rId5"/>
          <a:stretch>
            <a:fillRect/>
          </a:stretch>
        </p:blipFill>
        <p:spPr>
          <a:xfrm>
            <a:off x="5989320" y="4025337"/>
            <a:ext cx="3291840" cy="1761579"/>
          </a:xfrm>
          <a:prstGeom prst="rect">
            <a:avLst/>
          </a:prstGeom>
        </p:spPr>
      </p:pic>
      <p:sp>
        <p:nvSpPr>
          <p:cNvPr id="17" name="Rectangle 16"/>
          <p:cNvSpPr/>
          <p:nvPr/>
        </p:nvSpPr>
        <p:spPr>
          <a:xfrm>
            <a:off x="5989320" y="4025337"/>
            <a:ext cx="3291840" cy="1761579"/>
          </a:xfrm>
          <a:prstGeom prst="rect">
            <a:avLst/>
          </a:prstGeom>
          <a:noFill/>
          <a:ln w="12700">
            <a:solidFill>
              <a:srgbClr val="1F5F2A"/>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18" name="TextBox 17"/>
          <p:cNvSpPr txBox="1"/>
          <p:nvPr/>
        </p:nvSpPr>
        <p:spPr>
          <a:xfrm>
            <a:off x="9445752" y="2176272"/>
            <a:ext cx="2304287" cy="1739337"/>
          </a:xfrm>
          <a:prstGeom prst="rect">
            <a:avLst/>
          </a:prstGeom>
          <a:noFill/>
        </p:spPr>
        <p:txBody>
          <a:bodyPr wrap="square" lIns="0" rIns="0" tIns="0" bIns="0" anchor="t"/>
          <a:lstStyle/>
          <a:p>
            <a:pPr algn="l">
              <a:lnSpc>
                <a:spcPct val="100000"/>
              </a:lnSpc>
              <a:spcAft>
                <a:spcPts val="300"/>
              </a:spcAft>
            </a:pPr>
            <a:r>
              <a:rPr sz="1000" b="1" i="0">
                <a:solidFill>
                  <a:srgbClr val="4DD262"/>
                </a:solidFill>
                <a:latin typeface="Arial"/>
              </a:rPr>
              <a:t>RESULTS</a:t>
            </a:r>
          </a:p>
          <a:p>
            <a:pPr algn="l">
              <a:lnSpc>
                <a:spcPct val="100000"/>
              </a:lnSpc>
              <a:spcAft>
                <a:spcPts val="300"/>
              </a:spcAft>
            </a:pPr>
            <a:r>
              <a:rPr sz="1900" b="1" i="0">
                <a:solidFill>
                  <a:srgbClr val="FFFFFF"/>
                </a:solidFill>
                <a:latin typeface="Arial"/>
              </a:rPr>
              <a:t>0 violations</a:t>
            </a:r>
          </a:p>
          <a:p>
            <a:pPr algn="l">
              <a:lnSpc>
                <a:spcPct val="100000"/>
              </a:lnSpc>
              <a:spcAft>
                <a:spcPts val="300"/>
              </a:spcAft>
            </a:pPr>
            <a:r>
              <a:rPr sz="1080" b="0" i="0">
                <a:solidFill>
                  <a:srgbClr val="EAF5EC"/>
                </a:solidFill>
                <a:latin typeface="Arial"/>
              </a:rPr>
              <a:t>Verifier re-read the exported rows: all 11 rule families pass, for this dataset and these rules only.</a:t>
            </a:r>
          </a:p>
          <a:p>
            <a:pPr algn="l">
              <a:lnSpc>
                <a:spcPct val="100000"/>
              </a:lnSpc>
              <a:spcAft>
                <a:spcPts val="300"/>
              </a:spcAft>
            </a:pPr>
            <a:r>
              <a:rPr sz="1080" b="0" i="0">
                <a:solidFill>
                  <a:srgbClr val="A9C2AE"/>
                </a:solidFill>
                <a:latin typeface="Arial"/>
              </a:rPr>
              <a:t>29 rows held under 6 blocking TQs; every row placed or queried.</a:t>
            </a:r>
          </a:p>
        </p:txBody>
      </p:sp>
      <p:sp>
        <p:nvSpPr>
          <p:cNvPr id="19" name="TextBox 18"/>
          <p:cNvSpPr txBox="1"/>
          <p:nvPr/>
        </p:nvSpPr>
        <p:spPr>
          <a:xfrm>
            <a:off x="9445752" y="4043625"/>
            <a:ext cx="2304287" cy="1761579"/>
          </a:xfrm>
          <a:prstGeom prst="rect">
            <a:avLst/>
          </a:prstGeom>
          <a:noFill/>
        </p:spPr>
        <p:txBody>
          <a:bodyPr wrap="square" lIns="0" rIns="0" tIns="0" bIns="0" anchor="t"/>
          <a:lstStyle/>
          <a:p>
            <a:pPr algn="l">
              <a:lnSpc>
                <a:spcPct val="100000"/>
              </a:lnSpc>
              <a:spcAft>
                <a:spcPts val="300"/>
              </a:spcAft>
            </a:pPr>
            <a:r>
              <a:rPr sz="1000" b="1" i="0">
                <a:solidFill>
                  <a:srgbClr val="4DD262"/>
                </a:solidFill>
                <a:latin typeface="Arial"/>
              </a:rPr>
              <a:t>REVISE (REV B)</a:t>
            </a:r>
          </a:p>
          <a:p>
            <a:pPr algn="l">
              <a:lnSpc>
                <a:spcPct val="100000"/>
              </a:lnSpc>
              <a:spcAft>
                <a:spcPts val="300"/>
              </a:spcAft>
            </a:pPr>
            <a:r>
              <a:rPr sz="1900" b="1" i="0">
                <a:solidFill>
                  <a:srgbClr val="FFFFFF"/>
                </a:solidFill>
                <a:latin typeface="Arial"/>
              </a:rPr>
              <a:t>46 moved</a:t>
            </a:r>
          </a:p>
          <a:p>
            <a:pPr algn="l">
              <a:lnSpc>
                <a:spcPct val="100000"/>
              </a:lnSpc>
              <a:spcAft>
                <a:spcPts val="300"/>
              </a:spcAft>
            </a:pPr>
            <a:r>
              <a:rPr sz="1080" b="0" i="0">
                <a:solidFill>
                  <a:srgbClr val="EAF5EC"/>
                </a:solidFill>
                <a:latin typeface="Arial"/>
              </a:rPr>
              <a:t>of 1,981 allocated signals; 111 added, 58 deleted, 28 modified in place, 0 violations.</a:t>
            </a:r>
          </a:p>
          <a:p>
            <a:pPr algn="l">
              <a:lnSpc>
                <a:spcPct val="100000"/>
              </a:lnSpc>
              <a:spcAft>
                <a:spcPts val="300"/>
              </a:spcAft>
            </a:pPr>
            <a:r>
              <a:rPr sz="1080" b="0" i="0">
                <a:solidFill>
                  <a:srgbClr val="A9C2AE"/>
                </a:solidFill>
                <a:latin typeface="Arial"/>
              </a:rPr>
              <a:t>Repair window proven exact in this run; runs can differ.</a:t>
            </a:r>
          </a:p>
        </p:txBody>
      </p:sp>
      <p:sp>
        <p:nvSpPr>
          <p:cNvPr id="20" name="TextBox 19"/>
          <p:cNvSpPr txBox="1"/>
          <p:nvPr/>
        </p:nvSpPr>
        <p:spPr>
          <a:xfrm>
            <a:off x="548640" y="6053328"/>
            <a:ext cx="11201400" cy="201168"/>
          </a:xfrm>
          <a:prstGeom prst="rect">
            <a:avLst/>
          </a:prstGeom>
          <a:noFill/>
        </p:spPr>
        <p:txBody>
          <a:bodyPr wrap="square" lIns="0" rIns="0" tIns="0" bIns="0" anchor="t"/>
          <a:lstStyle/>
          <a:p>
            <a:pPr algn="l">
              <a:lnSpc>
                <a:spcPct val="100000"/>
              </a:lnSpc>
              <a:spcAft>
                <a:spcPts val="200"/>
              </a:spcAft>
            </a:pPr>
            <a:r>
              <a:rPr sz="1000" b="0" i="1">
                <a:solidFill>
                  <a:srgbClr val="FFB547"/>
                </a:solidFill>
                <a:latin typeface="Arial"/>
              </a:rPr>
              <a:t>Real screenshots of the current build, captured 11 Oct 2026. Data is SYNTHETIC: 2,000-signal MDB with 6 injected errors plus a synthetic Rev B. Not customer data.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emplate background" descr="bg6.jpg"/>
          <p:cNvPicPr>
            <a:picLocks noChangeAspect="1"/>
          </p:cNvPicPr>
          <p:nvPr/>
        </p:nvPicPr>
        <p:blipFill>
          <a:blip r:embed="rId2"/>
          <a:stretch>
            <a:fillRect/>
          </a:stretch>
        </p:blipFill>
        <p:spPr>
          <a:xfrm>
            <a:off x="0" y="0"/>
            <a:ext cx="12191695" cy="6819206"/>
          </a:xfrm>
          <a:prstGeom prst="rect">
            <a:avLst/>
          </a:prstGeom>
        </p:spPr>
      </p:pic>
      <p:sp>
        <p:nvSpPr>
          <p:cNvPr id="3" name="Rectangle 2"/>
          <p:cNvSpPr/>
          <p:nvPr/>
        </p:nvSpPr>
        <p:spPr>
          <a:xfrm>
            <a:off x="548640" y="1856231"/>
            <a:ext cx="11201400" cy="36576"/>
          </a:xfrm>
          <a:prstGeom prst="rect">
            <a:avLst/>
          </a:prstGeom>
          <a:solidFill>
            <a:srgbClr val="1F5F2A"/>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4" name="Oval 3"/>
          <p:cNvSpPr/>
          <p:nvPr/>
        </p:nvSpPr>
        <p:spPr>
          <a:xfrm>
            <a:off x="658368" y="1792223"/>
            <a:ext cx="164592" cy="164592"/>
          </a:xfrm>
          <a:prstGeom prst="ellipse">
            <a:avLst/>
          </a:prstGeom>
          <a:solidFill>
            <a:srgbClr val="4DD262"/>
          </a:solidFill>
          <a:ln w="19050">
            <a:solidFill>
              <a:srgbClr val="4DD26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5" name="Rounded Rectangle 4"/>
          <p:cNvSpPr/>
          <p:nvPr/>
        </p:nvSpPr>
        <p:spPr>
          <a:xfrm>
            <a:off x="548640" y="2039112"/>
            <a:ext cx="2724912" cy="1444752"/>
          </a:xfrm>
          <a:prstGeom prst="roundRect">
            <a:avLst>
              <a:gd name="adj" fmla="val 4000"/>
            </a:avLst>
          </a:prstGeom>
          <a:solidFill>
            <a:srgbClr val="06140A">
              <a:alpha val="92000"/>
            </a:srgbClr>
          </a:solidFill>
          <a:ln w="12700">
            <a:solidFill>
              <a:srgbClr val="4DD26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6" name="TextBox 5"/>
          <p:cNvSpPr txBox="1"/>
          <p:nvPr/>
        </p:nvSpPr>
        <p:spPr>
          <a:xfrm>
            <a:off x="685800" y="2084831"/>
            <a:ext cx="1901952" cy="256032"/>
          </a:xfrm>
          <a:prstGeom prst="rect">
            <a:avLst/>
          </a:prstGeom>
          <a:noFill/>
        </p:spPr>
        <p:txBody>
          <a:bodyPr wrap="square" lIns="0" rIns="0" tIns="0" bIns="0" anchor="t"/>
          <a:lstStyle/>
          <a:p>
            <a:pPr algn="l">
              <a:lnSpc>
                <a:spcPct val="100000"/>
              </a:lnSpc>
              <a:spcAft>
                <a:spcPts val="200"/>
              </a:spcAft>
            </a:pPr>
            <a:r>
              <a:rPr sz="1050" b="1" i="0">
                <a:solidFill>
                  <a:srgbClr val="4DD262"/>
                </a:solidFill>
                <a:latin typeface="Arial"/>
              </a:rPr>
              <a:t>BUILT · AS OF 11 OCT</a:t>
            </a:r>
          </a:p>
        </p:txBody>
      </p:sp>
      <p:sp>
        <p:nvSpPr>
          <p:cNvPr id="7" name="Rounded Rectangle 6"/>
          <p:cNvSpPr/>
          <p:nvPr/>
        </p:nvSpPr>
        <p:spPr>
          <a:xfrm>
            <a:off x="2450592" y="2093976"/>
            <a:ext cx="731520" cy="219456"/>
          </a:xfrm>
          <a:prstGeom prst="roundRect">
            <a:avLst>
              <a:gd name="adj" fmla="val 35000"/>
            </a:avLst>
          </a:prstGeom>
          <a:solidFill>
            <a:srgbClr val="4DD26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200"/>
              </a:spcAft>
            </a:pPr>
            <a:r>
              <a:rPr sz="900" b="1" i="0">
                <a:solidFill>
                  <a:srgbClr val="06140A"/>
                </a:solidFill>
                <a:latin typeface="Arial"/>
              </a:rPr>
              <a:t>Built</a:t>
            </a:r>
          </a:p>
        </p:txBody>
      </p:sp>
      <p:sp>
        <p:nvSpPr>
          <p:cNvPr id="8" name="TextBox 7"/>
          <p:cNvSpPr txBox="1"/>
          <p:nvPr/>
        </p:nvSpPr>
        <p:spPr>
          <a:xfrm>
            <a:off x="685800" y="2386584"/>
            <a:ext cx="2496312" cy="1024128"/>
          </a:xfrm>
          <a:prstGeom prst="rect">
            <a:avLst/>
          </a:prstGeom>
          <a:noFill/>
        </p:spPr>
        <p:txBody>
          <a:bodyPr wrap="square" lIns="0" rIns="0" tIns="0" bIns="0" anchor="t"/>
          <a:lstStyle/>
          <a:p>
            <a:pPr algn="l" marL="146304" indent="-146304">
              <a:lnSpc>
                <a:spcPct val="100000"/>
              </a:lnSpc>
              <a:spcAft>
                <a:spcPts val="200"/>
              </a:spcAft>
              <a:buFont typeface="Arial"/>
              <a:buChar char="•"/>
            </a:pPr>
            <a:r>
              <a:rPr sz="1050" b="0" i="0">
                <a:solidFill>
                  <a:srgbClr val="EAF5EC"/>
                </a:solidFill>
                <a:latin typeface="Arial"/>
              </a:rPr>
              <a:t>Engine: ingest to verified export</a:t>
            </a:r>
          </a:p>
          <a:p>
            <a:pPr algn="l" marL="146304" indent="-146304">
              <a:lnSpc>
                <a:spcPct val="100000"/>
              </a:lnSpc>
              <a:spcAft>
                <a:spcPts val="200"/>
              </a:spcAft>
              <a:buFont typeface="Arial"/>
              <a:buChar char="•"/>
            </a:pPr>
            <a:r>
              <a:rPr sz="1050" b="0" i="0">
                <a:solidFill>
                  <a:srgbClr val="EAF5EC"/>
                </a:solidFill>
                <a:latin typeface="Arial"/>
              </a:rPr>
              <a:t>Revision engine + CP-SAT repair</a:t>
            </a:r>
          </a:p>
          <a:p>
            <a:pPr algn="l" marL="146304" indent="-146304">
              <a:lnSpc>
                <a:spcPct val="100000"/>
              </a:lnSpc>
              <a:spcAft>
                <a:spcPts val="200"/>
              </a:spcAft>
              <a:buFont typeface="Arial"/>
              <a:buChar char="•"/>
            </a:pPr>
            <a:r>
              <a:rPr sz="1050" b="0" i="0">
                <a:solidFill>
                  <a:srgbClr val="EAF5EC"/>
                </a:solidFill>
                <a:latin typeface="Arial"/>
              </a:rPr>
              <a:t>Streamlit workbench, 7 stages</a:t>
            </a:r>
          </a:p>
          <a:p>
            <a:pPr algn="l" marL="146304" indent="-146304">
              <a:lnSpc>
                <a:spcPct val="100000"/>
              </a:lnSpc>
              <a:spcAft>
                <a:spcPts val="200"/>
              </a:spcAft>
              <a:buFont typeface="Arial"/>
              <a:buChar char="•"/>
            </a:pPr>
            <a:r>
              <a:rPr sz="1050" b="0" i="0">
                <a:solidFill>
                  <a:srgbClr val="EAF5EC"/>
                </a:solidFill>
                <a:latin typeface="Arial"/>
              </a:rPr>
              <a:t>122 automated tests pass</a:t>
            </a:r>
          </a:p>
        </p:txBody>
      </p:sp>
      <p:sp>
        <p:nvSpPr>
          <p:cNvPr id="9" name="Oval 8"/>
          <p:cNvSpPr/>
          <p:nvPr/>
        </p:nvSpPr>
        <p:spPr>
          <a:xfrm>
            <a:off x="3483864" y="1792223"/>
            <a:ext cx="164592" cy="164592"/>
          </a:xfrm>
          <a:prstGeom prst="ellipse">
            <a:avLst/>
          </a:prstGeom>
          <a:solidFill>
            <a:srgbClr val="06140A"/>
          </a:solidFill>
          <a:ln w="19050">
            <a:solidFill>
              <a:srgbClr val="FFB547"/>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10" name="Rounded Rectangle 9"/>
          <p:cNvSpPr/>
          <p:nvPr/>
        </p:nvSpPr>
        <p:spPr>
          <a:xfrm>
            <a:off x="3374136" y="2039112"/>
            <a:ext cx="2724912" cy="1444752"/>
          </a:xfrm>
          <a:prstGeom prst="roundRect">
            <a:avLst>
              <a:gd name="adj" fmla="val 4000"/>
            </a:avLst>
          </a:prstGeom>
          <a:solidFill>
            <a:srgbClr val="06140A">
              <a:alpha val="92000"/>
            </a:srgbClr>
          </a:solidFill>
          <a:ln w="12700">
            <a:solidFill>
              <a:srgbClr val="FFB547"/>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11" name="TextBox 10"/>
          <p:cNvSpPr txBox="1"/>
          <p:nvPr/>
        </p:nvSpPr>
        <p:spPr>
          <a:xfrm>
            <a:off x="3511296" y="2084831"/>
            <a:ext cx="1901952" cy="256032"/>
          </a:xfrm>
          <a:prstGeom prst="rect">
            <a:avLst/>
          </a:prstGeom>
          <a:noFill/>
        </p:spPr>
        <p:txBody>
          <a:bodyPr wrap="square" lIns="0" rIns="0" tIns="0" bIns="0" anchor="t"/>
          <a:lstStyle/>
          <a:p>
            <a:pPr algn="l">
              <a:lnSpc>
                <a:spcPct val="100000"/>
              </a:lnSpc>
              <a:spcAft>
                <a:spcPts val="200"/>
              </a:spcAft>
            </a:pPr>
            <a:r>
              <a:rPr sz="1050" b="1" i="0">
                <a:solidFill>
                  <a:srgbClr val="FFB547"/>
                </a:solidFill>
                <a:latin typeface="Arial"/>
              </a:rPr>
              <a:t>ROUND 2 · 15–18 OCT</a:t>
            </a:r>
          </a:p>
        </p:txBody>
      </p:sp>
      <p:sp>
        <p:nvSpPr>
          <p:cNvPr id="12" name="Rounded Rectangle 11"/>
          <p:cNvSpPr/>
          <p:nvPr/>
        </p:nvSpPr>
        <p:spPr>
          <a:xfrm>
            <a:off x="5276088" y="2093976"/>
            <a:ext cx="731520" cy="219456"/>
          </a:xfrm>
          <a:prstGeom prst="roundRect">
            <a:avLst>
              <a:gd name="adj" fmla="val 35000"/>
            </a:avLst>
          </a:prstGeom>
          <a:solidFill>
            <a:srgbClr val="06140A"/>
          </a:solidFill>
          <a:ln w="12700">
            <a:solidFill>
              <a:srgbClr val="FFB547"/>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200"/>
              </a:spcAft>
            </a:pPr>
            <a:r>
              <a:rPr sz="900" b="1" i="0">
                <a:solidFill>
                  <a:srgbClr val="FFB547"/>
                </a:solidFill>
                <a:latin typeface="Arial"/>
              </a:rPr>
              <a:t>Planned</a:t>
            </a:r>
          </a:p>
        </p:txBody>
      </p:sp>
      <p:sp>
        <p:nvSpPr>
          <p:cNvPr id="13" name="TextBox 12"/>
          <p:cNvSpPr txBox="1"/>
          <p:nvPr/>
        </p:nvSpPr>
        <p:spPr>
          <a:xfrm>
            <a:off x="3511296" y="2386584"/>
            <a:ext cx="2496312" cy="1024128"/>
          </a:xfrm>
          <a:prstGeom prst="rect">
            <a:avLst/>
          </a:prstGeom>
          <a:noFill/>
        </p:spPr>
        <p:txBody>
          <a:bodyPr wrap="square" lIns="0" rIns="0" tIns="0" bIns="0" anchor="t"/>
          <a:lstStyle/>
          <a:p>
            <a:pPr algn="l" marL="146304" indent="-146304">
              <a:lnSpc>
                <a:spcPct val="100000"/>
              </a:lnSpc>
              <a:spcAft>
                <a:spcPts val="200"/>
              </a:spcAft>
              <a:buFont typeface="Arial"/>
              <a:buChar char="•"/>
            </a:pPr>
            <a:r>
              <a:rPr sz="1050" b="0" i="0">
                <a:solidFill>
                  <a:srgbClr val="C9D9CD"/>
                </a:solidFill>
                <a:latin typeface="Arial"/>
              </a:rPr>
              <a:t>Map export to organiser template, if released</a:t>
            </a:r>
          </a:p>
          <a:p>
            <a:pPr algn="l" marL="146304" indent="-146304">
              <a:lnSpc>
                <a:spcPct val="100000"/>
              </a:lnSpc>
              <a:spcAft>
                <a:spcPts val="200"/>
              </a:spcAft>
              <a:buFont typeface="Arial"/>
              <a:buChar char="•"/>
            </a:pPr>
            <a:r>
              <a:rPr sz="1050" b="0" i="0">
                <a:solidFill>
                  <a:srgbClr val="C9D9CD"/>
                </a:solidFill>
                <a:latin typeface="Arial"/>
              </a:rPr>
              <a:t>Confirm open rule readings with mentors</a:t>
            </a:r>
          </a:p>
          <a:p>
            <a:pPr algn="l" marL="146304" indent="-146304">
              <a:lnSpc>
                <a:spcPct val="100000"/>
              </a:lnSpc>
              <a:spcAft>
                <a:spcPts val="200"/>
              </a:spcAft>
              <a:buFont typeface="Arial"/>
              <a:buChar char="•"/>
            </a:pPr>
            <a:r>
              <a:rPr sz="1050" b="0" i="0">
                <a:solidFill>
                  <a:srgbClr val="C9D9CD"/>
                </a:solidFill>
                <a:latin typeface="Arial"/>
              </a:rPr>
              <a:t>Reduce CP-SAT run-to-run variance</a:t>
            </a:r>
          </a:p>
          <a:p>
            <a:pPr algn="l" marL="146304" indent="-146304">
              <a:lnSpc>
                <a:spcPct val="100000"/>
              </a:lnSpc>
              <a:spcAft>
                <a:spcPts val="200"/>
              </a:spcAft>
              <a:buFont typeface="Arial"/>
              <a:buChar char="•"/>
            </a:pPr>
            <a:r>
              <a:rPr sz="1050" b="0" i="0">
                <a:solidFill>
                  <a:srgbClr val="C9D9CD"/>
                </a:solidFill>
                <a:latin typeface="Arial"/>
              </a:rPr>
              <a:t>UI: mapping review and override</a:t>
            </a:r>
          </a:p>
        </p:txBody>
      </p:sp>
      <p:sp>
        <p:nvSpPr>
          <p:cNvPr id="14" name="Oval 13"/>
          <p:cNvSpPr/>
          <p:nvPr/>
        </p:nvSpPr>
        <p:spPr>
          <a:xfrm>
            <a:off x="6309359" y="1792223"/>
            <a:ext cx="164592" cy="164592"/>
          </a:xfrm>
          <a:prstGeom prst="ellipse">
            <a:avLst/>
          </a:prstGeom>
          <a:solidFill>
            <a:srgbClr val="06140A"/>
          </a:solidFill>
          <a:ln w="19050">
            <a:solidFill>
              <a:srgbClr val="6FD3F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15" name="Rounded Rectangle 14"/>
          <p:cNvSpPr/>
          <p:nvPr/>
        </p:nvSpPr>
        <p:spPr>
          <a:xfrm>
            <a:off x="6199631" y="2039112"/>
            <a:ext cx="2724912" cy="1444752"/>
          </a:xfrm>
          <a:prstGeom prst="roundRect">
            <a:avLst>
              <a:gd name="adj" fmla="val 4000"/>
            </a:avLst>
          </a:prstGeom>
          <a:solidFill>
            <a:srgbClr val="06140A">
              <a:alpha val="92000"/>
            </a:srgbClr>
          </a:solidFill>
          <a:ln w="12700">
            <a:solidFill>
              <a:srgbClr val="6FD3F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16" name="TextBox 15"/>
          <p:cNvSpPr txBox="1"/>
          <p:nvPr/>
        </p:nvSpPr>
        <p:spPr>
          <a:xfrm>
            <a:off x="6336792" y="2084831"/>
            <a:ext cx="1901952" cy="256032"/>
          </a:xfrm>
          <a:prstGeom prst="rect">
            <a:avLst/>
          </a:prstGeom>
          <a:noFill/>
        </p:spPr>
        <p:txBody>
          <a:bodyPr wrap="square" lIns="0" rIns="0" tIns="0" bIns="0" anchor="t"/>
          <a:lstStyle/>
          <a:p>
            <a:pPr algn="l">
              <a:lnSpc>
                <a:spcPct val="100000"/>
              </a:lnSpc>
              <a:spcAft>
                <a:spcPts val="200"/>
              </a:spcAft>
            </a:pPr>
            <a:r>
              <a:rPr sz="1050" b="1" i="0">
                <a:solidFill>
                  <a:srgbClr val="6FD3FF"/>
                </a:solidFill>
                <a:latin typeface="Arial"/>
              </a:rPr>
              <a:t>GRAND FINALE · 24 OCT</a:t>
            </a:r>
          </a:p>
        </p:txBody>
      </p:sp>
      <p:sp>
        <p:nvSpPr>
          <p:cNvPr id="17" name="Rounded Rectangle 16"/>
          <p:cNvSpPr/>
          <p:nvPr/>
        </p:nvSpPr>
        <p:spPr>
          <a:xfrm>
            <a:off x="8101583" y="2093976"/>
            <a:ext cx="731520" cy="219456"/>
          </a:xfrm>
          <a:prstGeom prst="roundRect">
            <a:avLst>
              <a:gd name="adj" fmla="val 35000"/>
            </a:avLst>
          </a:prstGeom>
          <a:solidFill>
            <a:srgbClr val="06140A"/>
          </a:solidFill>
          <a:ln w="12700">
            <a:solidFill>
              <a:srgbClr val="FFB547"/>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200"/>
              </a:spcAft>
            </a:pPr>
            <a:r>
              <a:rPr sz="900" b="1" i="0">
                <a:solidFill>
                  <a:srgbClr val="FFB547"/>
                </a:solidFill>
                <a:latin typeface="Arial"/>
              </a:rPr>
              <a:t>Planned</a:t>
            </a:r>
          </a:p>
        </p:txBody>
      </p:sp>
      <p:sp>
        <p:nvSpPr>
          <p:cNvPr id="18" name="TextBox 17"/>
          <p:cNvSpPr txBox="1"/>
          <p:nvPr/>
        </p:nvSpPr>
        <p:spPr>
          <a:xfrm>
            <a:off x="6336792" y="2386584"/>
            <a:ext cx="2496312" cy="1024128"/>
          </a:xfrm>
          <a:prstGeom prst="rect">
            <a:avLst/>
          </a:prstGeom>
          <a:noFill/>
        </p:spPr>
        <p:txBody>
          <a:bodyPr wrap="square" lIns="0" rIns="0" tIns="0" bIns="0" anchor="t"/>
          <a:lstStyle/>
          <a:p>
            <a:pPr algn="l" marL="146304" indent="-146304">
              <a:lnSpc>
                <a:spcPct val="100000"/>
              </a:lnSpc>
              <a:spcAft>
                <a:spcPts val="200"/>
              </a:spcAft>
              <a:buFont typeface="Arial"/>
              <a:buChar char="•"/>
            </a:pPr>
            <a:r>
              <a:rPr sz="1050" b="0" i="0">
                <a:solidFill>
                  <a:srgbClr val="C9D9CD"/>
                </a:solidFill>
                <a:latin typeface="Arial"/>
              </a:rPr>
              <a:t>Run on organiser samples + hidden test</a:t>
            </a:r>
          </a:p>
          <a:p>
            <a:pPr algn="l" marL="146304" indent="-146304">
              <a:lnSpc>
                <a:spcPct val="100000"/>
              </a:lnSpc>
              <a:spcAft>
                <a:spcPts val="200"/>
              </a:spcAft>
              <a:buFont typeface="Arial"/>
              <a:buChar char="•"/>
            </a:pPr>
            <a:r>
              <a:rPr sz="1050" b="0" i="0">
                <a:solidFill>
                  <a:srgbClr val="C9D9CD"/>
                </a:solidFill>
                <a:latin typeface="Arial"/>
              </a:rPr>
              <a:t>AI mapping suggestions, user-reviewed</a:t>
            </a:r>
          </a:p>
          <a:p>
            <a:pPr algn="l" marL="146304" indent="-146304">
              <a:lnSpc>
                <a:spcPct val="100000"/>
              </a:lnSpc>
              <a:spcAft>
                <a:spcPts val="200"/>
              </a:spcAft>
              <a:buFont typeface="Arial"/>
              <a:buChar char="•"/>
            </a:pPr>
            <a:r>
              <a:rPr sz="1050" b="0" i="0">
                <a:solidFill>
                  <a:srgbClr val="C9D9CD"/>
                </a:solidFill>
                <a:latin typeface="Arial"/>
              </a:rPr>
              <a:t>Demo hardening, offline bundle</a:t>
            </a:r>
          </a:p>
        </p:txBody>
      </p:sp>
      <p:sp>
        <p:nvSpPr>
          <p:cNvPr id="19" name="Oval 18"/>
          <p:cNvSpPr/>
          <p:nvPr/>
        </p:nvSpPr>
        <p:spPr>
          <a:xfrm>
            <a:off x="9134855" y="1792223"/>
            <a:ext cx="164592" cy="164592"/>
          </a:xfrm>
          <a:prstGeom prst="ellipse">
            <a:avLst/>
          </a:prstGeom>
          <a:solidFill>
            <a:srgbClr val="06140A"/>
          </a:solidFill>
          <a:ln w="19050">
            <a:solidFill>
              <a:srgbClr val="7F9A8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0" name="Rounded Rectangle 19"/>
          <p:cNvSpPr/>
          <p:nvPr/>
        </p:nvSpPr>
        <p:spPr>
          <a:xfrm>
            <a:off x="9025128" y="2039112"/>
            <a:ext cx="2724912" cy="1444752"/>
          </a:xfrm>
          <a:prstGeom prst="roundRect">
            <a:avLst>
              <a:gd name="adj" fmla="val 4000"/>
            </a:avLst>
          </a:prstGeom>
          <a:solidFill>
            <a:srgbClr val="06140A">
              <a:alpha val="92000"/>
            </a:srgbClr>
          </a:solidFill>
          <a:ln w="12700">
            <a:solidFill>
              <a:srgbClr val="7F9A8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1" name="TextBox 20"/>
          <p:cNvSpPr txBox="1"/>
          <p:nvPr/>
        </p:nvSpPr>
        <p:spPr>
          <a:xfrm>
            <a:off x="9162288" y="2084831"/>
            <a:ext cx="1901952" cy="256032"/>
          </a:xfrm>
          <a:prstGeom prst="rect">
            <a:avLst/>
          </a:prstGeom>
          <a:noFill/>
        </p:spPr>
        <p:txBody>
          <a:bodyPr wrap="square" lIns="0" rIns="0" tIns="0" bIns="0" anchor="t"/>
          <a:lstStyle/>
          <a:p>
            <a:pPr algn="l">
              <a:lnSpc>
                <a:spcPct val="100000"/>
              </a:lnSpc>
              <a:spcAft>
                <a:spcPts val="200"/>
              </a:spcAft>
            </a:pPr>
            <a:r>
              <a:rPr sz="1050" b="1" i="0">
                <a:solidFill>
                  <a:srgbClr val="7F9A86"/>
                </a:solidFill>
                <a:latin typeface="Arial"/>
              </a:rPr>
              <a:t>BEYOND</a:t>
            </a:r>
          </a:p>
        </p:txBody>
      </p:sp>
      <p:sp>
        <p:nvSpPr>
          <p:cNvPr id="22" name="Rounded Rectangle 21"/>
          <p:cNvSpPr/>
          <p:nvPr/>
        </p:nvSpPr>
        <p:spPr>
          <a:xfrm>
            <a:off x="10561320" y="2093976"/>
            <a:ext cx="1097280" cy="219456"/>
          </a:xfrm>
          <a:prstGeom prst="roundRect">
            <a:avLst>
              <a:gd name="adj" fmla="val 35000"/>
            </a:avLst>
          </a:prstGeom>
          <a:solidFill>
            <a:srgbClr val="06140A"/>
          </a:solidFill>
          <a:ln w="12700">
            <a:solidFill>
              <a:srgbClr val="7F9A8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200"/>
              </a:spcAft>
            </a:pPr>
            <a:r>
              <a:rPr sz="900" b="1" i="0">
                <a:solidFill>
                  <a:srgbClr val="7F9A86"/>
                </a:solidFill>
                <a:latin typeface="Arial"/>
              </a:rPr>
              <a:t>Idea, untested</a:t>
            </a:r>
          </a:p>
        </p:txBody>
      </p:sp>
      <p:sp>
        <p:nvSpPr>
          <p:cNvPr id="23" name="TextBox 22"/>
          <p:cNvSpPr txBox="1"/>
          <p:nvPr/>
        </p:nvSpPr>
        <p:spPr>
          <a:xfrm>
            <a:off x="9162288" y="2386584"/>
            <a:ext cx="2496312" cy="1024128"/>
          </a:xfrm>
          <a:prstGeom prst="rect">
            <a:avLst/>
          </a:prstGeom>
          <a:noFill/>
        </p:spPr>
        <p:txBody>
          <a:bodyPr wrap="square" lIns="0" rIns="0" tIns="0" bIns="0" anchor="t"/>
          <a:lstStyle/>
          <a:p>
            <a:pPr algn="l" marL="146304" indent="-146304">
              <a:lnSpc>
                <a:spcPct val="100000"/>
              </a:lnSpc>
              <a:spcAft>
                <a:spcPts val="200"/>
              </a:spcAft>
              <a:buFont typeface="Arial"/>
              <a:buChar char="•"/>
            </a:pPr>
            <a:r>
              <a:rPr sz="1050" b="0" i="0">
                <a:solidFill>
                  <a:srgbClr val="C9D9CD"/>
                </a:solidFill>
                <a:latin typeface="Arial"/>
              </a:rPr>
              <a:t>Bulk-Edit-style export (format unvalidated)</a:t>
            </a:r>
          </a:p>
          <a:p>
            <a:pPr algn="l" marL="146304" indent="-146304">
              <a:lnSpc>
                <a:spcPct val="100000"/>
              </a:lnSpc>
              <a:spcAft>
                <a:spcPts val="200"/>
              </a:spcAft>
              <a:buFont typeface="Arial"/>
              <a:buChar char="•"/>
            </a:pPr>
            <a:r>
              <a:rPr sz="1050" b="0" i="0">
                <a:solidFill>
                  <a:srgbClr val="C9D9CD"/>
                </a:solidFill>
                <a:latin typeface="Arial"/>
              </a:rPr>
              <a:t>Other electronic-marshalling platforms</a:t>
            </a:r>
          </a:p>
          <a:p>
            <a:pPr algn="l" marL="146304" indent="-146304">
              <a:lnSpc>
                <a:spcPct val="100000"/>
              </a:lnSpc>
              <a:spcAft>
                <a:spcPts val="200"/>
              </a:spcAft>
              <a:buFont typeface="Arial"/>
              <a:buChar char="•"/>
            </a:pPr>
            <a:r>
              <a:rPr sz="1050" b="0" i="0">
                <a:solidFill>
                  <a:srgbClr val="C9D9CD"/>
                </a:solidFill>
                <a:latin typeface="Arial"/>
              </a:rPr>
              <a:t>Cabinet labels and drawings</a:t>
            </a:r>
          </a:p>
        </p:txBody>
      </p:sp>
      <p:sp>
        <p:nvSpPr>
          <p:cNvPr id="24" name="TextBox 23"/>
          <p:cNvSpPr txBox="1"/>
          <p:nvPr/>
        </p:nvSpPr>
        <p:spPr>
          <a:xfrm>
            <a:off x="548640" y="3538728"/>
            <a:ext cx="11201400" cy="219456"/>
          </a:xfrm>
          <a:prstGeom prst="rect">
            <a:avLst/>
          </a:prstGeom>
          <a:noFill/>
        </p:spPr>
        <p:txBody>
          <a:bodyPr wrap="square" lIns="0" rIns="0" tIns="0" bIns="0" anchor="t"/>
          <a:lstStyle/>
          <a:p>
            <a:pPr algn="l">
              <a:lnSpc>
                <a:spcPct val="100000"/>
              </a:lnSpc>
              <a:spcAft>
                <a:spcPts val="200"/>
              </a:spcAft>
            </a:pPr>
            <a:r>
              <a:rPr sz="1050" b="1" i="0">
                <a:solidFill>
                  <a:srgbClr val="6FD3FF"/>
                </a:solidFill>
                <a:latin typeface="Arial"/>
              </a:rPr>
              <a:t>EVIDENCE · SYNTHETIC DATA ONLY</a:t>
            </a:r>
            <a:r>
              <a:rPr sz="1050" b="0" i="1">
                <a:solidFill>
                  <a:srgbClr val="A9C2AE"/>
                </a:solidFill>
                <a:latin typeface="Arial"/>
              </a:rPr>
              <a:t>   Apple M5 laptop, 16 GB · not evidence about the hidden test</a:t>
            </a:r>
          </a:p>
        </p:txBody>
      </p:sp>
      <p:sp>
        <p:nvSpPr>
          <p:cNvPr id="25" name="Rounded Rectangle 24"/>
          <p:cNvSpPr/>
          <p:nvPr/>
        </p:nvSpPr>
        <p:spPr>
          <a:xfrm>
            <a:off x="548640" y="3785616"/>
            <a:ext cx="7040880" cy="2194560"/>
          </a:xfrm>
          <a:prstGeom prst="roundRect">
            <a:avLst>
              <a:gd name="adj" fmla="val 4000"/>
            </a:avLst>
          </a:prstGeom>
          <a:solidFill>
            <a:srgbClr val="06140A">
              <a:alpha val="90000"/>
            </a:srgbClr>
          </a:solidFill>
          <a:ln w="12700">
            <a:solidFill>
              <a:srgbClr val="1F5F2A"/>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6" name="TextBox 25"/>
          <p:cNvSpPr txBox="1"/>
          <p:nvPr/>
        </p:nvSpPr>
        <p:spPr>
          <a:xfrm>
            <a:off x="685800" y="3840480"/>
            <a:ext cx="6766560" cy="274320"/>
          </a:xfrm>
          <a:prstGeom prst="rect">
            <a:avLst/>
          </a:prstGeom>
          <a:noFill/>
        </p:spPr>
        <p:txBody>
          <a:bodyPr wrap="square" lIns="0" rIns="0" tIns="0" bIns="0" anchor="t"/>
          <a:lstStyle/>
          <a:p>
            <a:pPr algn="l">
              <a:lnSpc>
                <a:spcPct val="100000"/>
              </a:lnSpc>
              <a:spcAft>
                <a:spcPts val="200"/>
              </a:spcAft>
            </a:pPr>
            <a:r>
              <a:rPr sz="1100" b="1" i="0">
                <a:solidFill>
                  <a:srgbClr val="4DD262"/>
                </a:solidFill>
                <a:latin typeface="Arial"/>
              </a:rPr>
              <a:t>Revision cost: signals moved per case, log scale</a:t>
            </a:r>
            <a:r>
              <a:rPr sz="1050" b="0" i="0">
                <a:solidFill>
                  <a:srgbClr val="FFFFFF"/>
                </a:solidFill>
                <a:latin typeface="Arial"/>
              </a:rPr>
              <a:t>   total 429–575 over 4 runs vs 49,805 for a full re-run</a:t>
            </a:r>
          </a:p>
        </p:txBody>
      </p:sp>
      <p:sp>
        <p:nvSpPr>
          <p:cNvPr id="27" name="Rectangle 26"/>
          <p:cNvSpPr/>
          <p:nvPr/>
        </p:nvSpPr>
        <p:spPr>
          <a:xfrm>
            <a:off x="1051560" y="5336438"/>
            <a:ext cx="6355080" cy="7315"/>
          </a:xfrm>
          <a:prstGeom prst="rect">
            <a:avLst/>
          </a:prstGeom>
          <a:solidFill>
            <a:srgbClr val="1F3A2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8" name="TextBox 27"/>
          <p:cNvSpPr txBox="1"/>
          <p:nvPr/>
        </p:nvSpPr>
        <p:spPr>
          <a:xfrm>
            <a:off x="640080" y="5257800"/>
            <a:ext cx="384048" cy="164592"/>
          </a:xfrm>
          <a:prstGeom prst="rect">
            <a:avLst/>
          </a:prstGeom>
          <a:noFill/>
        </p:spPr>
        <p:txBody>
          <a:bodyPr wrap="square" lIns="0" rIns="0" tIns="0" bIns="0" anchor="t"/>
          <a:lstStyle/>
          <a:p>
            <a:pPr algn="r">
              <a:lnSpc>
                <a:spcPct val="100000"/>
              </a:lnSpc>
              <a:spcAft>
                <a:spcPts val="200"/>
              </a:spcAft>
            </a:pPr>
            <a:r>
              <a:rPr sz="850" b="0" i="0">
                <a:solidFill>
                  <a:srgbClr val="A9C2AE"/>
                </a:solidFill>
                <a:latin typeface="Arial"/>
              </a:rPr>
              <a:t>1</a:t>
            </a:r>
          </a:p>
        </p:txBody>
      </p:sp>
      <p:sp>
        <p:nvSpPr>
          <p:cNvPr id="29" name="Rectangle 28"/>
          <p:cNvSpPr/>
          <p:nvPr/>
        </p:nvSpPr>
        <p:spPr>
          <a:xfrm>
            <a:off x="1051560" y="5089550"/>
            <a:ext cx="6355080" cy="7315"/>
          </a:xfrm>
          <a:prstGeom prst="rect">
            <a:avLst/>
          </a:prstGeom>
          <a:solidFill>
            <a:srgbClr val="1F3A2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30" name="TextBox 29"/>
          <p:cNvSpPr txBox="1"/>
          <p:nvPr/>
        </p:nvSpPr>
        <p:spPr>
          <a:xfrm>
            <a:off x="640080" y="5010912"/>
            <a:ext cx="384048" cy="164592"/>
          </a:xfrm>
          <a:prstGeom prst="rect">
            <a:avLst/>
          </a:prstGeom>
          <a:noFill/>
        </p:spPr>
        <p:txBody>
          <a:bodyPr wrap="square" lIns="0" rIns="0" tIns="0" bIns="0" anchor="t"/>
          <a:lstStyle/>
          <a:p>
            <a:pPr algn="r">
              <a:lnSpc>
                <a:spcPct val="100000"/>
              </a:lnSpc>
              <a:spcAft>
                <a:spcPts val="200"/>
              </a:spcAft>
            </a:pPr>
            <a:r>
              <a:rPr sz="850" b="0" i="0">
                <a:solidFill>
                  <a:srgbClr val="A9C2AE"/>
                </a:solidFill>
                <a:latin typeface="Arial"/>
              </a:rPr>
              <a:t>10</a:t>
            </a:r>
          </a:p>
        </p:txBody>
      </p:sp>
      <p:sp>
        <p:nvSpPr>
          <p:cNvPr id="31" name="Rectangle 30"/>
          <p:cNvSpPr/>
          <p:nvPr/>
        </p:nvSpPr>
        <p:spPr>
          <a:xfrm>
            <a:off x="1051560" y="4842662"/>
            <a:ext cx="6355080" cy="7315"/>
          </a:xfrm>
          <a:prstGeom prst="rect">
            <a:avLst/>
          </a:prstGeom>
          <a:solidFill>
            <a:srgbClr val="1F3A2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32" name="TextBox 31"/>
          <p:cNvSpPr txBox="1"/>
          <p:nvPr/>
        </p:nvSpPr>
        <p:spPr>
          <a:xfrm>
            <a:off x="640080" y="4764024"/>
            <a:ext cx="384048" cy="164592"/>
          </a:xfrm>
          <a:prstGeom prst="rect">
            <a:avLst/>
          </a:prstGeom>
          <a:noFill/>
        </p:spPr>
        <p:txBody>
          <a:bodyPr wrap="square" lIns="0" rIns="0" tIns="0" bIns="0" anchor="t"/>
          <a:lstStyle/>
          <a:p>
            <a:pPr algn="r">
              <a:lnSpc>
                <a:spcPct val="100000"/>
              </a:lnSpc>
              <a:spcAft>
                <a:spcPts val="200"/>
              </a:spcAft>
            </a:pPr>
            <a:r>
              <a:rPr sz="850" b="0" i="0">
                <a:solidFill>
                  <a:srgbClr val="A9C2AE"/>
                </a:solidFill>
                <a:latin typeface="Arial"/>
              </a:rPr>
              <a:t>100</a:t>
            </a:r>
          </a:p>
        </p:txBody>
      </p:sp>
      <p:sp>
        <p:nvSpPr>
          <p:cNvPr id="33" name="Rectangle 32"/>
          <p:cNvSpPr/>
          <p:nvPr/>
        </p:nvSpPr>
        <p:spPr>
          <a:xfrm>
            <a:off x="1051560" y="4595774"/>
            <a:ext cx="6355080" cy="7315"/>
          </a:xfrm>
          <a:prstGeom prst="rect">
            <a:avLst/>
          </a:prstGeom>
          <a:solidFill>
            <a:srgbClr val="1F3A2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34" name="TextBox 33"/>
          <p:cNvSpPr txBox="1"/>
          <p:nvPr/>
        </p:nvSpPr>
        <p:spPr>
          <a:xfrm>
            <a:off x="640080" y="4517136"/>
            <a:ext cx="384048" cy="164592"/>
          </a:xfrm>
          <a:prstGeom prst="rect">
            <a:avLst/>
          </a:prstGeom>
          <a:noFill/>
        </p:spPr>
        <p:txBody>
          <a:bodyPr wrap="square" lIns="0" rIns="0" tIns="0" bIns="0" anchor="t"/>
          <a:lstStyle/>
          <a:p>
            <a:pPr algn="r">
              <a:lnSpc>
                <a:spcPct val="100000"/>
              </a:lnSpc>
              <a:spcAft>
                <a:spcPts val="200"/>
              </a:spcAft>
            </a:pPr>
            <a:r>
              <a:rPr sz="850" b="0" i="0">
                <a:solidFill>
                  <a:srgbClr val="A9C2AE"/>
                </a:solidFill>
                <a:latin typeface="Arial"/>
              </a:rPr>
              <a:t>1,000</a:t>
            </a:r>
          </a:p>
        </p:txBody>
      </p:sp>
      <p:sp>
        <p:nvSpPr>
          <p:cNvPr id="35" name="Rectangle 34"/>
          <p:cNvSpPr/>
          <p:nvPr/>
        </p:nvSpPr>
        <p:spPr>
          <a:xfrm>
            <a:off x="1051560" y="4348886"/>
            <a:ext cx="6355080" cy="7315"/>
          </a:xfrm>
          <a:prstGeom prst="rect">
            <a:avLst/>
          </a:prstGeom>
          <a:solidFill>
            <a:srgbClr val="1F3A2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36" name="TextBox 35"/>
          <p:cNvSpPr txBox="1"/>
          <p:nvPr/>
        </p:nvSpPr>
        <p:spPr>
          <a:xfrm>
            <a:off x="640080" y="4270248"/>
            <a:ext cx="384048" cy="164592"/>
          </a:xfrm>
          <a:prstGeom prst="rect">
            <a:avLst/>
          </a:prstGeom>
          <a:noFill/>
        </p:spPr>
        <p:txBody>
          <a:bodyPr wrap="square" lIns="0" rIns="0" tIns="0" bIns="0" anchor="t"/>
          <a:lstStyle/>
          <a:p>
            <a:pPr algn="r">
              <a:lnSpc>
                <a:spcPct val="100000"/>
              </a:lnSpc>
              <a:spcAft>
                <a:spcPts val="200"/>
              </a:spcAft>
            </a:pPr>
            <a:r>
              <a:rPr sz="850" b="0" i="0">
                <a:solidFill>
                  <a:srgbClr val="A9C2AE"/>
                </a:solidFill>
                <a:latin typeface="Arial"/>
              </a:rPr>
              <a:t>10,000</a:t>
            </a:r>
          </a:p>
        </p:txBody>
      </p:sp>
      <p:sp>
        <p:nvSpPr>
          <p:cNvPr id="37" name="Rectangle 36"/>
          <p:cNvSpPr/>
          <p:nvPr/>
        </p:nvSpPr>
        <p:spPr>
          <a:xfrm>
            <a:off x="1127820" y="4914392"/>
            <a:ext cx="216072" cy="425703"/>
          </a:xfrm>
          <a:prstGeom prst="rect">
            <a:avLst/>
          </a:prstGeom>
          <a:solidFill>
            <a:srgbClr val="4DD26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38" name="Rectangle 37"/>
          <p:cNvSpPr/>
          <p:nvPr/>
        </p:nvSpPr>
        <p:spPr>
          <a:xfrm>
            <a:off x="1371325" y="4572378"/>
            <a:ext cx="216072" cy="767717"/>
          </a:xfrm>
          <a:prstGeom prst="rect">
            <a:avLst/>
          </a:prstGeom>
          <a:solidFill>
            <a:srgbClr val="C98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39" name="TextBox 38"/>
          <p:cNvSpPr txBox="1"/>
          <p:nvPr/>
        </p:nvSpPr>
        <p:spPr>
          <a:xfrm>
            <a:off x="1033271" y="5367528"/>
            <a:ext cx="635508" cy="164592"/>
          </a:xfrm>
          <a:prstGeom prst="rect">
            <a:avLst/>
          </a:prstGeom>
          <a:noFill/>
        </p:spPr>
        <p:txBody>
          <a:bodyPr wrap="square" lIns="0" rIns="0" tIns="0" bIns="0" anchor="t"/>
          <a:lstStyle/>
          <a:p>
            <a:pPr algn="ctr">
              <a:lnSpc>
                <a:spcPct val="100000"/>
              </a:lnSpc>
              <a:spcAft>
                <a:spcPts val="200"/>
              </a:spcAft>
            </a:pPr>
            <a:r>
              <a:rPr sz="850" b="0" i="0">
                <a:solidFill>
                  <a:srgbClr val="A9C2AE"/>
                </a:solidFill>
                <a:latin typeface="Arial"/>
              </a:rPr>
              <a:t>2k·1</a:t>
            </a:r>
          </a:p>
        </p:txBody>
      </p:sp>
      <p:sp>
        <p:nvSpPr>
          <p:cNvPr id="40" name="TextBox 39"/>
          <p:cNvSpPr txBox="1"/>
          <p:nvPr/>
        </p:nvSpPr>
        <p:spPr>
          <a:xfrm>
            <a:off x="1033271" y="5522976"/>
            <a:ext cx="635508" cy="164592"/>
          </a:xfrm>
          <a:prstGeom prst="rect">
            <a:avLst/>
          </a:prstGeom>
          <a:noFill/>
        </p:spPr>
        <p:txBody>
          <a:bodyPr wrap="square" lIns="0" rIns="0" tIns="0" bIns="0" anchor="t"/>
          <a:lstStyle/>
          <a:p>
            <a:pPr algn="ctr">
              <a:lnSpc>
                <a:spcPct val="100000"/>
              </a:lnSpc>
              <a:spcAft>
                <a:spcPts val="200"/>
              </a:spcAft>
            </a:pPr>
            <a:r>
              <a:rPr sz="850" b="1" i="0">
                <a:solidFill>
                  <a:srgbClr val="4DD262"/>
                </a:solidFill>
                <a:latin typeface="Arial"/>
              </a:rPr>
              <a:t>53</a:t>
            </a:r>
          </a:p>
        </p:txBody>
      </p:sp>
      <p:sp>
        <p:nvSpPr>
          <p:cNvPr id="41" name="Rectangle 40"/>
          <p:cNvSpPr/>
          <p:nvPr/>
        </p:nvSpPr>
        <p:spPr>
          <a:xfrm>
            <a:off x="1763328" y="5082988"/>
            <a:ext cx="216072" cy="257107"/>
          </a:xfrm>
          <a:prstGeom prst="rect">
            <a:avLst/>
          </a:prstGeom>
          <a:solidFill>
            <a:srgbClr val="4DD26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42" name="Rectangle 41"/>
          <p:cNvSpPr/>
          <p:nvPr/>
        </p:nvSpPr>
        <p:spPr>
          <a:xfrm>
            <a:off x="2006833" y="4612773"/>
            <a:ext cx="216072" cy="727322"/>
          </a:xfrm>
          <a:prstGeom prst="rect">
            <a:avLst/>
          </a:prstGeom>
          <a:solidFill>
            <a:srgbClr val="C98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43" name="TextBox 42"/>
          <p:cNvSpPr txBox="1"/>
          <p:nvPr/>
        </p:nvSpPr>
        <p:spPr>
          <a:xfrm>
            <a:off x="1668780" y="5367528"/>
            <a:ext cx="635508" cy="164592"/>
          </a:xfrm>
          <a:prstGeom prst="rect">
            <a:avLst/>
          </a:prstGeom>
          <a:noFill/>
        </p:spPr>
        <p:txBody>
          <a:bodyPr wrap="square" lIns="0" rIns="0" tIns="0" bIns="0" anchor="t"/>
          <a:lstStyle/>
          <a:p>
            <a:pPr algn="ctr">
              <a:lnSpc>
                <a:spcPct val="100000"/>
              </a:lnSpc>
              <a:spcAft>
                <a:spcPts val="200"/>
              </a:spcAft>
            </a:pPr>
            <a:r>
              <a:rPr sz="850" b="0" i="0">
                <a:solidFill>
                  <a:srgbClr val="A9C2AE"/>
                </a:solidFill>
                <a:latin typeface="Arial"/>
              </a:rPr>
              <a:t>2k·2</a:t>
            </a:r>
          </a:p>
        </p:txBody>
      </p:sp>
      <p:sp>
        <p:nvSpPr>
          <p:cNvPr id="44" name="TextBox 43"/>
          <p:cNvSpPr txBox="1"/>
          <p:nvPr/>
        </p:nvSpPr>
        <p:spPr>
          <a:xfrm>
            <a:off x="1668780" y="5522976"/>
            <a:ext cx="635508" cy="164592"/>
          </a:xfrm>
          <a:prstGeom prst="rect">
            <a:avLst/>
          </a:prstGeom>
          <a:noFill/>
        </p:spPr>
        <p:txBody>
          <a:bodyPr wrap="square" lIns="0" rIns="0" tIns="0" bIns="0" anchor="t"/>
          <a:lstStyle/>
          <a:p>
            <a:pPr algn="ctr">
              <a:lnSpc>
                <a:spcPct val="100000"/>
              </a:lnSpc>
              <a:spcAft>
                <a:spcPts val="200"/>
              </a:spcAft>
            </a:pPr>
            <a:r>
              <a:rPr sz="850" b="1" i="0">
                <a:solidFill>
                  <a:srgbClr val="4DD262"/>
                </a:solidFill>
                <a:latin typeface="Arial"/>
              </a:rPr>
              <a:t>11</a:t>
            </a:r>
          </a:p>
        </p:txBody>
      </p:sp>
      <p:sp>
        <p:nvSpPr>
          <p:cNvPr id="45" name="Rectangle 44"/>
          <p:cNvSpPr/>
          <p:nvPr/>
        </p:nvSpPr>
        <p:spPr>
          <a:xfrm>
            <a:off x="2398836" y="5191454"/>
            <a:ext cx="216072" cy="148641"/>
          </a:xfrm>
          <a:prstGeom prst="rect">
            <a:avLst/>
          </a:prstGeom>
          <a:solidFill>
            <a:srgbClr val="4DD26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46" name="Rectangle 45"/>
          <p:cNvSpPr/>
          <p:nvPr/>
        </p:nvSpPr>
        <p:spPr>
          <a:xfrm>
            <a:off x="2642341" y="4540785"/>
            <a:ext cx="216072" cy="799310"/>
          </a:xfrm>
          <a:prstGeom prst="rect">
            <a:avLst/>
          </a:prstGeom>
          <a:solidFill>
            <a:srgbClr val="C98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47" name="TextBox 46"/>
          <p:cNvSpPr txBox="1"/>
          <p:nvPr/>
        </p:nvSpPr>
        <p:spPr>
          <a:xfrm>
            <a:off x="2304288" y="5367528"/>
            <a:ext cx="635508" cy="164592"/>
          </a:xfrm>
          <a:prstGeom prst="rect">
            <a:avLst/>
          </a:prstGeom>
          <a:noFill/>
        </p:spPr>
        <p:txBody>
          <a:bodyPr wrap="square" lIns="0" rIns="0" tIns="0" bIns="0" anchor="t"/>
          <a:lstStyle/>
          <a:p>
            <a:pPr algn="ctr">
              <a:lnSpc>
                <a:spcPct val="100000"/>
              </a:lnSpc>
              <a:spcAft>
                <a:spcPts val="200"/>
              </a:spcAft>
            </a:pPr>
            <a:r>
              <a:rPr sz="850" b="0" i="0">
                <a:solidFill>
                  <a:srgbClr val="A9C2AE"/>
                </a:solidFill>
                <a:latin typeface="Arial"/>
              </a:rPr>
              <a:t>2k·3</a:t>
            </a:r>
          </a:p>
        </p:txBody>
      </p:sp>
      <p:sp>
        <p:nvSpPr>
          <p:cNvPr id="48" name="TextBox 47"/>
          <p:cNvSpPr txBox="1"/>
          <p:nvPr/>
        </p:nvSpPr>
        <p:spPr>
          <a:xfrm>
            <a:off x="2304288" y="5522976"/>
            <a:ext cx="635508" cy="164592"/>
          </a:xfrm>
          <a:prstGeom prst="rect">
            <a:avLst/>
          </a:prstGeom>
          <a:noFill/>
        </p:spPr>
        <p:txBody>
          <a:bodyPr wrap="square" lIns="0" rIns="0" tIns="0" bIns="0" anchor="t"/>
          <a:lstStyle/>
          <a:p>
            <a:pPr algn="ctr">
              <a:lnSpc>
                <a:spcPct val="100000"/>
              </a:lnSpc>
              <a:spcAft>
                <a:spcPts val="200"/>
              </a:spcAft>
            </a:pPr>
            <a:r>
              <a:rPr sz="850" b="1" i="0">
                <a:solidFill>
                  <a:srgbClr val="4DD262"/>
                </a:solidFill>
                <a:latin typeface="Arial"/>
              </a:rPr>
              <a:t>4</a:t>
            </a:r>
          </a:p>
        </p:txBody>
      </p:sp>
      <p:sp>
        <p:nvSpPr>
          <p:cNvPr id="49" name="Rectangle 48"/>
          <p:cNvSpPr/>
          <p:nvPr/>
        </p:nvSpPr>
        <p:spPr>
          <a:xfrm>
            <a:off x="3034344" y="4920640"/>
            <a:ext cx="216072" cy="419455"/>
          </a:xfrm>
          <a:prstGeom prst="rect">
            <a:avLst/>
          </a:prstGeom>
          <a:solidFill>
            <a:srgbClr val="4DD26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50" name="Rectangle 49"/>
          <p:cNvSpPr/>
          <p:nvPr/>
        </p:nvSpPr>
        <p:spPr>
          <a:xfrm>
            <a:off x="3277849" y="4583795"/>
            <a:ext cx="216072" cy="756300"/>
          </a:xfrm>
          <a:prstGeom prst="rect">
            <a:avLst/>
          </a:prstGeom>
          <a:solidFill>
            <a:srgbClr val="C98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51" name="Rectangle 50"/>
          <p:cNvSpPr/>
          <p:nvPr/>
        </p:nvSpPr>
        <p:spPr>
          <a:xfrm>
            <a:off x="3135066" y="4762759"/>
            <a:ext cx="14630" cy="15788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52" name="Rectangle 51"/>
          <p:cNvSpPr/>
          <p:nvPr/>
        </p:nvSpPr>
        <p:spPr>
          <a:xfrm>
            <a:off x="3096661" y="4755443"/>
            <a:ext cx="91440" cy="1463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53" name="TextBox 52"/>
          <p:cNvSpPr txBox="1"/>
          <p:nvPr/>
        </p:nvSpPr>
        <p:spPr>
          <a:xfrm>
            <a:off x="2939796" y="5367528"/>
            <a:ext cx="635508" cy="164592"/>
          </a:xfrm>
          <a:prstGeom prst="rect">
            <a:avLst/>
          </a:prstGeom>
          <a:noFill/>
        </p:spPr>
        <p:txBody>
          <a:bodyPr wrap="square" lIns="0" rIns="0" tIns="0" bIns="0" anchor="t"/>
          <a:lstStyle/>
          <a:p>
            <a:pPr algn="ctr">
              <a:lnSpc>
                <a:spcPct val="100000"/>
              </a:lnSpc>
              <a:spcAft>
                <a:spcPts val="200"/>
              </a:spcAft>
            </a:pPr>
            <a:r>
              <a:rPr sz="850" b="0" i="0">
                <a:solidFill>
                  <a:srgbClr val="A9C2AE"/>
                </a:solidFill>
                <a:latin typeface="Arial"/>
              </a:rPr>
              <a:t>2k·4</a:t>
            </a:r>
          </a:p>
        </p:txBody>
      </p:sp>
      <p:sp>
        <p:nvSpPr>
          <p:cNvPr id="54" name="TextBox 53"/>
          <p:cNvSpPr txBox="1"/>
          <p:nvPr/>
        </p:nvSpPr>
        <p:spPr>
          <a:xfrm>
            <a:off x="2939796" y="5522976"/>
            <a:ext cx="635508" cy="164592"/>
          </a:xfrm>
          <a:prstGeom prst="rect">
            <a:avLst/>
          </a:prstGeom>
          <a:noFill/>
        </p:spPr>
        <p:txBody>
          <a:bodyPr wrap="square" lIns="0" rIns="0" tIns="0" bIns="0" anchor="t"/>
          <a:lstStyle/>
          <a:p>
            <a:pPr algn="ctr">
              <a:lnSpc>
                <a:spcPct val="100000"/>
              </a:lnSpc>
              <a:spcAft>
                <a:spcPts val="200"/>
              </a:spcAft>
            </a:pPr>
            <a:r>
              <a:rPr sz="850" b="1" i="0">
                <a:solidFill>
                  <a:srgbClr val="4DD262"/>
                </a:solidFill>
                <a:latin typeface="Arial"/>
              </a:rPr>
              <a:t>50–218</a:t>
            </a:r>
          </a:p>
        </p:txBody>
      </p:sp>
      <p:sp>
        <p:nvSpPr>
          <p:cNvPr id="55" name="Rectangle 54"/>
          <p:cNvSpPr/>
          <p:nvPr/>
        </p:nvSpPr>
        <p:spPr>
          <a:xfrm>
            <a:off x="3669852" y="4890872"/>
            <a:ext cx="216072" cy="449223"/>
          </a:xfrm>
          <a:prstGeom prst="rect">
            <a:avLst/>
          </a:prstGeom>
          <a:solidFill>
            <a:srgbClr val="4DD26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56" name="Rectangle 55"/>
          <p:cNvSpPr/>
          <p:nvPr/>
        </p:nvSpPr>
        <p:spPr>
          <a:xfrm>
            <a:off x="3913357" y="4589701"/>
            <a:ext cx="216072" cy="750394"/>
          </a:xfrm>
          <a:prstGeom prst="rect">
            <a:avLst/>
          </a:prstGeom>
          <a:solidFill>
            <a:srgbClr val="C98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57" name="TextBox 56"/>
          <p:cNvSpPr txBox="1"/>
          <p:nvPr/>
        </p:nvSpPr>
        <p:spPr>
          <a:xfrm>
            <a:off x="3575304" y="5367528"/>
            <a:ext cx="635508" cy="164592"/>
          </a:xfrm>
          <a:prstGeom prst="rect">
            <a:avLst/>
          </a:prstGeom>
          <a:noFill/>
        </p:spPr>
        <p:txBody>
          <a:bodyPr wrap="square" lIns="0" rIns="0" tIns="0" bIns="0" anchor="t"/>
          <a:lstStyle/>
          <a:p>
            <a:pPr algn="ctr">
              <a:lnSpc>
                <a:spcPct val="100000"/>
              </a:lnSpc>
              <a:spcAft>
                <a:spcPts val="200"/>
              </a:spcAft>
            </a:pPr>
            <a:r>
              <a:rPr sz="850" b="0" i="0">
                <a:solidFill>
                  <a:srgbClr val="A9C2AE"/>
                </a:solidFill>
                <a:latin typeface="Arial"/>
              </a:rPr>
              <a:t>2k·5</a:t>
            </a:r>
          </a:p>
        </p:txBody>
      </p:sp>
      <p:sp>
        <p:nvSpPr>
          <p:cNvPr id="58" name="TextBox 57"/>
          <p:cNvSpPr txBox="1"/>
          <p:nvPr/>
        </p:nvSpPr>
        <p:spPr>
          <a:xfrm>
            <a:off x="3575304" y="5522976"/>
            <a:ext cx="635508" cy="164592"/>
          </a:xfrm>
          <a:prstGeom prst="rect">
            <a:avLst/>
          </a:prstGeom>
          <a:noFill/>
        </p:spPr>
        <p:txBody>
          <a:bodyPr wrap="square" lIns="0" rIns="0" tIns="0" bIns="0" anchor="t"/>
          <a:lstStyle/>
          <a:p>
            <a:pPr algn="ctr">
              <a:lnSpc>
                <a:spcPct val="100000"/>
              </a:lnSpc>
              <a:spcAft>
                <a:spcPts val="200"/>
              </a:spcAft>
            </a:pPr>
            <a:r>
              <a:rPr sz="850" b="1" i="0">
                <a:solidFill>
                  <a:srgbClr val="4DD262"/>
                </a:solidFill>
                <a:latin typeface="Arial"/>
              </a:rPr>
              <a:t>66</a:t>
            </a:r>
          </a:p>
        </p:txBody>
      </p:sp>
      <p:sp>
        <p:nvSpPr>
          <p:cNvPr id="59" name="Rectangle 58"/>
          <p:cNvSpPr/>
          <p:nvPr/>
        </p:nvSpPr>
        <p:spPr>
          <a:xfrm>
            <a:off x="4305360" y="4920640"/>
            <a:ext cx="216072" cy="419455"/>
          </a:xfrm>
          <a:prstGeom prst="rect">
            <a:avLst/>
          </a:prstGeom>
          <a:solidFill>
            <a:srgbClr val="4DD26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60" name="Rectangle 59"/>
          <p:cNvSpPr/>
          <p:nvPr/>
        </p:nvSpPr>
        <p:spPr>
          <a:xfrm>
            <a:off x="4548865" y="4363010"/>
            <a:ext cx="216072" cy="977085"/>
          </a:xfrm>
          <a:prstGeom prst="rect">
            <a:avLst/>
          </a:prstGeom>
          <a:solidFill>
            <a:srgbClr val="C98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61" name="TextBox 60"/>
          <p:cNvSpPr txBox="1"/>
          <p:nvPr/>
        </p:nvSpPr>
        <p:spPr>
          <a:xfrm>
            <a:off x="4210812" y="5367528"/>
            <a:ext cx="635508" cy="164592"/>
          </a:xfrm>
          <a:prstGeom prst="rect">
            <a:avLst/>
          </a:prstGeom>
          <a:noFill/>
        </p:spPr>
        <p:txBody>
          <a:bodyPr wrap="square" lIns="0" rIns="0" tIns="0" bIns="0" anchor="t"/>
          <a:lstStyle/>
          <a:p>
            <a:pPr algn="ctr">
              <a:lnSpc>
                <a:spcPct val="100000"/>
              </a:lnSpc>
              <a:spcAft>
                <a:spcPts val="200"/>
              </a:spcAft>
            </a:pPr>
            <a:r>
              <a:rPr sz="850" b="0" i="0">
                <a:solidFill>
                  <a:srgbClr val="A9C2AE"/>
                </a:solidFill>
                <a:latin typeface="Arial"/>
              </a:rPr>
              <a:t>10k·1</a:t>
            </a:r>
          </a:p>
        </p:txBody>
      </p:sp>
      <p:sp>
        <p:nvSpPr>
          <p:cNvPr id="62" name="TextBox 61"/>
          <p:cNvSpPr txBox="1"/>
          <p:nvPr/>
        </p:nvSpPr>
        <p:spPr>
          <a:xfrm>
            <a:off x="4210812" y="5522976"/>
            <a:ext cx="635508" cy="164592"/>
          </a:xfrm>
          <a:prstGeom prst="rect">
            <a:avLst/>
          </a:prstGeom>
          <a:noFill/>
        </p:spPr>
        <p:txBody>
          <a:bodyPr wrap="square" lIns="0" rIns="0" tIns="0" bIns="0" anchor="t"/>
          <a:lstStyle/>
          <a:p>
            <a:pPr algn="ctr">
              <a:lnSpc>
                <a:spcPct val="100000"/>
              </a:lnSpc>
              <a:spcAft>
                <a:spcPts val="200"/>
              </a:spcAft>
            </a:pPr>
            <a:r>
              <a:rPr sz="850" b="1" i="0">
                <a:solidFill>
                  <a:srgbClr val="4DD262"/>
                </a:solidFill>
                <a:latin typeface="Arial"/>
              </a:rPr>
              <a:t>50</a:t>
            </a:r>
          </a:p>
        </p:txBody>
      </p:sp>
      <p:sp>
        <p:nvSpPr>
          <p:cNvPr id="63" name="Rectangle 62"/>
          <p:cNvSpPr/>
          <p:nvPr/>
        </p:nvSpPr>
        <p:spPr>
          <a:xfrm>
            <a:off x="4940868" y="5104504"/>
            <a:ext cx="216072" cy="235591"/>
          </a:xfrm>
          <a:prstGeom prst="rect">
            <a:avLst/>
          </a:prstGeom>
          <a:solidFill>
            <a:srgbClr val="4DD26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64" name="Rectangle 63"/>
          <p:cNvSpPr/>
          <p:nvPr/>
        </p:nvSpPr>
        <p:spPr>
          <a:xfrm>
            <a:off x="5184373" y="4369529"/>
            <a:ext cx="216072" cy="970566"/>
          </a:xfrm>
          <a:prstGeom prst="rect">
            <a:avLst/>
          </a:prstGeom>
          <a:solidFill>
            <a:srgbClr val="C98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65" name="TextBox 64"/>
          <p:cNvSpPr txBox="1"/>
          <p:nvPr/>
        </p:nvSpPr>
        <p:spPr>
          <a:xfrm>
            <a:off x="4846320" y="5367528"/>
            <a:ext cx="635508" cy="164592"/>
          </a:xfrm>
          <a:prstGeom prst="rect">
            <a:avLst/>
          </a:prstGeom>
          <a:noFill/>
        </p:spPr>
        <p:txBody>
          <a:bodyPr wrap="square" lIns="0" rIns="0" tIns="0" bIns="0" anchor="t"/>
          <a:lstStyle/>
          <a:p>
            <a:pPr algn="ctr">
              <a:lnSpc>
                <a:spcPct val="100000"/>
              </a:lnSpc>
              <a:spcAft>
                <a:spcPts val="200"/>
              </a:spcAft>
            </a:pPr>
            <a:r>
              <a:rPr sz="850" b="0" i="0">
                <a:solidFill>
                  <a:srgbClr val="A9C2AE"/>
                </a:solidFill>
                <a:latin typeface="Arial"/>
              </a:rPr>
              <a:t>10k·2</a:t>
            </a:r>
          </a:p>
        </p:txBody>
      </p:sp>
      <p:sp>
        <p:nvSpPr>
          <p:cNvPr id="66" name="TextBox 65"/>
          <p:cNvSpPr txBox="1"/>
          <p:nvPr/>
        </p:nvSpPr>
        <p:spPr>
          <a:xfrm>
            <a:off x="4846320" y="5522976"/>
            <a:ext cx="635508" cy="164592"/>
          </a:xfrm>
          <a:prstGeom prst="rect">
            <a:avLst/>
          </a:prstGeom>
          <a:noFill/>
        </p:spPr>
        <p:txBody>
          <a:bodyPr wrap="square" lIns="0" rIns="0" tIns="0" bIns="0" anchor="t"/>
          <a:lstStyle/>
          <a:p>
            <a:pPr algn="ctr">
              <a:lnSpc>
                <a:spcPct val="100000"/>
              </a:lnSpc>
              <a:spcAft>
                <a:spcPts val="200"/>
              </a:spcAft>
            </a:pPr>
            <a:r>
              <a:rPr sz="850" b="1" i="0">
                <a:solidFill>
                  <a:srgbClr val="4DD262"/>
                </a:solidFill>
                <a:latin typeface="Arial"/>
              </a:rPr>
              <a:t>9</a:t>
            </a:r>
          </a:p>
        </p:txBody>
      </p:sp>
      <p:sp>
        <p:nvSpPr>
          <p:cNvPr id="67" name="Rectangle 66"/>
          <p:cNvSpPr/>
          <p:nvPr/>
        </p:nvSpPr>
        <p:spPr>
          <a:xfrm>
            <a:off x="5576376" y="4823688"/>
            <a:ext cx="216072" cy="516407"/>
          </a:xfrm>
          <a:prstGeom prst="rect">
            <a:avLst/>
          </a:prstGeom>
          <a:solidFill>
            <a:srgbClr val="4DD26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68" name="Rectangle 67"/>
          <p:cNvSpPr/>
          <p:nvPr/>
        </p:nvSpPr>
        <p:spPr>
          <a:xfrm>
            <a:off x="5819881" y="4386995"/>
            <a:ext cx="216072" cy="953100"/>
          </a:xfrm>
          <a:prstGeom prst="rect">
            <a:avLst/>
          </a:prstGeom>
          <a:solidFill>
            <a:srgbClr val="C98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69" name="Rectangle 68"/>
          <p:cNvSpPr/>
          <p:nvPr/>
        </p:nvSpPr>
        <p:spPr>
          <a:xfrm>
            <a:off x="5677098" y="4798639"/>
            <a:ext cx="14630" cy="5546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70" name="Rectangle 69"/>
          <p:cNvSpPr/>
          <p:nvPr/>
        </p:nvSpPr>
        <p:spPr>
          <a:xfrm>
            <a:off x="5638693" y="4791324"/>
            <a:ext cx="91440" cy="1463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71" name="TextBox 70"/>
          <p:cNvSpPr txBox="1"/>
          <p:nvPr/>
        </p:nvSpPr>
        <p:spPr>
          <a:xfrm>
            <a:off x="5481828" y="5367528"/>
            <a:ext cx="635508" cy="164592"/>
          </a:xfrm>
          <a:prstGeom prst="rect">
            <a:avLst/>
          </a:prstGeom>
          <a:noFill/>
        </p:spPr>
        <p:txBody>
          <a:bodyPr wrap="square" lIns="0" rIns="0" tIns="0" bIns="0" anchor="t"/>
          <a:lstStyle/>
          <a:p>
            <a:pPr algn="ctr">
              <a:lnSpc>
                <a:spcPct val="100000"/>
              </a:lnSpc>
              <a:spcAft>
                <a:spcPts val="200"/>
              </a:spcAft>
            </a:pPr>
            <a:r>
              <a:rPr sz="850" b="0" i="0">
                <a:solidFill>
                  <a:srgbClr val="A9C2AE"/>
                </a:solidFill>
                <a:latin typeface="Arial"/>
              </a:rPr>
              <a:t>10k·3</a:t>
            </a:r>
          </a:p>
        </p:txBody>
      </p:sp>
      <p:sp>
        <p:nvSpPr>
          <p:cNvPr id="72" name="TextBox 71"/>
          <p:cNvSpPr txBox="1"/>
          <p:nvPr/>
        </p:nvSpPr>
        <p:spPr>
          <a:xfrm>
            <a:off x="5481828" y="5522976"/>
            <a:ext cx="635508" cy="164592"/>
          </a:xfrm>
          <a:prstGeom prst="rect">
            <a:avLst/>
          </a:prstGeom>
          <a:noFill/>
        </p:spPr>
        <p:txBody>
          <a:bodyPr wrap="square" lIns="0" rIns="0" tIns="0" bIns="0" anchor="t"/>
          <a:lstStyle/>
          <a:p>
            <a:pPr algn="ctr">
              <a:lnSpc>
                <a:spcPct val="100000"/>
              </a:lnSpc>
              <a:spcAft>
                <a:spcPts val="200"/>
              </a:spcAft>
            </a:pPr>
            <a:r>
              <a:rPr sz="850" b="1" i="0">
                <a:solidFill>
                  <a:srgbClr val="4DD262"/>
                </a:solidFill>
                <a:latin typeface="Arial"/>
              </a:rPr>
              <a:t>93–156</a:t>
            </a:r>
          </a:p>
        </p:txBody>
      </p:sp>
      <p:sp>
        <p:nvSpPr>
          <p:cNvPr id="73" name="Rectangle 72"/>
          <p:cNvSpPr/>
          <p:nvPr/>
        </p:nvSpPr>
        <p:spPr>
          <a:xfrm>
            <a:off x="6211884" y="4934347"/>
            <a:ext cx="216072" cy="405748"/>
          </a:xfrm>
          <a:prstGeom prst="rect">
            <a:avLst/>
          </a:prstGeom>
          <a:solidFill>
            <a:srgbClr val="4DD26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74" name="Rectangle 73"/>
          <p:cNvSpPr/>
          <p:nvPr/>
        </p:nvSpPr>
        <p:spPr>
          <a:xfrm>
            <a:off x="6455389" y="4361881"/>
            <a:ext cx="216072" cy="978214"/>
          </a:xfrm>
          <a:prstGeom prst="rect">
            <a:avLst/>
          </a:prstGeom>
          <a:solidFill>
            <a:srgbClr val="C98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75" name="TextBox 74"/>
          <p:cNvSpPr txBox="1"/>
          <p:nvPr/>
        </p:nvSpPr>
        <p:spPr>
          <a:xfrm>
            <a:off x="6117336" y="5367528"/>
            <a:ext cx="635508" cy="164592"/>
          </a:xfrm>
          <a:prstGeom prst="rect">
            <a:avLst/>
          </a:prstGeom>
          <a:noFill/>
        </p:spPr>
        <p:txBody>
          <a:bodyPr wrap="square" lIns="0" rIns="0" tIns="0" bIns="0" anchor="t"/>
          <a:lstStyle/>
          <a:p>
            <a:pPr algn="ctr">
              <a:lnSpc>
                <a:spcPct val="100000"/>
              </a:lnSpc>
              <a:spcAft>
                <a:spcPts val="200"/>
              </a:spcAft>
            </a:pPr>
            <a:r>
              <a:rPr sz="850" b="0" i="0">
                <a:solidFill>
                  <a:srgbClr val="A9C2AE"/>
                </a:solidFill>
                <a:latin typeface="Arial"/>
              </a:rPr>
              <a:t>10k·4</a:t>
            </a:r>
          </a:p>
        </p:txBody>
      </p:sp>
      <p:sp>
        <p:nvSpPr>
          <p:cNvPr id="76" name="TextBox 75"/>
          <p:cNvSpPr txBox="1"/>
          <p:nvPr/>
        </p:nvSpPr>
        <p:spPr>
          <a:xfrm>
            <a:off x="6117336" y="5522976"/>
            <a:ext cx="635508" cy="164592"/>
          </a:xfrm>
          <a:prstGeom prst="rect">
            <a:avLst/>
          </a:prstGeom>
          <a:noFill/>
        </p:spPr>
        <p:txBody>
          <a:bodyPr wrap="square" lIns="0" rIns="0" tIns="0" bIns="0" anchor="t"/>
          <a:lstStyle/>
          <a:p>
            <a:pPr algn="ctr">
              <a:lnSpc>
                <a:spcPct val="100000"/>
              </a:lnSpc>
              <a:spcAft>
                <a:spcPts val="200"/>
              </a:spcAft>
            </a:pPr>
            <a:r>
              <a:rPr sz="850" b="1" i="0">
                <a:solidFill>
                  <a:srgbClr val="4DD262"/>
                </a:solidFill>
                <a:latin typeface="Arial"/>
              </a:rPr>
              <a:t>44</a:t>
            </a:r>
          </a:p>
        </p:txBody>
      </p:sp>
      <p:sp>
        <p:nvSpPr>
          <p:cNvPr id="77" name="Rectangle 76"/>
          <p:cNvSpPr/>
          <p:nvPr/>
        </p:nvSpPr>
        <p:spPr>
          <a:xfrm>
            <a:off x="6847392" y="4986709"/>
            <a:ext cx="216072" cy="353386"/>
          </a:xfrm>
          <a:prstGeom prst="rect">
            <a:avLst/>
          </a:prstGeom>
          <a:solidFill>
            <a:srgbClr val="4DD26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78" name="Rectangle 77"/>
          <p:cNvSpPr/>
          <p:nvPr/>
        </p:nvSpPr>
        <p:spPr>
          <a:xfrm>
            <a:off x="7090897" y="4356564"/>
            <a:ext cx="216072" cy="983531"/>
          </a:xfrm>
          <a:prstGeom prst="rect">
            <a:avLst/>
          </a:prstGeom>
          <a:solidFill>
            <a:srgbClr val="C98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79" name="TextBox 78"/>
          <p:cNvSpPr txBox="1"/>
          <p:nvPr/>
        </p:nvSpPr>
        <p:spPr>
          <a:xfrm>
            <a:off x="6752844" y="5367528"/>
            <a:ext cx="635508" cy="164592"/>
          </a:xfrm>
          <a:prstGeom prst="rect">
            <a:avLst/>
          </a:prstGeom>
          <a:noFill/>
        </p:spPr>
        <p:txBody>
          <a:bodyPr wrap="square" lIns="0" rIns="0" tIns="0" bIns="0" anchor="t"/>
          <a:lstStyle/>
          <a:p>
            <a:pPr algn="ctr">
              <a:lnSpc>
                <a:spcPct val="100000"/>
              </a:lnSpc>
              <a:spcAft>
                <a:spcPts val="200"/>
              </a:spcAft>
            </a:pPr>
            <a:r>
              <a:rPr sz="850" b="0" i="0">
                <a:solidFill>
                  <a:srgbClr val="A9C2AE"/>
                </a:solidFill>
                <a:latin typeface="Arial"/>
              </a:rPr>
              <a:t>10k·5</a:t>
            </a:r>
          </a:p>
        </p:txBody>
      </p:sp>
      <p:sp>
        <p:nvSpPr>
          <p:cNvPr id="80" name="TextBox 79"/>
          <p:cNvSpPr txBox="1"/>
          <p:nvPr/>
        </p:nvSpPr>
        <p:spPr>
          <a:xfrm>
            <a:off x="6752844" y="5522976"/>
            <a:ext cx="635508" cy="164592"/>
          </a:xfrm>
          <a:prstGeom prst="rect">
            <a:avLst/>
          </a:prstGeom>
          <a:noFill/>
        </p:spPr>
        <p:txBody>
          <a:bodyPr wrap="square" lIns="0" rIns="0" tIns="0" bIns="0" anchor="t"/>
          <a:lstStyle/>
          <a:p>
            <a:pPr algn="ctr">
              <a:lnSpc>
                <a:spcPct val="100000"/>
              </a:lnSpc>
              <a:spcAft>
                <a:spcPts val="200"/>
              </a:spcAft>
            </a:pPr>
            <a:r>
              <a:rPr sz="850" b="1" i="0">
                <a:solidFill>
                  <a:srgbClr val="4DD262"/>
                </a:solidFill>
                <a:latin typeface="Arial"/>
              </a:rPr>
              <a:t>27</a:t>
            </a:r>
          </a:p>
        </p:txBody>
      </p:sp>
      <p:sp>
        <p:nvSpPr>
          <p:cNvPr id="81" name="Rectangle 80"/>
          <p:cNvSpPr/>
          <p:nvPr/>
        </p:nvSpPr>
        <p:spPr>
          <a:xfrm>
            <a:off x="1188719" y="5760720"/>
            <a:ext cx="128016" cy="128016"/>
          </a:xfrm>
          <a:prstGeom prst="rect">
            <a:avLst/>
          </a:prstGeom>
          <a:solidFill>
            <a:srgbClr val="4DD26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82" name="TextBox 81"/>
          <p:cNvSpPr txBox="1"/>
          <p:nvPr/>
        </p:nvSpPr>
        <p:spPr>
          <a:xfrm>
            <a:off x="1353311" y="5724144"/>
            <a:ext cx="3291840" cy="201168"/>
          </a:xfrm>
          <a:prstGeom prst="rect">
            <a:avLst/>
          </a:prstGeom>
          <a:noFill/>
        </p:spPr>
        <p:txBody>
          <a:bodyPr wrap="square" lIns="0" rIns="0" tIns="0" bIns="0" anchor="t"/>
          <a:lstStyle/>
          <a:p>
            <a:pPr algn="l">
              <a:lnSpc>
                <a:spcPct val="100000"/>
              </a:lnSpc>
              <a:spcAft>
                <a:spcPts val="200"/>
              </a:spcAft>
            </a:pPr>
            <a:r>
              <a:rPr sz="900" b="0" i="0">
                <a:solidFill>
                  <a:srgbClr val="EAF5EC"/>
                </a:solidFill>
                <a:latin typeface="Arial"/>
              </a:rPr>
              <a:t>SlotSmith: median; green figures = min–max of 4 runs</a:t>
            </a:r>
          </a:p>
        </p:txBody>
      </p:sp>
      <p:sp>
        <p:nvSpPr>
          <p:cNvPr id="83" name="Rectangle 82"/>
          <p:cNvSpPr/>
          <p:nvPr/>
        </p:nvSpPr>
        <p:spPr>
          <a:xfrm>
            <a:off x="4297679" y="5760720"/>
            <a:ext cx="128016" cy="128016"/>
          </a:xfrm>
          <a:prstGeom prst="rect">
            <a:avLst/>
          </a:prstGeom>
          <a:solidFill>
            <a:srgbClr val="C98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84" name="TextBox 83"/>
          <p:cNvSpPr txBox="1"/>
          <p:nvPr/>
        </p:nvSpPr>
        <p:spPr>
          <a:xfrm>
            <a:off x="4462272" y="5724144"/>
            <a:ext cx="3108960" cy="201168"/>
          </a:xfrm>
          <a:prstGeom prst="rect">
            <a:avLst/>
          </a:prstGeom>
          <a:noFill/>
        </p:spPr>
        <p:txBody>
          <a:bodyPr wrap="square" lIns="0" rIns="0" tIns="0" bIns="0" anchor="t"/>
          <a:lstStyle/>
          <a:p>
            <a:pPr algn="l">
              <a:lnSpc>
                <a:spcPct val="100000"/>
              </a:lnSpc>
              <a:spcAft>
                <a:spcPts val="200"/>
              </a:spcAft>
            </a:pPr>
            <a:r>
              <a:rPr sz="900" b="0" i="0">
                <a:solidFill>
                  <a:srgbClr val="EAF5EC"/>
                </a:solidFill>
                <a:latin typeface="Arial"/>
              </a:rPr>
              <a:t>Full re-run of Rev B (same in all 4 runs)</a:t>
            </a:r>
          </a:p>
        </p:txBody>
      </p:sp>
      <p:sp>
        <p:nvSpPr>
          <p:cNvPr id="85" name="Rounded Rectangle 84"/>
          <p:cNvSpPr/>
          <p:nvPr/>
        </p:nvSpPr>
        <p:spPr>
          <a:xfrm>
            <a:off x="7726679" y="3785616"/>
            <a:ext cx="1965960" cy="1060704"/>
          </a:xfrm>
          <a:prstGeom prst="roundRect">
            <a:avLst>
              <a:gd name="adj" fmla="val 4000"/>
            </a:avLst>
          </a:prstGeom>
          <a:solidFill>
            <a:srgbClr val="06140A">
              <a:alpha val="92000"/>
            </a:srgbClr>
          </a:solidFill>
          <a:ln w="12700">
            <a:solidFill>
              <a:srgbClr val="1F5F2A"/>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86" name="TextBox 85"/>
          <p:cNvSpPr txBox="1"/>
          <p:nvPr/>
        </p:nvSpPr>
        <p:spPr>
          <a:xfrm>
            <a:off x="7836407" y="3813048"/>
            <a:ext cx="1737360" cy="347472"/>
          </a:xfrm>
          <a:prstGeom prst="rect">
            <a:avLst/>
          </a:prstGeom>
          <a:noFill/>
        </p:spPr>
        <p:txBody>
          <a:bodyPr wrap="square" lIns="0" rIns="0" tIns="0" bIns="0" anchor="t"/>
          <a:lstStyle/>
          <a:p>
            <a:pPr algn="l">
              <a:lnSpc>
                <a:spcPct val="100000"/>
              </a:lnSpc>
              <a:spcAft>
                <a:spcPts val="200"/>
              </a:spcAft>
            </a:pPr>
            <a:r>
              <a:rPr sz="2000" b="1" i="0">
                <a:solidFill>
                  <a:srgbClr val="FFFFFF"/>
                </a:solidFill>
                <a:latin typeface="Arial"/>
              </a:rPr>
              <a:t>0</a:t>
            </a:r>
          </a:p>
        </p:txBody>
      </p:sp>
      <p:sp>
        <p:nvSpPr>
          <p:cNvPr id="87" name="TextBox 86"/>
          <p:cNvSpPr txBox="1"/>
          <p:nvPr/>
        </p:nvSpPr>
        <p:spPr>
          <a:xfrm>
            <a:off x="7836407" y="4169664"/>
            <a:ext cx="1755648" cy="329184"/>
          </a:xfrm>
          <a:prstGeom prst="rect">
            <a:avLst/>
          </a:prstGeom>
          <a:noFill/>
        </p:spPr>
        <p:txBody>
          <a:bodyPr wrap="square" lIns="0" rIns="0" tIns="0" bIns="0" anchor="t"/>
          <a:lstStyle/>
          <a:p>
            <a:pPr algn="l">
              <a:lnSpc>
                <a:spcPct val="100000"/>
              </a:lnSpc>
              <a:spcAft>
                <a:spcPts val="200"/>
              </a:spcAft>
            </a:pPr>
            <a:r>
              <a:rPr sz="950" b="1" i="0">
                <a:solidFill>
                  <a:srgbClr val="4DD262"/>
                </a:solidFill>
                <a:latin typeface="Arial"/>
              </a:rPr>
              <a:t>verifier violations</a:t>
            </a:r>
          </a:p>
        </p:txBody>
      </p:sp>
      <p:sp>
        <p:nvSpPr>
          <p:cNvPr id="88" name="TextBox 87"/>
          <p:cNvSpPr txBox="1"/>
          <p:nvPr/>
        </p:nvSpPr>
        <p:spPr>
          <a:xfrm>
            <a:off x="7836407" y="4498848"/>
            <a:ext cx="1755648" cy="329184"/>
          </a:xfrm>
          <a:prstGeom prst="rect">
            <a:avLst/>
          </a:prstGeom>
          <a:noFill/>
        </p:spPr>
        <p:txBody>
          <a:bodyPr wrap="square" lIns="0" rIns="0" tIns="0" bIns="0" anchor="t"/>
          <a:lstStyle/>
          <a:p>
            <a:pPr algn="l">
              <a:lnSpc>
                <a:spcPct val="100000"/>
              </a:lnSpc>
              <a:spcAft>
                <a:spcPts val="200"/>
              </a:spcAft>
            </a:pPr>
            <a:r>
              <a:rPr sz="880" b="0" i="0">
                <a:solidFill>
                  <a:srgbClr val="A9C2AE"/>
                </a:solidFill>
                <a:latin typeface="Arial"/>
              </a:rPr>
              <a:t>12 allocation runs, 10 revisions, 500 to 20,033 signals</a:t>
            </a:r>
          </a:p>
        </p:txBody>
      </p:sp>
      <p:sp>
        <p:nvSpPr>
          <p:cNvPr id="89" name="Rounded Rectangle 88"/>
          <p:cNvSpPr/>
          <p:nvPr/>
        </p:nvSpPr>
        <p:spPr>
          <a:xfrm>
            <a:off x="9784080" y="3785616"/>
            <a:ext cx="1965960" cy="1060704"/>
          </a:xfrm>
          <a:prstGeom prst="roundRect">
            <a:avLst>
              <a:gd name="adj" fmla="val 4000"/>
            </a:avLst>
          </a:prstGeom>
          <a:solidFill>
            <a:srgbClr val="06140A">
              <a:alpha val="92000"/>
            </a:srgbClr>
          </a:solidFill>
          <a:ln w="12700">
            <a:solidFill>
              <a:srgbClr val="1F5F2A"/>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90" name="TextBox 89"/>
          <p:cNvSpPr txBox="1"/>
          <p:nvPr/>
        </p:nvSpPr>
        <p:spPr>
          <a:xfrm>
            <a:off x="9893807" y="3813048"/>
            <a:ext cx="1737360" cy="347472"/>
          </a:xfrm>
          <a:prstGeom prst="rect">
            <a:avLst/>
          </a:prstGeom>
          <a:noFill/>
        </p:spPr>
        <p:txBody>
          <a:bodyPr wrap="square" lIns="0" rIns="0" tIns="0" bIns="0" anchor="t"/>
          <a:lstStyle/>
          <a:p>
            <a:pPr algn="l">
              <a:lnSpc>
                <a:spcPct val="100000"/>
              </a:lnSpc>
              <a:spcAft>
                <a:spcPts val="200"/>
              </a:spcAft>
            </a:pPr>
            <a:r>
              <a:rPr sz="2000" b="1" i="0">
                <a:solidFill>
                  <a:srgbClr val="FFFFFF"/>
                </a:solidFill>
                <a:latin typeface="Arial"/>
              </a:rPr>
              <a:t>81/81</a:t>
            </a:r>
          </a:p>
        </p:txBody>
      </p:sp>
      <p:sp>
        <p:nvSpPr>
          <p:cNvPr id="91" name="TextBox 90"/>
          <p:cNvSpPr txBox="1"/>
          <p:nvPr/>
        </p:nvSpPr>
        <p:spPr>
          <a:xfrm>
            <a:off x="9893807" y="4169664"/>
            <a:ext cx="1755648" cy="329184"/>
          </a:xfrm>
          <a:prstGeom prst="rect">
            <a:avLst/>
          </a:prstGeom>
          <a:noFill/>
        </p:spPr>
        <p:txBody>
          <a:bodyPr wrap="square" lIns="0" rIns="0" tIns="0" bIns="0" anchor="t"/>
          <a:lstStyle/>
          <a:p>
            <a:pPr algn="l">
              <a:lnSpc>
                <a:spcPct val="100000"/>
              </a:lnSpc>
              <a:spcAft>
                <a:spcPts val="200"/>
              </a:spcAft>
            </a:pPr>
            <a:r>
              <a:rPr sz="950" b="1" i="0">
                <a:solidFill>
                  <a:srgbClr val="4DD262"/>
                </a:solidFill>
                <a:latin typeface="Arial"/>
              </a:rPr>
              <a:t>injected errors raised as TQs</a:t>
            </a:r>
          </a:p>
        </p:txBody>
      </p:sp>
      <p:sp>
        <p:nvSpPr>
          <p:cNvPr id="92" name="TextBox 91"/>
          <p:cNvSpPr txBox="1"/>
          <p:nvPr/>
        </p:nvSpPr>
        <p:spPr>
          <a:xfrm>
            <a:off x="9893807" y="4498848"/>
            <a:ext cx="1755648" cy="329184"/>
          </a:xfrm>
          <a:prstGeom prst="rect">
            <a:avLst/>
          </a:prstGeom>
          <a:noFill/>
        </p:spPr>
        <p:txBody>
          <a:bodyPr wrap="square" lIns="0" rIns="0" tIns="0" bIns="0" anchor="t"/>
          <a:lstStyle/>
          <a:p>
            <a:pPr algn="l">
              <a:lnSpc>
                <a:spcPct val="100000"/>
              </a:lnSpc>
              <a:spcAft>
                <a:spcPts val="200"/>
              </a:spcAft>
            </a:pPr>
            <a:r>
              <a:rPr sz="880" b="0" i="0">
                <a:solidFill>
                  <a:srgbClr val="A9C2AE"/>
                </a:solidFill>
                <a:latin typeface="Arial"/>
              </a:rPr>
              <a:t>3 synthetic MDBs, 27 errors each</a:t>
            </a:r>
          </a:p>
        </p:txBody>
      </p:sp>
      <p:sp>
        <p:nvSpPr>
          <p:cNvPr id="93" name="Rounded Rectangle 92"/>
          <p:cNvSpPr/>
          <p:nvPr/>
        </p:nvSpPr>
        <p:spPr>
          <a:xfrm>
            <a:off x="7726679" y="4919472"/>
            <a:ext cx="1965960" cy="1060704"/>
          </a:xfrm>
          <a:prstGeom prst="roundRect">
            <a:avLst>
              <a:gd name="adj" fmla="val 4000"/>
            </a:avLst>
          </a:prstGeom>
          <a:solidFill>
            <a:srgbClr val="06140A">
              <a:alpha val="92000"/>
            </a:srgbClr>
          </a:solidFill>
          <a:ln w="12700">
            <a:solidFill>
              <a:srgbClr val="1F5F2A"/>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94" name="TextBox 93"/>
          <p:cNvSpPr txBox="1"/>
          <p:nvPr/>
        </p:nvSpPr>
        <p:spPr>
          <a:xfrm>
            <a:off x="7836407" y="4946904"/>
            <a:ext cx="1737360" cy="347472"/>
          </a:xfrm>
          <a:prstGeom prst="rect">
            <a:avLst/>
          </a:prstGeom>
          <a:noFill/>
        </p:spPr>
        <p:txBody>
          <a:bodyPr wrap="square" lIns="0" rIns="0" tIns="0" bIns="0" anchor="t"/>
          <a:lstStyle/>
          <a:p>
            <a:pPr algn="l">
              <a:lnSpc>
                <a:spcPct val="100000"/>
              </a:lnSpc>
              <a:spcAft>
                <a:spcPts val="200"/>
              </a:spcAft>
            </a:pPr>
            <a:r>
              <a:rPr sz="2000" b="1" i="0">
                <a:solidFill>
                  <a:srgbClr val="FFFFFF"/>
                </a:solidFill>
                <a:latin typeface="Arial"/>
              </a:rPr>
              <a:t>0</a:t>
            </a:r>
          </a:p>
        </p:txBody>
      </p:sp>
      <p:sp>
        <p:nvSpPr>
          <p:cNvPr id="95" name="TextBox 94"/>
          <p:cNvSpPr txBox="1"/>
          <p:nvPr/>
        </p:nvSpPr>
        <p:spPr>
          <a:xfrm>
            <a:off x="7836407" y="5303520"/>
            <a:ext cx="1755648" cy="329184"/>
          </a:xfrm>
          <a:prstGeom prst="rect">
            <a:avLst/>
          </a:prstGeom>
          <a:noFill/>
        </p:spPr>
        <p:txBody>
          <a:bodyPr wrap="square" lIns="0" rIns="0" tIns="0" bIns="0" anchor="t"/>
          <a:lstStyle/>
          <a:p>
            <a:pPr algn="l">
              <a:lnSpc>
                <a:spcPct val="100000"/>
              </a:lnSpc>
              <a:spcAft>
                <a:spcPts val="200"/>
              </a:spcAft>
            </a:pPr>
            <a:r>
              <a:rPr sz="950" b="1" i="0">
                <a:solidFill>
                  <a:srgbClr val="4DD262"/>
                </a:solidFill>
                <a:latin typeface="Arial"/>
              </a:rPr>
              <a:t>baseplates over the exact minimum</a:t>
            </a:r>
          </a:p>
        </p:txBody>
      </p:sp>
      <p:sp>
        <p:nvSpPr>
          <p:cNvPr id="96" name="TextBox 95"/>
          <p:cNvSpPr txBox="1"/>
          <p:nvPr/>
        </p:nvSpPr>
        <p:spPr>
          <a:xfrm>
            <a:off x="7836407" y="5632704"/>
            <a:ext cx="1755648" cy="329184"/>
          </a:xfrm>
          <a:prstGeom prst="rect">
            <a:avLst/>
          </a:prstGeom>
          <a:noFill/>
        </p:spPr>
        <p:txBody>
          <a:bodyPr wrap="square" lIns="0" rIns="0" tIns="0" bIns="0" anchor="t"/>
          <a:lstStyle/>
          <a:p>
            <a:pPr algn="l">
              <a:lnSpc>
                <a:spcPct val="100000"/>
              </a:lnSpc>
              <a:spcAft>
                <a:spcPts val="200"/>
              </a:spcAft>
            </a:pPr>
            <a:r>
              <a:rPr sz="880" b="0" i="0">
                <a:solidFill>
                  <a:srgbClr val="A9C2AE"/>
                </a:solidFill>
                <a:latin typeface="Arial"/>
              </a:rPr>
              <a:t>closed form, sizes 2/6/12, 12 runs</a:t>
            </a:r>
          </a:p>
        </p:txBody>
      </p:sp>
      <p:sp>
        <p:nvSpPr>
          <p:cNvPr id="97" name="Rounded Rectangle 96"/>
          <p:cNvSpPr/>
          <p:nvPr/>
        </p:nvSpPr>
        <p:spPr>
          <a:xfrm>
            <a:off x="9784080" y="4919472"/>
            <a:ext cx="1965960" cy="1060704"/>
          </a:xfrm>
          <a:prstGeom prst="roundRect">
            <a:avLst>
              <a:gd name="adj" fmla="val 4000"/>
            </a:avLst>
          </a:prstGeom>
          <a:solidFill>
            <a:srgbClr val="06140A">
              <a:alpha val="92000"/>
            </a:srgbClr>
          </a:solidFill>
          <a:ln w="12700">
            <a:solidFill>
              <a:srgbClr val="1F5F2A"/>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98" name="TextBox 97"/>
          <p:cNvSpPr txBox="1"/>
          <p:nvPr/>
        </p:nvSpPr>
        <p:spPr>
          <a:xfrm>
            <a:off x="9893807" y="4946904"/>
            <a:ext cx="1737360" cy="347472"/>
          </a:xfrm>
          <a:prstGeom prst="rect">
            <a:avLst/>
          </a:prstGeom>
          <a:noFill/>
        </p:spPr>
        <p:txBody>
          <a:bodyPr wrap="square" lIns="0" rIns="0" tIns="0" bIns="0" anchor="t"/>
          <a:lstStyle/>
          <a:p>
            <a:pPr algn="l">
              <a:lnSpc>
                <a:spcPct val="100000"/>
              </a:lnSpc>
              <a:spcAft>
                <a:spcPts val="200"/>
              </a:spcAft>
            </a:pPr>
            <a:r>
              <a:rPr sz="2000" b="1" i="0">
                <a:solidFill>
                  <a:srgbClr val="FFFFFF"/>
                </a:solidFill>
                <a:latin typeface="Arial"/>
              </a:rPr>
              <a:t>7 of 11</a:t>
            </a:r>
          </a:p>
        </p:txBody>
      </p:sp>
      <p:sp>
        <p:nvSpPr>
          <p:cNvPr id="99" name="TextBox 98"/>
          <p:cNvSpPr txBox="1"/>
          <p:nvPr/>
        </p:nvSpPr>
        <p:spPr>
          <a:xfrm>
            <a:off x="9893807" y="5303520"/>
            <a:ext cx="1755648" cy="329184"/>
          </a:xfrm>
          <a:prstGeom prst="rect">
            <a:avLst/>
          </a:prstGeom>
          <a:noFill/>
        </p:spPr>
        <p:txBody>
          <a:bodyPr wrap="square" lIns="0" rIns="0" tIns="0" bIns="0" anchor="t"/>
          <a:lstStyle/>
          <a:p>
            <a:pPr algn="l">
              <a:lnSpc>
                <a:spcPct val="100000"/>
              </a:lnSpc>
              <a:spcAft>
                <a:spcPts val="200"/>
              </a:spcAft>
            </a:pPr>
            <a:r>
              <a:rPr sz="950" b="1" i="0">
                <a:solidFill>
                  <a:srgbClr val="4DD262"/>
                </a:solidFill>
                <a:latin typeface="Arial"/>
              </a:rPr>
              <a:t>repair windows proven exact</a:t>
            </a:r>
          </a:p>
        </p:txBody>
      </p:sp>
      <p:sp>
        <p:nvSpPr>
          <p:cNvPr id="100" name="TextBox 99"/>
          <p:cNvSpPr txBox="1"/>
          <p:nvPr/>
        </p:nvSpPr>
        <p:spPr>
          <a:xfrm>
            <a:off x="9893807" y="5632704"/>
            <a:ext cx="1755648" cy="329184"/>
          </a:xfrm>
          <a:prstGeom prst="rect">
            <a:avLst/>
          </a:prstGeom>
          <a:noFill/>
        </p:spPr>
        <p:txBody>
          <a:bodyPr wrap="square" lIns="0" rIns="0" tIns="0" bIns="0" anchor="t"/>
          <a:lstStyle/>
          <a:p>
            <a:pPr algn="l">
              <a:lnSpc>
                <a:spcPct val="100000"/>
              </a:lnSpc>
              <a:spcAft>
                <a:spcPts val="200"/>
              </a:spcAft>
            </a:pPr>
            <a:r>
              <a:rPr sz="880" b="0" i="0">
                <a:solidFill>
                  <a:srgbClr val="A9C2AE"/>
                </a:solidFill>
                <a:latin typeface="Arial"/>
              </a:rPr>
              <a:t>4 best-found; 7 of 10 revisions used CP-SAT</a:t>
            </a:r>
          </a:p>
        </p:txBody>
      </p:sp>
      <p:sp>
        <p:nvSpPr>
          <p:cNvPr id="101" name="TextBox 100"/>
          <p:cNvSpPr txBox="1"/>
          <p:nvPr/>
        </p:nvSpPr>
        <p:spPr>
          <a:xfrm>
            <a:off x="548640" y="6007608"/>
            <a:ext cx="11201400" cy="219456"/>
          </a:xfrm>
          <a:prstGeom prst="rect">
            <a:avLst/>
          </a:prstGeom>
          <a:noFill/>
        </p:spPr>
        <p:txBody>
          <a:bodyPr wrap="square" lIns="0" rIns="0" tIns="0" bIns="0" anchor="t"/>
          <a:lstStyle/>
          <a:p>
            <a:pPr algn="l">
              <a:lnSpc>
                <a:spcPct val="100000"/>
              </a:lnSpc>
              <a:spcAft>
                <a:spcPts val="200"/>
              </a:spcAft>
            </a:pPr>
            <a:r>
              <a:rPr sz="900" b="0" i="1">
                <a:solidFill>
                  <a:srgbClr val="A9C2AE"/>
                </a:solidFill>
                <a:latin typeface="Arial"/>
              </a:rPr>
              <a:t>Event dates from the Code Apex 3.0 handbook (subject to change); roadmap items are intentions, not commitments. The re-run baseline re-allocates Rev B from scratch with the same engine; it is a naive reference, not an optimum.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emplate background" descr="bg7.jpg"/>
          <p:cNvPicPr>
            <a:picLocks noChangeAspect="1"/>
          </p:cNvPicPr>
          <p:nvPr/>
        </p:nvPicPr>
        <p:blipFill>
          <a:blip r:embed="rId2"/>
          <a:stretch>
            <a:fillRect/>
          </a:stretch>
        </p:blipFill>
        <p:spPr>
          <a:xfrm>
            <a:off x="0" y="0"/>
            <a:ext cx="12191695" cy="6819206"/>
          </a:xfrm>
          <a:prstGeom prst="rect">
            <a:avLst/>
          </a:prstGeom>
        </p:spPr>
      </p:pic>
      <p:sp>
        <p:nvSpPr>
          <p:cNvPr id="3" name="Rounded Rectangle 2"/>
          <p:cNvSpPr/>
          <p:nvPr/>
        </p:nvSpPr>
        <p:spPr>
          <a:xfrm>
            <a:off x="548640" y="1783080"/>
            <a:ext cx="5532120" cy="2286000"/>
          </a:xfrm>
          <a:prstGeom prst="roundRect">
            <a:avLst>
              <a:gd name="adj" fmla="val 4000"/>
            </a:avLst>
          </a:prstGeom>
          <a:solidFill>
            <a:srgbClr val="06140A">
              <a:alpha val="90000"/>
            </a:srgbClr>
          </a:solidFill>
          <a:ln w="12700">
            <a:solidFill>
              <a:srgbClr val="1F5F2A"/>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4" name="TextBox 3"/>
          <p:cNvSpPr txBox="1"/>
          <p:nvPr/>
        </p:nvSpPr>
        <p:spPr>
          <a:xfrm>
            <a:off x="685800" y="1837943"/>
            <a:ext cx="5257800" cy="274320"/>
          </a:xfrm>
          <a:prstGeom prst="rect">
            <a:avLst/>
          </a:prstGeom>
          <a:noFill/>
        </p:spPr>
        <p:txBody>
          <a:bodyPr wrap="square" lIns="0" rIns="0" tIns="0" bIns="0" anchor="t"/>
          <a:lstStyle/>
          <a:p>
            <a:pPr algn="l">
              <a:lnSpc>
                <a:spcPct val="100000"/>
              </a:lnSpc>
              <a:spcAft>
                <a:spcPts val="200"/>
              </a:spcAft>
            </a:pPr>
            <a:r>
              <a:rPr sz="1100" b="1" i="0">
                <a:solidFill>
                  <a:srgbClr val="4DD262"/>
                </a:solidFill>
                <a:latin typeface="Arial"/>
              </a:rPr>
              <a:t>MEASURED TODAY · SYNTHETIC</a:t>
            </a:r>
            <a:r>
              <a:rPr sz="1050" b="0" i="0">
                <a:solidFill>
                  <a:srgbClr val="FFFFFF"/>
                </a:solidFill>
                <a:latin typeface="Arial"/>
              </a:rPr>
              <a:t>   end-to-end time vs signals</a:t>
            </a:r>
          </a:p>
        </p:txBody>
      </p:sp>
      <p:sp>
        <p:nvSpPr>
          <p:cNvPr id="5" name="Rectangle 4"/>
          <p:cNvSpPr/>
          <p:nvPr/>
        </p:nvSpPr>
        <p:spPr>
          <a:xfrm>
            <a:off x="1143000" y="3196742"/>
            <a:ext cx="4663440" cy="7315"/>
          </a:xfrm>
          <a:prstGeom prst="rect">
            <a:avLst/>
          </a:prstGeom>
          <a:solidFill>
            <a:srgbClr val="1F3A2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6" name="TextBox 5"/>
          <p:cNvSpPr txBox="1"/>
          <p:nvPr/>
        </p:nvSpPr>
        <p:spPr>
          <a:xfrm>
            <a:off x="640080" y="3118104"/>
            <a:ext cx="457200" cy="164592"/>
          </a:xfrm>
          <a:prstGeom prst="rect">
            <a:avLst/>
          </a:prstGeom>
          <a:noFill/>
        </p:spPr>
        <p:txBody>
          <a:bodyPr wrap="square" lIns="0" rIns="0" tIns="0" bIns="0" anchor="t"/>
          <a:lstStyle/>
          <a:p>
            <a:pPr algn="r">
              <a:lnSpc>
                <a:spcPct val="100000"/>
              </a:lnSpc>
              <a:spcAft>
                <a:spcPts val="200"/>
              </a:spcAft>
            </a:pPr>
            <a:r>
              <a:rPr sz="850" b="0" i="0">
                <a:solidFill>
                  <a:srgbClr val="A9C2AE"/>
                </a:solidFill>
                <a:latin typeface="Arial"/>
              </a:rPr>
              <a:t>0 s</a:t>
            </a:r>
          </a:p>
        </p:txBody>
      </p:sp>
      <p:sp>
        <p:nvSpPr>
          <p:cNvPr id="7" name="Rectangle 6"/>
          <p:cNvSpPr/>
          <p:nvPr/>
        </p:nvSpPr>
        <p:spPr>
          <a:xfrm>
            <a:off x="1143000" y="2852318"/>
            <a:ext cx="4663440" cy="7315"/>
          </a:xfrm>
          <a:prstGeom prst="rect">
            <a:avLst/>
          </a:prstGeom>
          <a:solidFill>
            <a:srgbClr val="1F3A2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8" name="TextBox 7"/>
          <p:cNvSpPr txBox="1"/>
          <p:nvPr/>
        </p:nvSpPr>
        <p:spPr>
          <a:xfrm>
            <a:off x="640080" y="2773680"/>
            <a:ext cx="457200" cy="164592"/>
          </a:xfrm>
          <a:prstGeom prst="rect">
            <a:avLst/>
          </a:prstGeom>
          <a:noFill/>
        </p:spPr>
        <p:txBody>
          <a:bodyPr wrap="square" lIns="0" rIns="0" tIns="0" bIns="0" anchor="t"/>
          <a:lstStyle/>
          <a:p>
            <a:pPr algn="r">
              <a:lnSpc>
                <a:spcPct val="100000"/>
              </a:lnSpc>
              <a:spcAft>
                <a:spcPts val="200"/>
              </a:spcAft>
            </a:pPr>
            <a:r>
              <a:rPr sz="850" b="0" i="0">
                <a:solidFill>
                  <a:srgbClr val="A9C2AE"/>
                </a:solidFill>
                <a:latin typeface="Arial"/>
              </a:rPr>
              <a:t>3 s</a:t>
            </a:r>
          </a:p>
        </p:txBody>
      </p:sp>
      <p:sp>
        <p:nvSpPr>
          <p:cNvPr id="9" name="Rectangle 8"/>
          <p:cNvSpPr/>
          <p:nvPr/>
        </p:nvSpPr>
        <p:spPr>
          <a:xfrm>
            <a:off x="1143000" y="2507894"/>
            <a:ext cx="4663440" cy="7315"/>
          </a:xfrm>
          <a:prstGeom prst="rect">
            <a:avLst/>
          </a:prstGeom>
          <a:solidFill>
            <a:srgbClr val="1F3A2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10" name="TextBox 9"/>
          <p:cNvSpPr txBox="1"/>
          <p:nvPr/>
        </p:nvSpPr>
        <p:spPr>
          <a:xfrm>
            <a:off x="640080" y="2429256"/>
            <a:ext cx="457200" cy="164592"/>
          </a:xfrm>
          <a:prstGeom prst="rect">
            <a:avLst/>
          </a:prstGeom>
          <a:noFill/>
        </p:spPr>
        <p:txBody>
          <a:bodyPr wrap="square" lIns="0" rIns="0" tIns="0" bIns="0" anchor="t"/>
          <a:lstStyle/>
          <a:p>
            <a:pPr algn="r">
              <a:lnSpc>
                <a:spcPct val="100000"/>
              </a:lnSpc>
              <a:spcAft>
                <a:spcPts val="200"/>
              </a:spcAft>
            </a:pPr>
            <a:r>
              <a:rPr sz="850" b="0" i="0">
                <a:solidFill>
                  <a:srgbClr val="A9C2AE"/>
                </a:solidFill>
                <a:latin typeface="Arial"/>
              </a:rPr>
              <a:t>6 s</a:t>
            </a:r>
          </a:p>
        </p:txBody>
      </p:sp>
      <p:sp>
        <p:nvSpPr>
          <p:cNvPr id="11" name="Rectangle 10"/>
          <p:cNvSpPr/>
          <p:nvPr/>
        </p:nvSpPr>
        <p:spPr>
          <a:xfrm>
            <a:off x="1143000" y="2163470"/>
            <a:ext cx="4663440" cy="7315"/>
          </a:xfrm>
          <a:prstGeom prst="rect">
            <a:avLst/>
          </a:prstGeom>
          <a:solidFill>
            <a:srgbClr val="1F3A26"/>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12" name="TextBox 11"/>
          <p:cNvSpPr txBox="1"/>
          <p:nvPr/>
        </p:nvSpPr>
        <p:spPr>
          <a:xfrm>
            <a:off x="640080" y="2084832"/>
            <a:ext cx="457200" cy="164592"/>
          </a:xfrm>
          <a:prstGeom prst="rect">
            <a:avLst/>
          </a:prstGeom>
          <a:noFill/>
        </p:spPr>
        <p:txBody>
          <a:bodyPr wrap="square" lIns="0" rIns="0" tIns="0" bIns="0" anchor="t"/>
          <a:lstStyle/>
          <a:p>
            <a:pPr algn="r">
              <a:lnSpc>
                <a:spcPct val="100000"/>
              </a:lnSpc>
              <a:spcAft>
                <a:spcPts val="200"/>
              </a:spcAft>
            </a:pPr>
            <a:r>
              <a:rPr sz="850" b="0" i="0">
                <a:solidFill>
                  <a:srgbClr val="A9C2AE"/>
                </a:solidFill>
                <a:latin typeface="Arial"/>
              </a:rPr>
              <a:t>9 s</a:t>
            </a:r>
          </a:p>
        </p:txBody>
      </p:sp>
      <p:sp>
        <p:nvSpPr>
          <p:cNvPr id="13" name="TextBox 12"/>
          <p:cNvSpPr txBox="1"/>
          <p:nvPr/>
        </p:nvSpPr>
        <p:spPr>
          <a:xfrm>
            <a:off x="933994" y="3236976"/>
            <a:ext cx="640080" cy="164592"/>
          </a:xfrm>
          <a:prstGeom prst="rect">
            <a:avLst/>
          </a:prstGeom>
          <a:noFill/>
        </p:spPr>
        <p:txBody>
          <a:bodyPr wrap="square" lIns="0" rIns="0" tIns="0" bIns="0" anchor="t"/>
          <a:lstStyle/>
          <a:p>
            <a:pPr algn="ctr">
              <a:lnSpc>
                <a:spcPct val="100000"/>
              </a:lnSpc>
              <a:spcAft>
                <a:spcPts val="200"/>
              </a:spcAft>
            </a:pPr>
            <a:r>
              <a:rPr sz="850" b="0" i="0">
                <a:solidFill>
                  <a:srgbClr val="A9C2AE"/>
                </a:solidFill>
                <a:latin typeface="Arial"/>
              </a:rPr>
              <a:t>500</a:t>
            </a:r>
          </a:p>
        </p:txBody>
      </p:sp>
      <p:sp>
        <p:nvSpPr>
          <p:cNvPr id="14" name="TextBox 13"/>
          <p:cNvSpPr txBox="1"/>
          <p:nvPr/>
        </p:nvSpPr>
        <p:spPr>
          <a:xfrm>
            <a:off x="1933302" y="3236976"/>
            <a:ext cx="640080" cy="164592"/>
          </a:xfrm>
          <a:prstGeom prst="rect">
            <a:avLst/>
          </a:prstGeom>
          <a:noFill/>
        </p:spPr>
        <p:txBody>
          <a:bodyPr wrap="square" lIns="0" rIns="0" tIns="0" bIns="0" anchor="t"/>
          <a:lstStyle/>
          <a:p>
            <a:pPr algn="ctr">
              <a:lnSpc>
                <a:spcPct val="100000"/>
              </a:lnSpc>
              <a:spcAft>
                <a:spcPts val="200"/>
              </a:spcAft>
            </a:pPr>
            <a:r>
              <a:rPr sz="850" b="0" i="0">
                <a:solidFill>
                  <a:srgbClr val="A9C2AE"/>
                </a:solidFill>
                <a:latin typeface="Arial"/>
              </a:rPr>
              <a:t>5,000</a:t>
            </a:r>
          </a:p>
        </p:txBody>
      </p:sp>
      <p:sp>
        <p:nvSpPr>
          <p:cNvPr id="15" name="TextBox 14"/>
          <p:cNvSpPr txBox="1"/>
          <p:nvPr/>
        </p:nvSpPr>
        <p:spPr>
          <a:xfrm>
            <a:off x="3043645" y="3236976"/>
            <a:ext cx="640080" cy="164592"/>
          </a:xfrm>
          <a:prstGeom prst="rect">
            <a:avLst/>
          </a:prstGeom>
          <a:noFill/>
        </p:spPr>
        <p:txBody>
          <a:bodyPr wrap="square" lIns="0" rIns="0" tIns="0" bIns="0" anchor="t"/>
          <a:lstStyle/>
          <a:p>
            <a:pPr algn="ctr">
              <a:lnSpc>
                <a:spcPct val="100000"/>
              </a:lnSpc>
              <a:spcAft>
                <a:spcPts val="200"/>
              </a:spcAft>
            </a:pPr>
            <a:r>
              <a:rPr sz="850" b="0" i="0">
                <a:solidFill>
                  <a:srgbClr val="A9C2AE"/>
                </a:solidFill>
                <a:latin typeface="Arial"/>
              </a:rPr>
              <a:t>10,000</a:t>
            </a:r>
          </a:p>
        </p:txBody>
      </p:sp>
      <p:sp>
        <p:nvSpPr>
          <p:cNvPr id="16" name="TextBox 15"/>
          <p:cNvSpPr txBox="1"/>
          <p:nvPr/>
        </p:nvSpPr>
        <p:spPr>
          <a:xfrm>
            <a:off x="4153988" y="3236976"/>
            <a:ext cx="640080" cy="164592"/>
          </a:xfrm>
          <a:prstGeom prst="rect">
            <a:avLst/>
          </a:prstGeom>
          <a:noFill/>
        </p:spPr>
        <p:txBody>
          <a:bodyPr wrap="square" lIns="0" rIns="0" tIns="0" bIns="0" anchor="t"/>
          <a:lstStyle/>
          <a:p>
            <a:pPr algn="ctr">
              <a:lnSpc>
                <a:spcPct val="100000"/>
              </a:lnSpc>
              <a:spcAft>
                <a:spcPts val="200"/>
              </a:spcAft>
            </a:pPr>
            <a:r>
              <a:rPr sz="850" b="0" i="0">
                <a:solidFill>
                  <a:srgbClr val="A9C2AE"/>
                </a:solidFill>
                <a:latin typeface="Arial"/>
              </a:rPr>
              <a:t>15,000</a:t>
            </a:r>
          </a:p>
        </p:txBody>
      </p:sp>
      <p:sp>
        <p:nvSpPr>
          <p:cNvPr id="17" name="TextBox 16"/>
          <p:cNvSpPr txBox="1"/>
          <p:nvPr/>
        </p:nvSpPr>
        <p:spPr>
          <a:xfrm>
            <a:off x="5264331" y="3236976"/>
            <a:ext cx="640080" cy="164592"/>
          </a:xfrm>
          <a:prstGeom prst="rect">
            <a:avLst/>
          </a:prstGeom>
          <a:noFill/>
        </p:spPr>
        <p:txBody>
          <a:bodyPr wrap="square" lIns="0" rIns="0" tIns="0" bIns="0" anchor="t"/>
          <a:lstStyle/>
          <a:p>
            <a:pPr algn="ctr">
              <a:lnSpc>
                <a:spcPct val="100000"/>
              </a:lnSpc>
              <a:spcAft>
                <a:spcPts val="200"/>
              </a:spcAft>
            </a:pPr>
            <a:r>
              <a:rPr sz="850" b="0" i="0">
                <a:solidFill>
                  <a:srgbClr val="A9C2AE"/>
                </a:solidFill>
                <a:latin typeface="Arial"/>
              </a:rPr>
              <a:t>20,000</a:t>
            </a:r>
          </a:p>
        </p:txBody>
      </p:sp>
      <p:sp>
        <p:nvSpPr>
          <p:cNvPr id="18" name="Oval 17"/>
          <p:cNvSpPr/>
          <p:nvPr/>
        </p:nvSpPr>
        <p:spPr>
          <a:xfrm>
            <a:off x="1213330" y="3139734"/>
            <a:ext cx="82296" cy="82296"/>
          </a:xfrm>
          <a:prstGeom prst="ellipse">
            <a:avLst/>
          </a:prstGeom>
          <a:solidFill>
            <a:srgbClr val="4DD262">
              <a:alpha val="7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19" name="Oval 18"/>
          <p:cNvSpPr/>
          <p:nvPr/>
        </p:nvSpPr>
        <p:spPr>
          <a:xfrm>
            <a:off x="1214662" y="3139734"/>
            <a:ext cx="82296" cy="82296"/>
          </a:xfrm>
          <a:prstGeom prst="ellipse">
            <a:avLst/>
          </a:prstGeom>
          <a:solidFill>
            <a:srgbClr val="4DD262">
              <a:alpha val="7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0" name="Oval 19"/>
          <p:cNvSpPr/>
          <p:nvPr/>
        </p:nvSpPr>
        <p:spPr>
          <a:xfrm>
            <a:off x="1216661" y="3139734"/>
            <a:ext cx="82296" cy="82296"/>
          </a:xfrm>
          <a:prstGeom prst="ellipse">
            <a:avLst/>
          </a:prstGeom>
          <a:solidFill>
            <a:srgbClr val="4DD262">
              <a:alpha val="7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1" name="Oval 20"/>
          <p:cNvSpPr/>
          <p:nvPr/>
        </p:nvSpPr>
        <p:spPr>
          <a:xfrm>
            <a:off x="1546433" y="3088071"/>
            <a:ext cx="82296" cy="82296"/>
          </a:xfrm>
          <a:prstGeom prst="ellipse">
            <a:avLst/>
          </a:prstGeom>
          <a:solidFill>
            <a:srgbClr val="4DD262">
              <a:alpha val="7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2" name="Oval 21"/>
          <p:cNvSpPr/>
          <p:nvPr/>
        </p:nvSpPr>
        <p:spPr>
          <a:xfrm>
            <a:off x="1549542" y="3092663"/>
            <a:ext cx="82296" cy="82296"/>
          </a:xfrm>
          <a:prstGeom prst="ellipse">
            <a:avLst/>
          </a:prstGeom>
          <a:solidFill>
            <a:srgbClr val="4DD262">
              <a:alpha val="7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3" name="Oval 22"/>
          <p:cNvSpPr/>
          <p:nvPr/>
        </p:nvSpPr>
        <p:spPr>
          <a:xfrm>
            <a:off x="1548431" y="3092663"/>
            <a:ext cx="82296" cy="82296"/>
          </a:xfrm>
          <a:prstGeom prst="ellipse">
            <a:avLst/>
          </a:prstGeom>
          <a:solidFill>
            <a:srgbClr val="4DD262">
              <a:alpha val="7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4" name="Oval 23"/>
          <p:cNvSpPr/>
          <p:nvPr/>
        </p:nvSpPr>
        <p:spPr>
          <a:xfrm>
            <a:off x="3329421" y="2814828"/>
            <a:ext cx="82296" cy="82296"/>
          </a:xfrm>
          <a:prstGeom prst="ellipse">
            <a:avLst/>
          </a:prstGeom>
          <a:solidFill>
            <a:srgbClr val="4DD262">
              <a:alpha val="7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5" name="Oval 24"/>
          <p:cNvSpPr/>
          <p:nvPr/>
        </p:nvSpPr>
        <p:spPr>
          <a:xfrm>
            <a:off x="3328533" y="2819420"/>
            <a:ext cx="82296" cy="82296"/>
          </a:xfrm>
          <a:prstGeom prst="ellipse">
            <a:avLst/>
          </a:prstGeom>
          <a:solidFill>
            <a:srgbClr val="4DD262">
              <a:alpha val="7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6" name="Oval 25"/>
          <p:cNvSpPr/>
          <p:nvPr/>
        </p:nvSpPr>
        <p:spPr>
          <a:xfrm>
            <a:off x="3324758" y="2813679"/>
            <a:ext cx="82296" cy="82296"/>
          </a:xfrm>
          <a:prstGeom prst="ellipse">
            <a:avLst/>
          </a:prstGeom>
          <a:solidFill>
            <a:srgbClr val="4DD262">
              <a:alpha val="7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7" name="Oval 26"/>
          <p:cNvSpPr/>
          <p:nvPr/>
        </p:nvSpPr>
        <p:spPr>
          <a:xfrm>
            <a:off x="5550551" y="2471552"/>
            <a:ext cx="82296" cy="82296"/>
          </a:xfrm>
          <a:prstGeom prst="ellipse">
            <a:avLst/>
          </a:prstGeom>
          <a:solidFill>
            <a:srgbClr val="4DD262">
              <a:alpha val="7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8" name="Oval 27"/>
          <p:cNvSpPr/>
          <p:nvPr/>
        </p:nvSpPr>
        <p:spPr>
          <a:xfrm>
            <a:off x="5543889" y="2463515"/>
            <a:ext cx="82296" cy="82296"/>
          </a:xfrm>
          <a:prstGeom prst="ellipse">
            <a:avLst/>
          </a:prstGeom>
          <a:solidFill>
            <a:srgbClr val="4DD262">
              <a:alpha val="7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29" name="Oval 28"/>
          <p:cNvSpPr/>
          <p:nvPr/>
        </p:nvSpPr>
        <p:spPr>
          <a:xfrm>
            <a:off x="5543889" y="2472700"/>
            <a:ext cx="82296" cy="82296"/>
          </a:xfrm>
          <a:prstGeom prst="ellipse">
            <a:avLst/>
          </a:prstGeom>
          <a:solidFill>
            <a:srgbClr val="4DD262">
              <a:alpha val="7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30" name="Oval 29"/>
          <p:cNvSpPr/>
          <p:nvPr/>
        </p:nvSpPr>
        <p:spPr>
          <a:xfrm>
            <a:off x="1213330" y="3139734"/>
            <a:ext cx="82296" cy="82296"/>
          </a:xfrm>
          <a:prstGeom prst="ellipse">
            <a:avLst/>
          </a:prstGeom>
          <a:solidFill>
            <a:srgbClr val="4DD262">
              <a:alpha val="7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31" name="Oval 30"/>
          <p:cNvSpPr/>
          <p:nvPr/>
        </p:nvSpPr>
        <p:spPr>
          <a:xfrm>
            <a:off x="1214662" y="3138586"/>
            <a:ext cx="82296" cy="82296"/>
          </a:xfrm>
          <a:prstGeom prst="ellipse">
            <a:avLst/>
          </a:prstGeom>
          <a:solidFill>
            <a:srgbClr val="4DD262">
              <a:alpha val="7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32" name="Oval 31"/>
          <p:cNvSpPr/>
          <p:nvPr/>
        </p:nvSpPr>
        <p:spPr>
          <a:xfrm>
            <a:off x="1216661" y="3138586"/>
            <a:ext cx="82296" cy="82296"/>
          </a:xfrm>
          <a:prstGeom prst="ellipse">
            <a:avLst/>
          </a:prstGeom>
          <a:solidFill>
            <a:srgbClr val="4DD262">
              <a:alpha val="7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33" name="Oval 32"/>
          <p:cNvSpPr/>
          <p:nvPr/>
        </p:nvSpPr>
        <p:spPr>
          <a:xfrm>
            <a:off x="1546433" y="3085774"/>
            <a:ext cx="82296" cy="82296"/>
          </a:xfrm>
          <a:prstGeom prst="ellipse">
            <a:avLst/>
          </a:prstGeom>
          <a:solidFill>
            <a:srgbClr val="4DD262">
              <a:alpha val="7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34" name="Oval 33"/>
          <p:cNvSpPr/>
          <p:nvPr/>
        </p:nvSpPr>
        <p:spPr>
          <a:xfrm>
            <a:off x="1549542" y="3086922"/>
            <a:ext cx="82296" cy="82296"/>
          </a:xfrm>
          <a:prstGeom prst="ellipse">
            <a:avLst/>
          </a:prstGeom>
          <a:solidFill>
            <a:srgbClr val="4DD262">
              <a:alpha val="7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35" name="Oval 34"/>
          <p:cNvSpPr/>
          <p:nvPr/>
        </p:nvSpPr>
        <p:spPr>
          <a:xfrm>
            <a:off x="1548431" y="3086922"/>
            <a:ext cx="82296" cy="82296"/>
          </a:xfrm>
          <a:prstGeom prst="ellipse">
            <a:avLst/>
          </a:prstGeom>
          <a:solidFill>
            <a:srgbClr val="4DD262">
              <a:alpha val="7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36" name="Oval 35"/>
          <p:cNvSpPr/>
          <p:nvPr/>
        </p:nvSpPr>
        <p:spPr>
          <a:xfrm>
            <a:off x="3329421" y="2809087"/>
            <a:ext cx="82296" cy="82296"/>
          </a:xfrm>
          <a:prstGeom prst="ellipse">
            <a:avLst/>
          </a:prstGeom>
          <a:solidFill>
            <a:srgbClr val="4DD262">
              <a:alpha val="7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37" name="Oval 36"/>
          <p:cNvSpPr/>
          <p:nvPr/>
        </p:nvSpPr>
        <p:spPr>
          <a:xfrm>
            <a:off x="3328533" y="2802199"/>
            <a:ext cx="82296" cy="82296"/>
          </a:xfrm>
          <a:prstGeom prst="ellipse">
            <a:avLst/>
          </a:prstGeom>
          <a:solidFill>
            <a:srgbClr val="4DD262">
              <a:alpha val="7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38" name="Oval 37"/>
          <p:cNvSpPr/>
          <p:nvPr/>
        </p:nvSpPr>
        <p:spPr>
          <a:xfrm>
            <a:off x="3324758" y="2810235"/>
            <a:ext cx="82296" cy="82296"/>
          </a:xfrm>
          <a:prstGeom prst="ellipse">
            <a:avLst/>
          </a:prstGeom>
          <a:solidFill>
            <a:srgbClr val="4DD262">
              <a:alpha val="7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39" name="Oval 38"/>
          <p:cNvSpPr/>
          <p:nvPr/>
        </p:nvSpPr>
        <p:spPr>
          <a:xfrm>
            <a:off x="5550551" y="2460071"/>
            <a:ext cx="82296" cy="82296"/>
          </a:xfrm>
          <a:prstGeom prst="ellipse">
            <a:avLst/>
          </a:prstGeom>
          <a:solidFill>
            <a:srgbClr val="4DD262">
              <a:alpha val="7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40" name="Oval 39"/>
          <p:cNvSpPr/>
          <p:nvPr/>
        </p:nvSpPr>
        <p:spPr>
          <a:xfrm>
            <a:off x="5543889" y="2466959"/>
            <a:ext cx="82296" cy="82296"/>
          </a:xfrm>
          <a:prstGeom prst="ellipse">
            <a:avLst/>
          </a:prstGeom>
          <a:solidFill>
            <a:srgbClr val="4DD262">
              <a:alpha val="7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41" name="Oval 40"/>
          <p:cNvSpPr/>
          <p:nvPr/>
        </p:nvSpPr>
        <p:spPr>
          <a:xfrm>
            <a:off x="5543889" y="2473848"/>
            <a:ext cx="82296" cy="82296"/>
          </a:xfrm>
          <a:prstGeom prst="ellipse">
            <a:avLst/>
          </a:prstGeom>
          <a:solidFill>
            <a:srgbClr val="4DD262">
              <a:alpha val="7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42" name="Oval 41"/>
          <p:cNvSpPr/>
          <p:nvPr/>
        </p:nvSpPr>
        <p:spPr>
          <a:xfrm>
            <a:off x="1213330" y="3139734"/>
            <a:ext cx="82296" cy="82296"/>
          </a:xfrm>
          <a:prstGeom prst="ellipse">
            <a:avLst/>
          </a:prstGeom>
          <a:solidFill>
            <a:srgbClr val="4DD262">
              <a:alpha val="7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43" name="Oval 42"/>
          <p:cNvSpPr/>
          <p:nvPr/>
        </p:nvSpPr>
        <p:spPr>
          <a:xfrm>
            <a:off x="1214662" y="3140882"/>
            <a:ext cx="82296" cy="82296"/>
          </a:xfrm>
          <a:prstGeom prst="ellipse">
            <a:avLst/>
          </a:prstGeom>
          <a:solidFill>
            <a:srgbClr val="4DD262">
              <a:alpha val="7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44" name="Oval 43"/>
          <p:cNvSpPr/>
          <p:nvPr/>
        </p:nvSpPr>
        <p:spPr>
          <a:xfrm>
            <a:off x="1216661" y="3140882"/>
            <a:ext cx="82296" cy="82296"/>
          </a:xfrm>
          <a:prstGeom prst="ellipse">
            <a:avLst/>
          </a:prstGeom>
          <a:solidFill>
            <a:srgbClr val="4DD262">
              <a:alpha val="7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45" name="Oval 44"/>
          <p:cNvSpPr/>
          <p:nvPr/>
        </p:nvSpPr>
        <p:spPr>
          <a:xfrm>
            <a:off x="1546433" y="3092663"/>
            <a:ext cx="82296" cy="82296"/>
          </a:xfrm>
          <a:prstGeom prst="ellipse">
            <a:avLst/>
          </a:prstGeom>
          <a:solidFill>
            <a:srgbClr val="4DD262">
              <a:alpha val="7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46" name="Oval 45"/>
          <p:cNvSpPr/>
          <p:nvPr/>
        </p:nvSpPr>
        <p:spPr>
          <a:xfrm>
            <a:off x="1549542" y="3092663"/>
            <a:ext cx="82296" cy="82296"/>
          </a:xfrm>
          <a:prstGeom prst="ellipse">
            <a:avLst/>
          </a:prstGeom>
          <a:solidFill>
            <a:srgbClr val="4DD262">
              <a:alpha val="7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47" name="Oval 46"/>
          <p:cNvSpPr/>
          <p:nvPr/>
        </p:nvSpPr>
        <p:spPr>
          <a:xfrm>
            <a:off x="1548431" y="3094959"/>
            <a:ext cx="82296" cy="82296"/>
          </a:xfrm>
          <a:prstGeom prst="ellipse">
            <a:avLst/>
          </a:prstGeom>
          <a:solidFill>
            <a:srgbClr val="4DD262">
              <a:alpha val="7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48" name="Oval 47"/>
          <p:cNvSpPr/>
          <p:nvPr/>
        </p:nvSpPr>
        <p:spPr>
          <a:xfrm>
            <a:off x="3329421" y="2827456"/>
            <a:ext cx="82296" cy="82296"/>
          </a:xfrm>
          <a:prstGeom prst="ellipse">
            <a:avLst/>
          </a:prstGeom>
          <a:solidFill>
            <a:srgbClr val="4DD262">
              <a:alpha val="7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49" name="Oval 48"/>
          <p:cNvSpPr/>
          <p:nvPr/>
        </p:nvSpPr>
        <p:spPr>
          <a:xfrm>
            <a:off x="3328533" y="2826308"/>
            <a:ext cx="82296" cy="82296"/>
          </a:xfrm>
          <a:prstGeom prst="ellipse">
            <a:avLst/>
          </a:prstGeom>
          <a:solidFill>
            <a:srgbClr val="4DD262">
              <a:alpha val="7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50" name="Oval 49"/>
          <p:cNvSpPr/>
          <p:nvPr/>
        </p:nvSpPr>
        <p:spPr>
          <a:xfrm>
            <a:off x="3324758" y="2825160"/>
            <a:ext cx="82296" cy="82296"/>
          </a:xfrm>
          <a:prstGeom prst="ellipse">
            <a:avLst/>
          </a:prstGeom>
          <a:solidFill>
            <a:srgbClr val="4DD262">
              <a:alpha val="7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51" name="Oval 50"/>
          <p:cNvSpPr/>
          <p:nvPr/>
        </p:nvSpPr>
        <p:spPr>
          <a:xfrm>
            <a:off x="5550551" y="2434813"/>
            <a:ext cx="82296" cy="82296"/>
          </a:xfrm>
          <a:prstGeom prst="ellipse">
            <a:avLst/>
          </a:prstGeom>
          <a:solidFill>
            <a:srgbClr val="4DD262">
              <a:alpha val="7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52" name="Oval 51"/>
          <p:cNvSpPr/>
          <p:nvPr/>
        </p:nvSpPr>
        <p:spPr>
          <a:xfrm>
            <a:off x="5543889" y="2448590"/>
            <a:ext cx="82296" cy="82296"/>
          </a:xfrm>
          <a:prstGeom prst="ellipse">
            <a:avLst/>
          </a:prstGeom>
          <a:solidFill>
            <a:srgbClr val="4DD262">
              <a:alpha val="7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53" name="Oval 52"/>
          <p:cNvSpPr/>
          <p:nvPr/>
        </p:nvSpPr>
        <p:spPr>
          <a:xfrm>
            <a:off x="5543889" y="2162718"/>
            <a:ext cx="82296" cy="82296"/>
          </a:xfrm>
          <a:prstGeom prst="ellipse">
            <a:avLst/>
          </a:prstGeom>
          <a:solidFill>
            <a:srgbClr val="4DD262">
              <a:alpha val="7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cxnSp>
        <p:nvCxnSpPr>
          <p:cNvPr id="54" name="Connector 53"/>
          <p:cNvCxnSpPr/>
          <p:nvPr/>
        </p:nvCxnSpPr>
        <p:spPr>
          <a:xfrm flipV="1">
            <a:off x="1254034" y="3133811"/>
            <a:ext cx="333103" cy="47071"/>
          </a:xfrm>
          <a:prstGeom prst="line">
            <a:avLst/>
          </a:prstGeom>
          <a:ln w="15875">
            <a:solidFill>
              <a:srgbClr val="6FD3FF"/>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1587137" y="2855976"/>
            <a:ext cx="1776548" cy="277835"/>
          </a:xfrm>
          <a:prstGeom prst="line">
            <a:avLst/>
          </a:prstGeom>
          <a:ln w="15875">
            <a:solidFill>
              <a:srgbClr val="6FD3FF"/>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3363685" y="2504663"/>
            <a:ext cx="2220686" cy="351313"/>
          </a:xfrm>
          <a:prstGeom prst="line">
            <a:avLst/>
          </a:prstGeom>
          <a:ln w="15875">
            <a:solidFill>
              <a:srgbClr val="6FD3FF"/>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685800" y="3502152"/>
            <a:ext cx="5257800" cy="548640"/>
          </a:xfrm>
          <a:prstGeom prst="rect">
            <a:avLst/>
          </a:prstGeom>
          <a:noFill/>
        </p:spPr>
        <p:txBody>
          <a:bodyPr wrap="square" lIns="0" rIns="0" tIns="0" bIns="0" anchor="t"/>
          <a:lstStyle/>
          <a:p>
            <a:pPr algn="l">
              <a:lnSpc>
                <a:spcPct val="100000"/>
              </a:lnSpc>
              <a:spcAft>
                <a:spcPts val="200"/>
              </a:spcAft>
            </a:pPr>
            <a:r>
              <a:rPr sz="930" b="0" i="0">
                <a:solidFill>
                  <a:srgbClr val="A9C2AE"/>
                </a:solidFill>
                <a:latin typeface="Arial"/>
              </a:rPr>
              <a:t>Dots: every allocation run in 3 batches (3 per size); line: medians. 20,033 signals took about 6 s on one laptop (batch medians 6.0, 6.0, 6.3 s; one 8.7 s outlier). Observed, not a complexity proof. Allocation alone is about 0.01 s; the rest is Excel I/O, validation and verification.</a:t>
            </a:r>
          </a:p>
        </p:txBody>
      </p:sp>
      <p:sp>
        <p:nvSpPr>
          <p:cNvPr id="58" name="Rounded Rectangle 57"/>
          <p:cNvSpPr/>
          <p:nvPr/>
        </p:nvSpPr>
        <p:spPr>
          <a:xfrm>
            <a:off x="6217920" y="1783080"/>
            <a:ext cx="5532120" cy="2286000"/>
          </a:xfrm>
          <a:prstGeom prst="roundRect">
            <a:avLst>
              <a:gd name="adj" fmla="val 4000"/>
            </a:avLst>
          </a:prstGeom>
          <a:solidFill>
            <a:srgbClr val="06140A">
              <a:alpha val="90000"/>
            </a:srgbClr>
          </a:solidFill>
          <a:ln w="12700">
            <a:solidFill>
              <a:srgbClr val="1F5F2A"/>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59" name="TextBox 58"/>
          <p:cNvSpPr txBox="1"/>
          <p:nvPr/>
        </p:nvSpPr>
        <p:spPr>
          <a:xfrm>
            <a:off x="6382512" y="1856231"/>
            <a:ext cx="5257800" cy="274320"/>
          </a:xfrm>
          <a:prstGeom prst="rect">
            <a:avLst/>
          </a:prstGeom>
          <a:noFill/>
        </p:spPr>
        <p:txBody>
          <a:bodyPr wrap="square" lIns="0" rIns="0" tIns="0" bIns="0" anchor="t"/>
          <a:lstStyle/>
          <a:p>
            <a:pPr algn="l">
              <a:lnSpc>
                <a:spcPct val="100000"/>
              </a:lnSpc>
              <a:spcAft>
                <a:spcPts val="200"/>
              </a:spcAft>
            </a:pPr>
            <a:r>
              <a:rPr sz="1100" b="1" i="0">
                <a:solidFill>
                  <a:srgbClr val="4DD262"/>
                </a:solidFill>
                <a:latin typeface="Arial"/>
              </a:rPr>
              <a:t>EXPECTED BENEFITS · NOT MEASURED</a:t>
            </a:r>
          </a:p>
        </p:txBody>
      </p:sp>
      <p:sp>
        <p:nvSpPr>
          <p:cNvPr id="60" name="TextBox 59"/>
          <p:cNvSpPr txBox="1"/>
          <p:nvPr/>
        </p:nvSpPr>
        <p:spPr>
          <a:xfrm>
            <a:off x="6400800" y="2167128"/>
            <a:ext cx="5166359" cy="228600"/>
          </a:xfrm>
          <a:prstGeom prst="rect">
            <a:avLst/>
          </a:prstGeom>
          <a:noFill/>
        </p:spPr>
        <p:txBody>
          <a:bodyPr wrap="square" lIns="0" rIns="0" tIns="0" bIns="0" anchor="t"/>
          <a:lstStyle/>
          <a:p>
            <a:pPr algn="l">
              <a:lnSpc>
                <a:spcPct val="100000"/>
              </a:lnSpc>
              <a:spcAft>
                <a:spcPts val="200"/>
              </a:spcAft>
            </a:pPr>
            <a:r>
              <a:rPr sz="1150" b="1" i="0">
                <a:solidFill>
                  <a:srgbClr val="FFFFFF"/>
                </a:solidFill>
                <a:latin typeface="Arial"/>
              </a:rPr>
              <a:t>IO / project engineers</a:t>
            </a:r>
          </a:p>
        </p:txBody>
      </p:sp>
      <p:sp>
        <p:nvSpPr>
          <p:cNvPr id="61" name="TextBox 60"/>
          <p:cNvSpPr txBox="1"/>
          <p:nvPr/>
        </p:nvSpPr>
        <p:spPr>
          <a:xfrm>
            <a:off x="6400800" y="2377440"/>
            <a:ext cx="5166359" cy="384048"/>
          </a:xfrm>
          <a:prstGeom prst="rect">
            <a:avLst/>
          </a:prstGeom>
          <a:noFill/>
        </p:spPr>
        <p:txBody>
          <a:bodyPr wrap="square" lIns="0" rIns="0" tIns="0" bIns="0" anchor="t"/>
          <a:lstStyle/>
          <a:p>
            <a:pPr algn="l">
              <a:lnSpc>
                <a:spcPct val="100000"/>
              </a:lnSpc>
              <a:spcAft>
                <a:spcPts val="200"/>
              </a:spcAft>
            </a:pPr>
            <a:r>
              <a:rPr sz="1080" b="0" i="0">
                <a:solidFill>
                  <a:srgbClr val="EAF5EC"/>
                </a:solidFill>
                <a:latin typeface="Arial"/>
              </a:rPr>
              <a:t>Allocation becomes a re-runnable, rule-checked step instead of hand-editing 10,000+ rows.</a:t>
            </a:r>
          </a:p>
        </p:txBody>
      </p:sp>
      <p:sp>
        <p:nvSpPr>
          <p:cNvPr id="62" name="TextBox 61"/>
          <p:cNvSpPr txBox="1"/>
          <p:nvPr/>
        </p:nvSpPr>
        <p:spPr>
          <a:xfrm>
            <a:off x="6400800" y="2752344"/>
            <a:ext cx="5166359" cy="228600"/>
          </a:xfrm>
          <a:prstGeom prst="rect">
            <a:avLst/>
          </a:prstGeom>
          <a:noFill/>
        </p:spPr>
        <p:txBody>
          <a:bodyPr wrap="square" lIns="0" rIns="0" tIns="0" bIns="0" anchor="t"/>
          <a:lstStyle/>
          <a:p>
            <a:pPr algn="l">
              <a:lnSpc>
                <a:spcPct val="100000"/>
              </a:lnSpc>
              <a:spcAft>
                <a:spcPts val="200"/>
              </a:spcAft>
            </a:pPr>
            <a:r>
              <a:rPr sz="1150" b="1" i="0">
                <a:solidFill>
                  <a:srgbClr val="FFFFFF"/>
                </a:solidFill>
                <a:latin typeface="Arial"/>
              </a:rPr>
              <a:t>Reviewers and QA</a:t>
            </a:r>
          </a:p>
        </p:txBody>
      </p:sp>
      <p:sp>
        <p:nvSpPr>
          <p:cNvPr id="63" name="TextBox 62"/>
          <p:cNvSpPr txBox="1"/>
          <p:nvPr/>
        </p:nvSpPr>
        <p:spPr>
          <a:xfrm>
            <a:off x="6400800" y="2962656"/>
            <a:ext cx="5166359" cy="384048"/>
          </a:xfrm>
          <a:prstGeom prst="rect">
            <a:avLst/>
          </a:prstGeom>
          <a:noFill/>
        </p:spPr>
        <p:txBody>
          <a:bodyPr wrap="square" lIns="0" rIns="0" tIns="0" bIns="0" anchor="t"/>
          <a:lstStyle/>
          <a:p>
            <a:pPr algn="l">
              <a:lnSpc>
                <a:spcPct val="100000"/>
              </a:lnSpc>
              <a:spcAft>
                <a:spcPts val="200"/>
              </a:spcAft>
            </a:pPr>
            <a:r>
              <a:rPr sz="1080" b="0" i="0">
                <a:solidFill>
                  <a:srgbClr val="EAF5EC"/>
                </a:solidFill>
                <a:latin typeface="Arial"/>
              </a:rPr>
              <a:t>Every export carries a rule-check report; every placement and TQ traces to a file, sheet and row.</a:t>
            </a:r>
          </a:p>
        </p:txBody>
      </p:sp>
      <p:sp>
        <p:nvSpPr>
          <p:cNvPr id="64" name="TextBox 63"/>
          <p:cNvSpPr txBox="1"/>
          <p:nvPr/>
        </p:nvSpPr>
        <p:spPr>
          <a:xfrm>
            <a:off x="6400800" y="3337560"/>
            <a:ext cx="5166359" cy="228600"/>
          </a:xfrm>
          <a:prstGeom prst="rect">
            <a:avLst/>
          </a:prstGeom>
          <a:noFill/>
        </p:spPr>
        <p:txBody>
          <a:bodyPr wrap="square" lIns="0" rIns="0" tIns="0" bIns="0" anchor="t"/>
          <a:lstStyle/>
          <a:p>
            <a:pPr algn="l">
              <a:lnSpc>
                <a:spcPct val="100000"/>
              </a:lnSpc>
              <a:spcAft>
                <a:spcPts val="200"/>
              </a:spcAft>
            </a:pPr>
            <a:r>
              <a:rPr sz="1150" b="1" i="0">
                <a:solidFill>
                  <a:srgbClr val="FFFFFF"/>
                </a:solidFill>
                <a:latin typeface="Arial"/>
              </a:rPr>
              <a:t>Customers and EPCs</a:t>
            </a:r>
          </a:p>
        </p:txBody>
      </p:sp>
      <p:sp>
        <p:nvSpPr>
          <p:cNvPr id="65" name="TextBox 64"/>
          <p:cNvSpPr txBox="1"/>
          <p:nvPr/>
        </p:nvSpPr>
        <p:spPr>
          <a:xfrm>
            <a:off x="6400800" y="3547872"/>
            <a:ext cx="5166359" cy="384048"/>
          </a:xfrm>
          <a:prstGeom prst="rect">
            <a:avLst/>
          </a:prstGeom>
          <a:noFill/>
        </p:spPr>
        <p:txBody>
          <a:bodyPr wrap="square" lIns="0" rIns="0" tIns="0" bIns="0" anchor="t"/>
          <a:lstStyle/>
          <a:p>
            <a:pPr algn="l">
              <a:lnSpc>
                <a:spcPct val="100000"/>
              </a:lnSpc>
              <a:spcAft>
                <a:spcPts val="200"/>
              </a:spcAft>
            </a:pPr>
            <a:r>
              <a:rPr sz="1080" b="0" i="0">
                <a:solidFill>
                  <a:srgbClr val="EAF5EC"/>
                </a:solidFill>
                <a:latin typeface="Arial"/>
              </a:rPr>
              <a:t>Specific, traceable TQs and a Rev A → Rev B impact list.</a:t>
            </a:r>
          </a:p>
        </p:txBody>
      </p:sp>
      <p:sp>
        <p:nvSpPr>
          <p:cNvPr id="66" name="TextBox 65"/>
          <p:cNvSpPr txBox="1"/>
          <p:nvPr/>
        </p:nvSpPr>
        <p:spPr>
          <a:xfrm>
            <a:off x="6400800" y="3794760"/>
            <a:ext cx="5166359" cy="228600"/>
          </a:xfrm>
          <a:prstGeom prst="rect">
            <a:avLst/>
          </a:prstGeom>
          <a:noFill/>
        </p:spPr>
        <p:txBody>
          <a:bodyPr wrap="square" lIns="0" rIns="0" tIns="0" bIns="0" anchor="t"/>
          <a:lstStyle/>
          <a:p>
            <a:pPr algn="l">
              <a:lnSpc>
                <a:spcPct val="100000"/>
              </a:lnSpc>
              <a:spcAft>
                <a:spcPts val="200"/>
              </a:spcAft>
            </a:pPr>
            <a:r>
              <a:rPr sz="1000" b="0" i="1">
                <a:solidFill>
                  <a:srgbClr val="FFB547"/>
                </a:solidFill>
                <a:latin typeface="Arial"/>
              </a:rPr>
              <a:t>No time or cost saving has been measured, so none is claimed.</a:t>
            </a:r>
          </a:p>
        </p:txBody>
      </p:sp>
      <p:sp>
        <p:nvSpPr>
          <p:cNvPr id="67" name="Rounded Rectangle 66"/>
          <p:cNvSpPr/>
          <p:nvPr/>
        </p:nvSpPr>
        <p:spPr>
          <a:xfrm>
            <a:off x="548640" y="4178808"/>
            <a:ext cx="3611880" cy="2039111"/>
          </a:xfrm>
          <a:prstGeom prst="roundRect">
            <a:avLst>
              <a:gd name="adj" fmla="val 4000"/>
            </a:avLst>
          </a:prstGeom>
          <a:solidFill>
            <a:srgbClr val="06140A">
              <a:alpha val="90000"/>
            </a:srgbClr>
          </a:solidFill>
          <a:ln w="12700">
            <a:solidFill>
              <a:srgbClr val="1F5F2A"/>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68" name="TextBox 67"/>
          <p:cNvSpPr txBox="1"/>
          <p:nvPr/>
        </p:nvSpPr>
        <p:spPr>
          <a:xfrm>
            <a:off x="713232" y="4251960"/>
            <a:ext cx="3337560" cy="274320"/>
          </a:xfrm>
          <a:prstGeom prst="rect">
            <a:avLst/>
          </a:prstGeom>
          <a:noFill/>
        </p:spPr>
        <p:txBody>
          <a:bodyPr wrap="square" lIns="0" rIns="0" tIns="0" bIns="0" anchor="t"/>
          <a:lstStyle/>
          <a:p>
            <a:pPr algn="l">
              <a:lnSpc>
                <a:spcPct val="100000"/>
              </a:lnSpc>
              <a:spcAft>
                <a:spcPts val="200"/>
              </a:spcAft>
            </a:pPr>
            <a:r>
              <a:rPr sz="1100" b="1" i="0">
                <a:solidFill>
                  <a:srgbClr val="4DD262"/>
                </a:solidFill>
                <a:latin typeface="Arial"/>
              </a:rPr>
              <a:t>SCALE CONTEXT · SOURCED</a:t>
            </a:r>
          </a:p>
        </p:txBody>
      </p:sp>
      <p:sp>
        <p:nvSpPr>
          <p:cNvPr id="69" name="TextBox 68"/>
          <p:cNvSpPr txBox="1"/>
          <p:nvPr/>
        </p:nvSpPr>
        <p:spPr>
          <a:xfrm>
            <a:off x="731520" y="4562856"/>
            <a:ext cx="3291840" cy="365760"/>
          </a:xfrm>
          <a:prstGeom prst="rect">
            <a:avLst/>
          </a:prstGeom>
          <a:noFill/>
        </p:spPr>
        <p:txBody>
          <a:bodyPr wrap="square" lIns="0" rIns="0" tIns="0" bIns="0" anchor="t"/>
          <a:lstStyle/>
          <a:p>
            <a:pPr algn="l">
              <a:lnSpc>
                <a:spcPct val="100000"/>
              </a:lnSpc>
              <a:spcAft>
                <a:spcPts val="200"/>
              </a:spcAft>
            </a:pPr>
            <a:r>
              <a:rPr sz="2000" b="1" i="0">
                <a:solidFill>
                  <a:srgbClr val="FFFFFF"/>
                </a:solidFill>
                <a:latin typeface="Arial"/>
              </a:rPr>
              <a:t>10,000+</a:t>
            </a:r>
          </a:p>
        </p:txBody>
      </p:sp>
      <p:sp>
        <p:nvSpPr>
          <p:cNvPr id="70" name="TextBox 69"/>
          <p:cNvSpPr txBox="1"/>
          <p:nvPr/>
        </p:nvSpPr>
        <p:spPr>
          <a:xfrm>
            <a:off x="731520" y="4928616"/>
            <a:ext cx="3291840" cy="457200"/>
          </a:xfrm>
          <a:prstGeom prst="rect">
            <a:avLst/>
          </a:prstGeom>
          <a:noFill/>
        </p:spPr>
        <p:txBody>
          <a:bodyPr wrap="square" lIns="0" rIns="0" tIns="0" bIns="0" anchor="t"/>
          <a:lstStyle/>
          <a:p>
            <a:pPr algn="l">
              <a:lnSpc>
                <a:spcPct val="100000"/>
              </a:lnSpc>
              <a:spcAft>
                <a:spcPts val="200"/>
              </a:spcAft>
            </a:pPr>
            <a:r>
              <a:rPr sz="1050" b="0" i="0">
                <a:solidFill>
                  <a:srgbClr val="EAF5EC"/>
                </a:solidFill>
                <a:latin typeface="Arial"/>
              </a:rPr>
              <a:t>signals per project, allocated by hand today (Emerson PS)</a:t>
            </a:r>
          </a:p>
        </p:txBody>
      </p:sp>
      <p:sp>
        <p:nvSpPr>
          <p:cNvPr id="71" name="TextBox 70"/>
          <p:cNvSpPr txBox="1"/>
          <p:nvPr/>
        </p:nvSpPr>
        <p:spPr>
          <a:xfrm>
            <a:off x="731520" y="5367528"/>
            <a:ext cx="3291840" cy="365760"/>
          </a:xfrm>
          <a:prstGeom prst="rect">
            <a:avLst/>
          </a:prstGeom>
          <a:noFill/>
        </p:spPr>
        <p:txBody>
          <a:bodyPr wrap="square" lIns="0" rIns="0" tIns="0" bIns="0" anchor="t"/>
          <a:lstStyle/>
          <a:p>
            <a:pPr algn="l">
              <a:lnSpc>
                <a:spcPct val="100000"/>
              </a:lnSpc>
              <a:spcAft>
                <a:spcPts val="200"/>
              </a:spcAft>
            </a:pPr>
            <a:r>
              <a:rPr sz="2000" b="1" i="0">
                <a:solidFill>
                  <a:srgbClr val="FFFFFF"/>
                </a:solidFill>
                <a:latin typeface="Arial"/>
              </a:rPr>
              <a:t>≤ 28,800</a:t>
            </a:r>
          </a:p>
        </p:txBody>
      </p:sp>
      <p:sp>
        <p:nvSpPr>
          <p:cNvPr id="72" name="TextBox 71"/>
          <p:cNvSpPr txBox="1"/>
          <p:nvPr/>
        </p:nvSpPr>
        <p:spPr>
          <a:xfrm>
            <a:off x="731520" y="5733288"/>
            <a:ext cx="3291840" cy="548640"/>
          </a:xfrm>
          <a:prstGeom prst="rect">
            <a:avLst/>
          </a:prstGeom>
          <a:noFill/>
        </p:spPr>
        <p:txBody>
          <a:bodyPr wrap="square" lIns="0" rIns="0" tIns="0" bIns="0" anchor="t"/>
          <a:lstStyle/>
          <a:p>
            <a:pPr algn="l">
              <a:lnSpc>
                <a:spcPct val="100000"/>
              </a:lnSpc>
              <a:spcAft>
                <a:spcPts val="200"/>
              </a:spcAft>
            </a:pPr>
            <a:r>
              <a:rPr sz="1050" b="0" i="0">
                <a:solidFill>
                  <a:srgbClr val="EAF5EC"/>
                </a:solidFill>
                <a:latin typeface="Arial"/>
              </a:rPr>
              <a:t>CHARM channels per DeltaV system (300 CIOCs × 96): a spec maximum, not a typical project</a:t>
            </a:r>
          </a:p>
        </p:txBody>
      </p:sp>
      <p:sp>
        <p:nvSpPr>
          <p:cNvPr id="73" name="Rounded Rectangle 72"/>
          <p:cNvSpPr/>
          <p:nvPr/>
        </p:nvSpPr>
        <p:spPr>
          <a:xfrm>
            <a:off x="4251960" y="4178808"/>
            <a:ext cx="3611880" cy="2039111"/>
          </a:xfrm>
          <a:prstGeom prst="roundRect">
            <a:avLst>
              <a:gd name="adj" fmla="val 4000"/>
            </a:avLst>
          </a:prstGeom>
          <a:solidFill>
            <a:srgbClr val="06140A">
              <a:alpha val="90000"/>
            </a:srgbClr>
          </a:solidFill>
          <a:ln w="12700">
            <a:solidFill>
              <a:srgbClr val="1F5F2A"/>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74" name="TextBox 73"/>
          <p:cNvSpPr txBox="1"/>
          <p:nvPr/>
        </p:nvSpPr>
        <p:spPr>
          <a:xfrm>
            <a:off x="4416552" y="4251960"/>
            <a:ext cx="3337560" cy="274320"/>
          </a:xfrm>
          <a:prstGeom prst="rect">
            <a:avLst/>
          </a:prstGeom>
          <a:noFill/>
        </p:spPr>
        <p:txBody>
          <a:bodyPr wrap="square" lIns="0" rIns="0" tIns="0" bIns="0" anchor="t"/>
          <a:lstStyle/>
          <a:p>
            <a:pPr algn="l">
              <a:lnSpc>
                <a:spcPct val="100000"/>
              </a:lnSpc>
              <a:spcAft>
                <a:spcPts val="200"/>
              </a:spcAft>
            </a:pPr>
            <a:r>
              <a:rPr sz="1100" b="1" i="0">
                <a:solidFill>
                  <a:srgbClr val="4DD262"/>
                </a:solidFill>
                <a:latin typeface="Arial"/>
              </a:rPr>
              <a:t>WHERE IT FITS</a:t>
            </a:r>
          </a:p>
        </p:txBody>
      </p:sp>
      <p:sp>
        <p:nvSpPr>
          <p:cNvPr id="75" name="Rounded Rectangle 74"/>
          <p:cNvSpPr/>
          <p:nvPr/>
        </p:nvSpPr>
        <p:spPr>
          <a:xfrm>
            <a:off x="4416552" y="4590288"/>
            <a:ext cx="1600200" cy="914400"/>
          </a:xfrm>
          <a:prstGeom prst="roundRect">
            <a:avLst>
              <a:gd name="adj" fmla="val 8000"/>
            </a:avLst>
          </a:prstGeom>
          <a:solidFill>
            <a:srgbClr val="0C2412"/>
          </a:solidFill>
          <a:ln w="12700">
            <a:solidFill>
              <a:srgbClr val="A9C2A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100"/>
              </a:spcAft>
            </a:pPr>
            <a:r>
              <a:rPr sz="1100" b="1" i="0">
                <a:solidFill>
                  <a:srgbClr val="FFFFFF"/>
                </a:solidFill>
                <a:latin typeface="Arial"/>
              </a:rPr>
              <a:t>DeltaV tools</a:t>
            </a:r>
          </a:p>
          <a:p>
            <a:pPr algn="ctr">
              <a:lnSpc>
                <a:spcPct val="100000"/>
              </a:lnSpc>
              <a:spcAft>
                <a:spcPts val="100"/>
              </a:spcAft>
            </a:pPr>
            <a:r>
              <a:rPr sz="950" b="0" i="0">
                <a:solidFill>
                  <a:srgbClr val="A9C2AE"/>
                </a:solidFill>
                <a:latin typeface="Arial"/>
              </a:rPr>
              <a:t>auto-sense, late binding, Bulk Edit</a:t>
            </a:r>
          </a:p>
        </p:txBody>
      </p:sp>
      <p:sp>
        <p:nvSpPr>
          <p:cNvPr id="76" name="Rounded Rectangle 75"/>
          <p:cNvSpPr/>
          <p:nvPr/>
        </p:nvSpPr>
        <p:spPr>
          <a:xfrm>
            <a:off x="6199632" y="4590288"/>
            <a:ext cx="1508760" cy="914400"/>
          </a:xfrm>
          <a:prstGeom prst="roundRect">
            <a:avLst>
              <a:gd name="adj" fmla="val 8000"/>
            </a:avLst>
          </a:prstGeom>
          <a:solidFill>
            <a:srgbClr val="0C2412"/>
          </a:solidFill>
          <a:ln w="12700">
            <a:solidFill>
              <a:srgbClr val="4DD26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lnSpc>
                <a:spcPct val="100000"/>
              </a:lnSpc>
              <a:spcAft>
                <a:spcPts val="100"/>
              </a:spcAft>
            </a:pPr>
            <a:r>
              <a:rPr sz="1100" b="1" i="0">
                <a:solidFill>
                  <a:srgbClr val="4DD262"/>
                </a:solidFill>
                <a:latin typeface="Arial"/>
              </a:rPr>
              <a:t>SlotSmith</a:t>
            </a:r>
          </a:p>
          <a:p>
            <a:pPr algn="ctr">
              <a:lnSpc>
                <a:spcPct val="100000"/>
              </a:lnSpc>
              <a:spcAft>
                <a:spcPts val="100"/>
              </a:spcAft>
            </a:pPr>
            <a:r>
              <a:rPr sz="950" b="0" i="0">
                <a:solidFill>
                  <a:srgbClr val="EAF5EC"/>
                </a:solidFill>
                <a:latin typeface="Arial"/>
              </a:rPr>
              <a:t>allocation planning, checking, Rev B impact</a:t>
            </a:r>
          </a:p>
        </p:txBody>
      </p:sp>
      <p:cxnSp>
        <p:nvCxnSpPr>
          <p:cNvPr id="77" name="Connector 76"/>
          <p:cNvCxnSpPr/>
          <p:nvPr/>
        </p:nvCxnSpPr>
        <p:spPr>
          <a:xfrm>
            <a:off x="6035040" y="5047488"/>
            <a:ext cx="146304" cy="0"/>
          </a:xfrm>
          <a:prstGeom prst="line">
            <a:avLst/>
          </a:prstGeom>
          <a:ln w="19050">
            <a:solidFill>
              <a:srgbClr val="4DD262"/>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4416552" y="5596128"/>
            <a:ext cx="3337560" cy="685800"/>
          </a:xfrm>
          <a:prstGeom prst="rect">
            <a:avLst/>
          </a:prstGeom>
          <a:noFill/>
        </p:spPr>
        <p:txBody>
          <a:bodyPr wrap="square" lIns="0" rIns="0" tIns="0" bIns="0" anchor="t"/>
          <a:lstStyle/>
          <a:p>
            <a:pPr algn="l">
              <a:lnSpc>
                <a:spcPct val="100000"/>
              </a:lnSpc>
              <a:spcAft>
                <a:spcPts val="200"/>
              </a:spcAft>
            </a:pPr>
            <a:r>
              <a:rPr sz="1000" b="0" i="0">
                <a:solidFill>
                  <a:srgbClr val="A9C2AE"/>
                </a:solidFill>
                <a:latin typeface="Arial"/>
              </a:rPr>
              <a:t>Complements DeltaV tools; it does not replace them. Export adapters to their import formats and other marshalling platforms are untested ideas.</a:t>
            </a:r>
          </a:p>
        </p:txBody>
      </p:sp>
      <p:sp>
        <p:nvSpPr>
          <p:cNvPr id="79" name="Rounded Rectangle 78"/>
          <p:cNvSpPr/>
          <p:nvPr/>
        </p:nvSpPr>
        <p:spPr>
          <a:xfrm>
            <a:off x="7955279" y="4178808"/>
            <a:ext cx="3794760" cy="2039111"/>
          </a:xfrm>
          <a:prstGeom prst="roundRect">
            <a:avLst>
              <a:gd name="adj" fmla="val 4000"/>
            </a:avLst>
          </a:prstGeom>
          <a:solidFill>
            <a:srgbClr val="231A08">
              <a:alpha val="92000"/>
            </a:srgbClr>
          </a:solidFill>
          <a:ln w="12700">
            <a:solidFill>
              <a:srgbClr val="FFB547"/>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80" name="TextBox 79"/>
          <p:cNvSpPr txBox="1"/>
          <p:nvPr/>
        </p:nvSpPr>
        <p:spPr>
          <a:xfrm>
            <a:off x="8119871" y="4251960"/>
            <a:ext cx="3520440" cy="274320"/>
          </a:xfrm>
          <a:prstGeom prst="rect">
            <a:avLst/>
          </a:prstGeom>
          <a:noFill/>
        </p:spPr>
        <p:txBody>
          <a:bodyPr wrap="square" lIns="0" rIns="0" tIns="0" bIns="0" anchor="t"/>
          <a:lstStyle/>
          <a:p>
            <a:pPr algn="l">
              <a:lnSpc>
                <a:spcPct val="100000"/>
              </a:lnSpc>
              <a:spcAft>
                <a:spcPts val="200"/>
              </a:spcAft>
            </a:pPr>
            <a:r>
              <a:rPr sz="1100" b="1" i="0">
                <a:solidFill>
                  <a:srgbClr val="FFB547"/>
                </a:solidFill>
                <a:latin typeface="Arial"/>
              </a:rPr>
              <a:t>LIMITS · NEXT VALIDATION</a:t>
            </a:r>
          </a:p>
        </p:txBody>
      </p:sp>
      <p:sp>
        <p:nvSpPr>
          <p:cNvPr id="81" name="TextBox 80"/>
          <p:cNvSpPr txBox="1"/>
          <p:nvPr/>
        </p:nvSpPr>
        <p:spPr>
          <a:xfrm>
            <a:off x="8119872" y="4544568"/>
            <a:ext cx="3520440" cy="1627631"/>
          </a:xfrm>
          <a:prstGeom prst="rect">
            <a:avLst/>
          </a:prstGeom>
          <a:noFill/>
        </p:spPr>
        <p:txBody>
          <a:bodyPr wrap="square" lIns="0" rIns="0" tIns="0" bIns="0" anchor="t"/>
          <a:lstStyle/>
          <a:p>
            <a:pPr algn="l" marL="146304" indent="-146304">
              <a:lnSpc>
                <a:spcPct val="100000"/>
              </a:lnSpc>
              <a:spcAft>
                <a:spcPts val="200"/>
              </a:spcAft>
              <a:buFont typeface="Arial"/>
              <a:buChar char="•"/>
            </a:pPr>
            <a:r>
              <a:rPr sz="1030" b="1" i="0">
                <a:solidFill>
                  <a:srgbClr val="FFFFFF"/>
                </a:solidFill>
                <a:latin typeface="Arial"/>
              </a:rPr>
              <a:t>Next dependency: the organiser's sample MDB and allocation template (not released).</a:t>
            </a:r>
          </a:p>
          <a:p>
            <a:pPr algn="l" marL="146304" indent="-146304">
              <a:lnSpc>
                <a:spcPct val="100000"/>
              </a:lnSpc>
              <a:spcAft>
                <a:spcPts val="200"/>
              </a:spcAft>
              <a:buFont typeface="Arial"/>
              <a:buChar char="•"/>
            </a:pPr>
            <a:r>
              <a:rPr sz="1030" b="0" i="0">
                <a:solidFill>
                  <a:srgbClr val="EAF5EC"/>
                </a:solidFill>
                <a:latin typeface="Arial"/>
              </a:rPr>
              <a:t>Synthetic data only; no official-template compatibility claimed.</a:t>
            </a:r>
          </a:p>
          <a:p>
            <a:pPr algn="l" marL="146304" indent="-146304">
              <a:lnSpc>
                <a:spcPct val="100000"/>
              </a:lnSpc>
              <a:spcAft>
                <a:spcPts val="200"/>
              </a:spcAft>
              <a:buFont typeface="Arial"/>
              <a:buChar char="•"/>
            </a:pPr>
            <a:r>
              <a:rPr sz="1030" b="0" i="0">
                <a:solidFill>
                  <a:srgbClr val="EAF5EC"/>
                </a:solidFill>
                <a:latin typeface="Arial"/>
              </a:rPr>
              <a:t>Rule readings (straddling, spare rounding, controller mapping) await mentors.</a:t>
            </a:r>
          </a:p>
          <a:p>
            <a:pPr algn="l" marL="146304" indent="-146304">
              <a:lnSpc>
                <a:spcPct val="100000"/>
              </a:lnSpc>
              <a:spcAft>
                <a:spcPts val="200"/>
              </a:spcAft>
              <a:buFont typeface="Arial"/>
              <a:buChar char="•"/>
            </a:pPr>
            <a:r>
              <a:rPr sz="1030" b="0" i="0">
                <a:solidFill>
                  <a:srgbClr val="EAF5EC"/>
                </a:solidFill>
                <a:latin typeface="Arial"/>
              </a:rPr>
              <a:t>New rule types need code; CP-SAT repair is window-local and varies between runs.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emplate background" descr="bg8.jpg"/>
          <p:cNvPicPr>
            <a:picLocks noChangeAspect="1"/>
          </p:cNvPicPr>
          <p:nvPr/>
        </p:nvPicPr>
        <p:blipFill>
          <a:blip r:embed="rId2"/>
          <a:stretch>
            <a:fillRect/>
          </a:stretch>
        </p:blipFill>
        <p:spPr>
          <a:xfrm>
            <a:off x="0" y="0"/>
            <a:ext cx="12191695" cy="6819206"/>
          </a:xfrm>
          <a:prstGeom prst="rect">
            <a:avLst/>
          </a:prstGeom>
        </p:spPr>
      </p:pic>
      <p:sp>
        <p:nvSpPr>
          <p:cNvPr id="3" name="TextBox 2"/>
          <p:cNvSpPr txBox="1"/>
          <p:nvPr/>
        </p:nvSpPr>
        <p:spPr>
          <a:xfrm>
            <a:off x="411480" y="5596128"/>
            <a:ext cx="6949440" cy="365760"/>
          </a:xfrm>
          <a:prstGeom prst="rect">
            <a:avLst/>
          </a:prstGeom>
          <a:noFill/>
        </p:spPr>
        <p:txBody>
          <a:bodyPr wrap="square" lIns="0" rIns="0" tIns="0" bIns="0" anchor="t"/>
          <a:lstStyle/>
          <a:p>
            <a:pPr algn="l">
              <a:lnSpc>
                <a:spcPct val="100000"/>
              </a:lnSpc>
              <a:spcAft>
                <a:spcPts val="200"/>
              </a:spcAft>
            </a:pPr>
            <a:r>
              <a:rPr sz="1400" b="1" i="0">
                <a:solidFill>
                  <a:srgbClr val="FFFFFF"/>
                </a:solidFill>
                <a:latin typeface="Arial"/>
              </a:rPr>
              <a:t>Allocation you can re-run, check independently, and revise without starting over.</a:t>
            </a:r>
          </a:p>
        </p:txBody>
      </p:sp>
      <p:sp>
        <p:nvSpPr>
          <p:cNvPr id="4" name="TextBox 3"/>
          <p:cNvSpPr txBox="1"/>
          <p:nvPr/>
        </p:nvSpPr>
        <p:spPr>
          <a:xfrm>
            <a:off x="411480" y="6053328"/>
            <a:ext cx="7132320" cy="292608"/>
          </a:xfrm>
          <a:prstGeom prst="rect">
            <a:avLst/>
          </a:prstGeom>
          <a:noFill/>
        </p:spPr>
        <p:txBody>
          <a:bodyPr wrap="square" lIns="0" rIns="0" tIns="0" bIns="0" anchor="t"/>
          <a:lstStyle/>
          <a:p>
            <a:pPr algn="l">
              <a:lnSpc>
                <a:spcPct val="100000"/>
              </a:lnSpc>
              <a:spcAft>
                <a:spcPts val="200"/>
              </a:spcAft>
            </a:pPr>
            <a:r>
              <a:rPr sz="1200" b="0" i="0">
                <a:solidFill>
                  <a:srgbClr val="A9C2AE"/>
                </a:solidFill>
                <a:latin typeface="Arial"/>
              </a:rPr>
              <a:t>Team </a:t>
            </a:r>
            <a:r>
              <a:rPr sz="1200" b="1" i="0">
                <a:solidFill>
                  <a:srgbClr val="FFFFFF"/>
                </a:solidFill>
                <a:latin typeface="Arial"/>
              </a:rPr>
              <a:t>Mac_Enthu</a:t>
            </a:r>
            <a:r>
              <a:rPr sz="1200" b="0" i="0">
                <a:solidFill>
                  <a:srgbClr val="EAF5EC"/>
                </a:solidFill>
                <a:latin typeface="Arial"/>
              </a:rPr>
              <a:t>  ·  Aayush Aade (lead)  ·  Siddhant Patil  ·  Gaurang Bagwe</a:t>
            </a:r>
          </a:p>
        </p:txBody>
      </p:sp>
      <p:sp>
        <p:nvSpPr>
          <p:cNvPr id="5" name="Rounded Rectangle 4"/>
          <p:cNvSpPr/>
          <p:nvPr/>
        </p:nvSpPr>
        <p:spPr>
          <a:xfrm>
            <a:off x="7635240" y="4681728"/>
            <a:ext cx="4114800" cy="1600200"/>
          </a:xfrm>
          <a:prstGeom prst="roundRect">
            <a:avLst>
              <a:gd name="adj" fmla="val 4000"/>
            </a:avLst>
          </a:prstGeom>
          <a:solidFill>
            <a:srgbClr val="06140A">
              <a:alpha val="95000"/>
            </a:srgbClr>
          </a:solidFill>
          <a:ln w="12700">
            <a:solidFill>
              <a:srgbClr val="1F5F2A"/>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p>
        </p:txBody>
      </p:sp>
      <p:sp>
        <p:nvSpPr>
          <p:cNvPr id="6" name="TextBox 5"/>
          <p:cNvSpPr txBox="1"/>
          <p:nvPr/>
        </p:nvSpPr>
        <p:spPr>
          <a:xfrm>
            <a:off x="7799831" y="4754880"/>
            <a:ext cx="3840480" cy="274320"/>
          </a:xfrm>
          <a:prstGeom prst="rect">
            <a:avLst/>
          </a:prstGeom>
          <a:noFill/>
        </p:spPr>
        <p:txBody>
          <a:bodyPr wrap="square" lIns="0" rIns="0" tIns="0" bIns="0" anchor="t"/>
          <a:lstStyle/>
          <a:p>
            <a:pPr algn="l">
              <a:lnSpc>
                <a:spcPct val="100000"/>
              </a:lnSpc>
              <a:spcAft>
                <a:spcPts val="200"/>
              </a:spcAft>
            </a:pPr>
            <a:r>
              <a:rPr sz="1100" b="1" i="0">
                <a:solidFill>
                  <a:srgbClr val="4DD262"/>
                </a:solidFill>
                <a:latin typeface="Arial"/>
              </a:rPr>
              <a:t>LINKS</a:t>
            </a:r>
          </a:p>
        </p:txBody>
      </p:sp>
      <p:sp>
        <p:nvSpPr>
          <p:cNvPr id="7" name="TextBox 6"/>
          <p:cNvSpPr txBox="1"/>
          <p:nvPr/>
        </p:nvSpPr>
        <p:spPr>
          <a:xfrm>
            <a:off x="7799831" y="5102352"/>
            <a:ext cx="1234440" cy="274320"/>
          </a:xfrm>
          <a:prstGeom prst="rect">
            <a:avLst/>
          </a:prstGeom>
          <a:noFill/>
        </p:spPr>
        <p:txBody>
          <a:bodyPr wrap="square" lIns="0" rIns="0" tIns="0" bIns="0" anchor="t"/>
          <a:lstStyle/>
          <a:p>
            <a:pPr algn="l">
              <a:lnSpc>
                <a:spcPct val="100000"/>
              </a:lnSpc>
              <a:spcAft>
                <a:spcPts val="200"/>
              </a:spcAft>
            </a:pPr>
            <a:r>
              <a:rPr sz="1100" b="1" i="0">
                <a:solidFill>
                  <a:srgbClr val="A9C2AE"/>
                </a:solidFill>
                <a:latin typeface="Arial"/>
              </a:rPr>
              <a:t>GitHub</a:t>
            </a:r>
          </a:p>
        </p:txBody>
      </p:sp>
      <p:sp>
        <p:nvSpPr>
          <p:cNvPr id="8" name="TextBox 7">
            <a:hlinkClick r:id="rId3"/>
          </p:cNvPr>
          <p:cNvSpPr txBox="1"/>
          <p:nvPr/>
        </p:nvSpPr>
        <p:spPr>
          <a:xfrm>
            <a:off x="9006840" y="5102352"/>
            <a:ext cx="2651760" cy="274320"/>
          </a:xfrm>
          <a:prstGeom prst="rect">
            <a:avLst/>
          </a:prstGeom>
          <a:noFill/>
        </p:spPr>
        <p:txBody>
          <a:bodyPr wrap="square" lIns="0" rIns="0" tIns="0" bIns="0" anchor="t"/>
          <a:lstStyle/>
          <a:p>
            <a:pPr algn="l">
              <a:lnSpc>
                <a:spcPct val="100000"/>
              </a:lnSpc>
              <a:spcAft>
                <a:spcPts val="200"/>
              </a:spcAft>
            </a:pPr>
            <a:r>
              <a:rPr sz="1100" b="0" i="0">
                <a:solidFill>
                  <a:srgbClr val="6FD3FF"/>
                </a:solidFill>
                <a:latin typeface="Arial"/>
              </a:rPr>
              <a:t>https://github.com/Sidd927/SlotSmith</a:t>
            </a:r>
          </a:p>
        </p:txBody>
      </p:sp>
      <p:sp>
        <p:nvSpPr>
          <p:cNvPr id="9" name="TextBox 8"/>
          <p:cNvSpPr txBox="1"/>
          <p:nvPr/>
        </p:nvSpPr>
        <p:spPr>
          <a:xfrm>
            <a:off x="7799831" y="5468112"/>
            <a:ext cx="1234440" cy="274320"/>
          </a:xfrm>
          <a:prstGeom prst="rect">
            <a:avLst/>
          </a:prstGeom>
          <a:noFill/>
        </p:spPr>
        <p:txBody>
          <a:bodyPr wrap="square" lIns="0" rIns="0" tIns="0" bIns="0" anchor="t"/>
          <a:lstStyle/>
          <a:p>
            <a:pPr algn="l">
              <a:lnSpc>
                <a:spcPct val="100000"/>
              </a:lnSpc>
              <a:spcAft>
                <a:spcPts val="200"/>
              </a:spcAft>
            </a:pPr>
            <a:r>
              <a:rPr sz="1100" b="1" i="0">
                <a:solidFill>
                  <a:srgbClr val="A9C2AE"/>
                </a:solidFill>
                <a:latin typeface="Arial"/>
              </a:rPr>
              <a:t>Demo video</a:t>
            </a:r>
          </a:p>
        </p:txBody>
      </p:sp>
      <p:sp>
        <p:nvSpPr>
          <p:cNvPr id="10" name="TextBox 9"/>
          <p:cNvSpPr txBox="1"/>
          <p:nvPr/>
        </p:nvSpPr>
        <p:spPr>
          <a:xfrm>
            <a:off x="9006840" y="5468112"/>
            <a:ext cx="2651760" cy="274320"/>
          </a:xfrm>
          <a:prstGeom prst="rect">
            <a:avLst/>
          </a:prstGeom>
          <a:noFill/>
        </p:spPr>
        <p:txBody>
          <a:bodyPr wrap="square" lIns="0" rIns="0" tIns="0" bIns="0" anchor="t"/>
          <a:lstStyle/>
          <a:p>
            <a:pPr algn="l">
              <a:lnSpc>
                <a:spcPct val="100000"/>
              </a:lnSpc>
              <a:spcAft>
                <a:spcPts val="200"/>
              </a:spcAft>
            </a:pPr>
            <a:r>
              <a:rPr sz="1200" b="1" i="0">
                <a:solidFill>
                  <a:srgbClr val="FFB547"/>
                </a:solidFill>
                <a:latin typeface="Arial"/>
              </a:rPr>
              <a:t>{{YOUTUBE_DEMO_URL}}</a:t>
            </a:r>
          </a:p>
        </p:txBody>
      </p:sp>
      <p:sp>
        <p:nvSpPr>
          <p:cNvPr id="11" name="TextBox 10"/>
          <p:cNvSpPr txBox="1"/>
          <p:nvPr/>
        </p:nvSpPr>
        <p:spPr>
          <a:xfrm>
            <a:off x="7799831" y="5833872"/>
            <a:ext cx="1234440" cy="274320"/>
          </a:xfrm>
          <a:prstGeom prst="rect">
            <a:avLst/>
          </a:prstGeom>
          <a:noFill/>
        </p:spPr>
        <p:txBody>
          <a:bodyPr wrap="square" lIns="0" rIns="0" tIns="0" bIns="0" anchor="t"/>
          <a:lstStyle/>
          <a:p>
            <a:pPr algn="l">
              <a:lnSpc>
                <a:spcPct val="100000"/>
              </a:lnSpc>
              <a:spcAft>
                <a:spcPts val="200"/>
              </a:spcAft>
            </a:pPr>
            <a:r>
              <a:rPr sz="1100" b="1" i="0">
                <a:solidFill>
                  <a:srgbClr val="A9C2AE"/>
                </a:solidFill>
                <a:latin typeface="Arial"/>
              </a:rPr>
              <a:t>Documentation</a:t>
            </a:r>
          </a:p>
        </p:txBody>
      </p:sp>
      <p:sp>
        <p:nvSpPr>
          <p:cNvPr id="12" name="TextBox 11"/>
          <p:cNvSpPr txBox="1"/>
          <p:nvPr/>
        </p:nvSpPr>
        <p:spPr>
          <a:xfrm>
            <a:off x="9006840" y="5833872"/>
            <a:ext cx="2651760" cy="274320"/>
          </a:xfrm>
          <a:prstGeom prst="rect">
            <a:avLst/>
          </a:prstGeom>
          <a:noFill/>
        </p:spPr>
        <p:txBody>
          <a:bodyPr wrap="square" lIns="0" rIns="0" tIns="0" bIns="0" anchor="t"/>
          <a:lstStyle/>
          <a:p>
            <a:pPr algn="l">
              <a:lnSpc>
                <a:spcPct val="100000"/>
              </a:lnSpc>
              <a:spcAft>
                <a:spcPts val="200"/>
              </a:spcAft>
            </a:pPr>
            <a:r>
              <a:rPr sz="1200" b="1" i="0">
                <a:solidFill>
                  <a:srgbClr val="FFB547"/>
                </a:solidFill>
                <a:latin typeface="Arial"/>
              </a:rPr>
              <a:t>{{DOCUMENTATION_URL}}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SlotSmith · VIT Code Apex 3.0 · Team Mac_Enthu (final pitch deck)</dc:title>
  <dc:subject/>
  <dc:creator>Team Mac_Enthu</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